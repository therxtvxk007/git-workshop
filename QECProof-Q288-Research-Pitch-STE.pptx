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acb62ea8fcb4b5a" Type="http://schemas.openxmlformats.org/package/2006/relationships/metadata/core-properties" Target="docProps/core.xml"/><Relationship Id="R9b6fc5ad960c47f4" Type="http://schemas.openxmlformats.org/officeDocument/2006/relationships/officeDocument" Target="ppt/presentation.xml"/><Relationship Id="R9c8db1596c464fb7"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0e43f53b0bda410c"/>
  </p:sldMasterIdLst>
  <p:notesMasterIdLst>
    <p:notesMasterId xmlns:r="http://schemas.openxmlformats.org/officeDocument/2006/relationships" r:id="R2c87425736504935"/>
  </p:notesMasterIdLst>
  <p:sldIdLst>
    <p:sldId xmlns:r="http://schemas.openxmlformats.org/officeDocument/2006/relationships" id="256" r:id="R647677890c304f05"/>
    <p:sldId xmlns:r="http://schemas.openxmlformats.org/officeDocument/2006/relationships" id="257" r:id="R694ae3153d4444c1"/>
    <p:sldId xmlns:r="http://schemas.openxmlformats.org/officeDocument/2006/relationships" id="258" r:id="R9886808534c141b8"/>
    <p:sldId xmlns:r="http://schemas.openxmlformats.org/officeDocument/2006/relationships" id="259" r:id="R7e61066d7d604de7"/>
    <p:sldId xmlns:r="http://schemas.openxmlformats.org/officeDocument/2006/relationships" id="260" r:id="Rfbe07163056b4edb"/>
    <p:sldId xmlns:r="http://schemas.openxmlformats.org/officeDocument/2006/relationships" id="261" r:id="R3ea6de9b024c4fe1"/>
    <p:sldId xmlns:r="http://schemas.openxmlformats.org/officeDocument/2006/relationships" id="262" r:id="R7fc9fb326ad64e27"/>
    <p:sldId xmlns:r="http://schemas.openxmlformats.org/officeDocument/2006/relationships" id="263" r:id="Rc1aa752c38c34ac9"/>
    <p:sldId xmlns:r="http://schemas.openxmlformats.org/officeDocument/2006/relationships" id="264" r:id="R86105d3336df4add"/>
    <p:sldId xmlns:r="http://schemas.openxmlformats.org/officeDocument/2006/relationships" id="265" r:id="Refec38b118894a49"/>
    <p:sldId xmlns:r="http://schemas.openxmlformats.org/officeDocument/2006/relationships" id="266" r:id="R48572f0b683d4f06"/>
    <p:sldId xmlns:r="http://schemas.openxmlformats.org/officeDocument/2006/relationships" id="267" r:id="R5b1fdf82a5be47a3"/>
    <p:sldId xmlns:r="http://schemas.openxmlformats.org/officeDocument/2006/relationships" id="268" r:id="R391a0782be7d4e6d"/>
    <p:sldId xmlns:r="http://schemas.openxmlformats.org/officeDocument/2006/relationships" id="269" r:id="Rbae233f4c76d47e3"/>
    <p:sldId xmlns:r="http://schemas.openxmlformats.org/officeDocument/2006/relationships" id="270" r:id="Rae6bec5500024b22"/>
    <p:sldId xmlns:r="http://schemas.openxmlformats.org/officeDocument/2006/relationships" id="271" r:id="Rbb4d3e526f6e407e"/>
    <p:sldId xmlns:r="http://schemas.openxmlformats.org/officeDocument/2006/relationships" id="272" r:id="Ref363f45ec614d74"/>
    <p:sldId xmlns:r="http://schemas.openxmlformats.org/officeDocument/2006/relationships" id="273" r:id="Rf7c98cf3ac774668"/>
    <p:sldId xmlns:r="http://schemas.openxmlformats.org/officeDocument/2006/relationships" id="274" r:id="Radc30cb28e9447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e43f53b0bda410c" Type="http://schemas.openxmlformats.org/officeDocument/2006/relationships/slideMaster" Target="slideMasters/slideMaster1.xml"/><Relationship Id="R21d3e2f5fd4642e5" Type="http://schemas.openxmlformats.org/officeDocument/2006/relationships/presProps" Target="presProps.xml"/><Relationship Id="R2c87425736504935" Type="http://schemas.openxmlformats.org/officeDocument/2006/relationships/notesMaster" Target="notesMasters/notesMaster1.xml"/><Relationship Id="R35884b9ba0124549" Type="http://schemas.openxmlformats.org/officeDocument/2006/relationships/theme" Target="theme/theme1.xml"/><Relationship Id="R391a0782be7d4e6d" Type="http://schemas.openxmlformats.org/officeDocument/2006/relationships/slide" Target="slides/slide13.xml"/><Relationship Id="R3ea6de9b024c4fe1" Type="http://schemas.openxmlformats.org/officeDocument/2006/relationships/slide" Target="slides/slide6.xml"/><Relationship Id="R48572f0b683d4f06" Type="http://schemas.openxmlformats.org/officeDocument/2006/relationships/slide" Target="slides/slide11.xml"/><Relationship Id="R5b1fdf82a5be47a3" Type="http://schemas.openxmlformats.org/officeDocument/2006/relationships/slide" Target="slides/slide12.xml"/><Relationship Id="R647677890c304f05" Type="http://schemas.openxmlformats.org/officeDocument/2006/relationships/slide" Target="slides/slide1.xml"/><Relationship Id="R694ae3153d4444c1" Type="http://schemas.openxmlformats.org/officeDocument/2006/relationships/slide" Target="slides/slide2.xml"/><Relationship Id="R7e61066d7d604de7" Type="http://schemas.openxmlformats.org/officeDocument/2006/relationships/slide" Target="slides/slide4.xml"/><Relationship Id="R7fc9fb326ad64e27" Type="http://schemas.openxmlformats.org/officeDocument/2006/relationships/slide" Target="slides/slide7.xml"/><Relationship Id="R86105d3336df4add" Type="http://schemas.openxmlformats.org/officeDocument/2006/relationships/slide" Target="slides/slide9.xml"/><Relationship Id="R9886808534c141b8" Type="http://schemas.openxmlformats.org/officeDocument/2006/relationships/slide" Target="slides/slide3.xml"/><Relationship Id="Radc30cb28e944777" Type="http://schemas.openxmlformats.org/officeDocument/2006/relationships/slide" Target="slides/slide19.xml"/><Relationship Id="Rae6bec5500024b22" Type="http://schemas.openxmlformats.org/officeDocument/2006/relationships/slide" Target="slides/slide15.xml"/><Relationship Id="Rbae233f4c76d47e3" Type="http://schemas.openxmlformats.org/officeDocument/2006/relationships/slide" Target="slides/slide14.xml"/><Relationship Id="Rbb4d3e526f6e407e" Type="http://schemas.openxmlformats.org/officeDocument/2006/relationships/slide" Target="slides/slide16.xml"/><Relationship Id="Rc1aa752c38c34ac9" Type="http://schemas.openxmlformats.org/officeDocument/2006/relationships/slide" Target="slides/slide8.xml"/><Relationship Id="Ref363f45ec614d74" Type="http://schemas.openxmlformats.org/officeDocument/2006/relationships/slide" Target="slides/slide17.xml"/><Relationship Id="Refec38b118894a49" Type="http://schemas.openxmlformats.org/officeDocument/2006/relationships/slide" Target="slides/slide10.xml"/><Relationship Id="Rf7c98cf3ac774668" Type="http://schemas.openxmlformats.org/officeDocument/2006/relationships/slide" Target="slides/slide18.xml"/><Relationship Id="Rfb358bfb757e4376" Type="http://schemas.openxmlformats.org/officeDocument/2006/relationships/tableStyles" Target="tableStyles.xml"/><Relationship Id="Rfbe07163056b4edb"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1a300377fa0b4f1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d39ed4ffb75433e" Type="http://schemas.openxmlformats.org/officeDocument/2006/relationships/notesMaster" Target="../notesMasters/notesMaster1.xml"/><Relationship Id="R40a2ff7c2164410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f93c833025440cb" Type="http://schemas.openxmlformats.org/officeDocument/2006/relationships/slide" Target="../slides/slide2.xml"/><Relationship Id="R8e30d89745704756"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97ec7d9f59e64ec1" Type="http://schemas.openxmlformats.org/officeDocument/2006/relationships/notesMaster" Target="../notesMasters/notesMaster1.xml"/><Relationship Id="Rf6dd9123cf81451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39b2ca21d9a4e0c" Type="http://schemas.openxmlformats.org/officeDocument/2006/relationships/slide" Target="../slides/slide4.xml"/><Relationship Id="R729c8e4ed91e4e25"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79a094331d54064" Type="http://schemas.openxmlformats.org/officeDocument/2006/relationships/slide" Target="../slides/slide5.xml"/><Relationship Id="R9d55b08dd174450e"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1e7e044d58df47cd" Type="http://schemas.openxmlformats.org/officeDocument/2006/relationships/slide" Target="../slides/slide6.xml"/><Relationship Id="Re546e45ada6a4447"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91b5c7795834f31" Type="http://schemas.openxmlformats.org/officeDocument/2006/relationships/notesMaster" Target="../notesMasters/notesMaster1.xml"/><Relationship Id="Rb5dd3ed62dfa439f"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a223f88832e483b" Type="http://schemas.openxmlformats.org/officeDocument/2006/relationships/slide" Target="../slides/slide8.xml"/><Relationship Id="Rf165ca75b3fa4ad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a26f1d62829c4613" Type="http://schemas.openxmlformats.org/officeDocument/2006/relationships/slide" Target="../slides/slide9.xml"/><Relationship Id="Rfa3e7f5f34dd42df"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2c8d661821741ea" Type="http://schemas.openxmlformats.org/officeDocument/2006/relationships/slide" Target="../slides/slide10.xml"/><Relationship Id="R1644bba49d1a4e5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629950222a2848ba" Type="http://schemas.openxmlformats.org/officeDocument/2006/relationships/slide" Target="../slides/slide11.xml"/><Relationship Id="Rf200cda28a774513"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995ca492b64a4c52" Type="http://schemas.openxmlformats.org/officeDocument/2006/relationships/notesMaster" Target="../notesMasters/notesMaster1.xml"/><Relationship Id="Rffd71194a7024bf8"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4ef1c4f55e2c467f" Type="http://schemas.openxmlformats.org/officeDocument/2006/relationships/notesMaster" Target="../notesMasters/notesMaster1.xml"/><Relationship Id="R8083be88bd7a427b"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6b0f8264b9a64bfd" Type="http://schemas.openxmlformats.org/officeDocument/2006/relationships/notesMaster" Target="../notesMasters/notesMaster1.xml"/><Relationship Id="Ra78873438142463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a7b14e35dea6419f" Type="http://schemas.openxmlformats.org/officeDocument/2006/relationships/notesMaster" Target="../notesMasters/notesMaster1.xml"/><Relationship Id="Rc0a44e94d7534b4a"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26cea3b38f804f5c" Type="http://schemas.openxmlformats.org/officeDocument/2006/relationships/notesMaster" Target="../notesMasters/notesMaster1.xml"/><Relationship Id="R9af880801e324757"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f0cb1b1fde904071" Type="http://schemas.openxmlformats.org/officeDocument/2006/relationships/slide" Target="../slides/slide17.xml"/><Relationship Id="Rf9b3cfd3e4794fdf"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0978a407f714a44" Type="http://schemas.openxmlformats.org/officeDocument/2006/relationships/notesMaster" Target="../notesMasters/notesMaster1.xml"/><Relationship Id="Rc92f0ad4ecfc4a4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93a530c643bc4e55" Type="http://schemas.openxmlformats.org/officeDocument/2006/relationships/notesMaster" Target="../notesMasters/notesMaster1.xml"/><Relationship Id="Ra1d7130dfd0649b9" Type="http://schemas.openxmlformats.org/officeDocument/2006/relationships/slide" Target="../slides/slide1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difference between the two bounds. A heuristic search can find a weight-10 fault. Only a complete search can show that no smaller fault exists. This deck keeps the public upper bound separate from the new lower-bound claim.</a:t>
            </a:r>
          </a:p>
          <a:p xmlns:a="http://schemas.openxmlformats.org/drawingml/2006/main">
            <a:r>
              <a:t/>
            </a:r>
          </a:p>
          <a:p xmlns:a="http://schemas.openxmlformats.org/drawingml/2006/main">
            <a:r>
              <a:t>[Sources]</a:t>
            </a:r>
          </a:p>
          <a:p xmlns:a="http://schemas.openxmlformats.org/drawingml/2006/main">
            <a:r>
              <a:t>- https://github.com/m-webster/codeDistancePYPI</a:t>
            </a:r>
          </a:p>
          <a:p xmlns:a="http://schemas.openxmlformats.org/drawingml/2006/main">
            <a:r>
              <a:t>- QECProof-Q288 audited technical dossier, version 2.0, 2026-08-24.</a:t>
            </a:r>
          </a:p>
          <a:p xmlns:a="http://schemas.openxmlformats.org/drawingml/2006/main">
            <a:r>
              <a:t>- Hero visual generated specifically for this presentation; no external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say that the project found the number 10. Public work gives that upper bound. The new part of the work is the lower bound. An exact value needs both bounds.</a:t>
            </a:r>
          </a:p>
          <a:p xmlns:a="http://schemas.openxmlformats.org/drawingml/2006/main">
            <a:r>
              <a:t/>
            </a:r>
          </a:p>
          <a:p xmlns:a="http://schemas.openxmlformats.org/drawingml/2006/main">
            <a:r>
              <a:t>[Sources]</a:t>
            </a:r>
          </a:p>
          <a:p xmlns:a="http://schemas.openxmlformats.org/drawingml/2006/main">
            <a:r>
              <a:t>- https://arxiv.org/abs/2503.10988</a:t>
            </a:r>
          </a:p>
          <a:p xmlns:a="http://schemas.openxmlformats.org/drawingml/2006/main">
            <a:r>
              <a:t>- https://arxiv.org/abs/2603.22532v2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notation before you give a result. The letter q counts the data qubits and the ancilla qubits in the syndrome-extraction circuit. If you confuse q288 with the [[288,12,18]] code, the benchmark statement becomes wrong.</a:t>
            </a:r>
          </a:p>
          <a:p xmlns:a="http://schemas.openxmlformats.org/drawingml/2006/main">
            <a:r>
              <a:t/>
            </a:r>
          </a:p>
          <a:p xmlns:a="http://schemas.openxmlformats.org/drawingml/2006/main">
            <a:r>
              <a:t>[Sources]</a:t>
            </a:r>
          </a:p>
          <a:p xmlns:a="http://schemas.openxmlformats.org/drawingml/2006/main">
            <a:r>
              <a:t>- https://www.nature.com/articles/s41586-024-07107-7</a:t>
            </a:r>
          </a:p>
          <a:p xmlns:a="http://schemas.openxmlformats.org/drawingml/2006/main">
            <a:r>
              <a:t>- https://github.com/m-webster/codeDistancePYPI/tree/a4afe9c09bbf5790da9ecc05b65c5b62343979ad/examples/stim_circuits/05_bivariatebicyclecodes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identity of the input is part of the theorem. A different commit, Stim version, filter, order or serializer gives a different problem. Show the reviewers the path from the public file hash to each matrix hash and each shard hash.</a:t>
            </a:r>
          </a:p>
          <a:p xmlns:a="http://schemas.openxmlformats.org/drawingml/2006/main">
            <a:r>
              <a:t/>
            </a:r>
          </a:p>
          <a:p xmlns:a="http://schemas.openxmlformats.org/drawingml/2006/main">
            <a:r>
              <a:t>[Sources]</a:t>
            </a:r>
          </a:p>
          <a:p xmlns:a="http://schemas.openxmlformats.org/drawingml/2006/main">
            <a:r>
              <a:t>- https://github.com/m-webster/codeDistancePYPI/tree/a4afe9c09bbf5790da9ecc05b65c5b62343979ad/examples/stim_circuits/05_bivariatebicyclecodes</a:t>
            </a:r>
          </a:p>
          <a:p xmlns:a="http://schemas.openxmlformats.org/drawingml/2006/main">
            <a:r>
              <a:t>- QECProof-Q288 audited technical dossier, sections 2 and 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timeline to answer an early question from the reviewers. The number 10 was public before this project. The project becomes important only if a second team can repeat the lower-bound result.</a:t>
            </a:r>
          </a:p>
          <a:p xmlns:a="http://schemas.openxmlformats.org/drawingml/2006/main">
            <a:r>
              <a:t/>
            </a:r>
          </a:p>
          <a:p xmlns:a="http://schemas.openxmlformats.org/drawingml/2006/main">
            <a:r>
              <a:t>[Sources]</a:t>
            </a:r>
          </a:p>
          <a:p xmlns:a="http://schemas.openxmlformats.org/drawingml/2006/main">
            <a:r>
              <a:t>- https://www.nature.com/articles/s41586-024-07107-7</a:t>
            </a:r>
          </a:p>
          <a:p xmlns:a="http://schemas.openxmlformats.org/drawingml/2006/main">
            <a:r>
              <a:t>- https://arxiv.org/abs/2503.10988</a:t>
            </a:r>
          </a:p>
          <a:p xmlns:a="http://schemas.openxmlformats.org/drawingml/2006/main">
            <a:r>
              <a:t>- https://arxiv.org/abs/2603.22532v2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objective before you speak about speed. The weight counts the different DEM mechanism signatures, and each signature has unit cost. This claim is smaller than the code distance or the distance of the unfiltered circuit.</a:t>
            </a:r>
          </a:p>
          <a:p xmlns:a="http://schemas.openxmlformats.org/drawingml/2006/main">
            <a:r>
              <a:t/>
            </a:r>
          </a:p>
          <a:p xmlns:a="http://schemas.openxmlformats.org/drawingml/2006/main">
            <a:r>
              <a:t>[Sources]</a:t>
            </a:r>
          </a:p>
          <a:p xmlns:a="http://schemas.openxmlformats.org/drawingml/2006/main">
            <a:r>
              <a:t>- https://github.com/quantumlib/Stim/blob/main/doc/file_format_dem_detector_error_model.md</a:t>
            </a:r>
          </a:p>
          <a:p xmlns:a="http://schemas.openxmlformats.org/drawingml/2006/main">
            <a:r>
              <a:t>- https://github.com/m-webster/codeDistancePYPI/blob/a4afe9c09bbf5790da9ecc05b65c5b62343979ad/codedistance/dem_detector_filtering.py</a:t>
            </a:r>
          </a:p>
          <a:p xmlns:a="http://schemas.openxmlformats.org/drawingml/2006/main">
            <a:r>
              <a:t>- QECProof-Q288 audited technical dossier, section 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Connected enumeration is prior art. The new part of the work is the combination of four steps for this benchmark. The steps are translation quotients, admissible bounds, exact closure and shards that a reviewer can audit.</a:t>
            </a:r>
          </a:p>
          <a:p xmlns:a="http://schemas.openxmlformats.org/drawingml/2006/main">
            <a:r>
              <a:t/>
            </a:r>
          </a:p>
          <a:p xmlns:a="http://schemas.openxmlformats.org/drawingml/2006/main">
            <a:r>
              <a:t>[Sources]</a:t>
            </a:r>
          </a:p>
          <a:p xmlns:a="http://schemas.openxmlformats.org/drawingml/2006/main">
            <a:r>
              <a:t>- https://arxiv.org/abs/1611.07164</a:t>
            </a:r>
          </a:p>
          <a:p xmlns:a="http://schemas.openxmlformats.org/drawingml/2006/main">
            <a:r>
              <a:t>- https://github.com/QEC-pages/dist-m4ri</a:t>
            </a:r>
          </a:p>
          <a:p xmlns:a="http://schemas.openxmlformats.org/drawingml/2006/main">
            <a:r>
              <a:t>- QECProof-Q288 audited technical dossier, section 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important mathematical correction in the deck. The first identity controls the logical action, but it does not control the syndrome. The proof needs both identities. It also needs an invertible T and a permutation P.</a:t>
            </a:r>
          </a:p>
          <a:p xmlns:a="http://schemas.openxmlformats.org/drawingml/2006/main">
            <a:r>
              <a:t/>
            </a:r>
          </a:p>
          <a:p xmlns:a="http://schemas.openxmlformats.org/drawingml/2006/main">
            <a:r>
              <a:t>[Sources]</a:t>
            </a:r>
          </a:p>
          <a:p xmlns:a="http://schemas.openxmlformats.org/drawingml/2006/main">
            <a:r>
              <a:t>- QECProof-Q288 audited technical dossier, section 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the scale of the problem. It is not a proof. The removal of duplicate signatures is safe, because two equal binary columns cancel and add weight. The division by 24 is correct only after a certificate for the group action and for the canonical coverage.</a:t>
            </a:r>
          </a:p>
          <a:p xmlns:a="http://schemas.openxmlformats.org/drawingml/2006/main">
            <a:r>
              <a:t/>
            </a:r>
          </a:p>
          <a:p xmlns:a="http://schemas.openxmlformats.org/drawingml/2006/main">
            <a:r>
              <a:t>[Sources]</a:t>
            </a:r>
          </a:p>
          <a:p xmlns:a="http://schemas.openxmlformats.org/drawingml/2006/main">
            <a:r>
              <a:t>- https://github.com/m-webster/codeDistancePYPI/blob/a4afe9c09bbf5790da9ecc05b65c5b62343979ad/codedistance/dem_detector_filtering.py</a:t>
            </a:r>
          </a:p>
          <a:p xmlns:a="http://schemas.openxmlformats.org/drawingml/2006/main">
            <a:r>
              <a:t>- QECProof-Q288 audited technical dossier, sections 3, 4, and 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Stop here and let the audience follow the difference between a witness and a proof. The next three slides give a complete proof with no hidden steps.</a:t>
            </a:r>
          </a:p>
          <a:p xmlns:a="http://schemas.openxmlformats.org/drawingml/2006/main">
            <a:r>
              <a:t/>
            </a:r>
          </a:p>
          <a:p xmlns:a="http://schemas.openxmlformats.org/drawingml/2006/main">
            <a:r>
              <a:t>[Sources]</a:t>
            </a:r>
          </a:p>
          <a:p xmlns:a="http://schemas.openxmlformats.org/drawingml/2006/main">
            <a:r>
              <a:t>- Self-contained GF(2) demonstration constructed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column from top to bottom as a syndrome of three detector bits. The row L shows if a mechanism changes the logical observable. The task is to select the smallest number of columns with a detector XOR of zero and a logical XOR of one.</a:t>
            </a:r>
          </a:p>
          <a:p xmlns:a="http://schemas.openxmlformats.org/drawingml/2006/main">
            <a:r>
              <a:t/>
            </a:r>
          </a:p>
          <a:p xmlns:a="http://schemas.openxmlformats.org/drawingml/2006/main">
            <a:r>
              <a:t>[Sources]</a:t>
            </a:r>
          </a:p>
          <a:p xmlns:a="http://schemas.openxmlformats.org/drawingml/2006/main">
            <a:r>
              <a:t>- Self-contained GF(2) demonstration constructed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heuristic method can do this at a large scale. It gives a correct witness. If you stop here, you have only an upper bound. The next slide gives the last part of the proof.</a:t>
            </a:r>
          </a:p>
          <a:p xmlns:a="http://schemas.openxmlformats.org/drawingml/2006/main">
            <a:r>
              <a:t/>
            </a:r>
          </a:p>
          <a:p xmlns:a="http://schemas.openxmlformats.org/drawingml/2006/main">
            <a:r>
              <a:t>[Sources]</a:t>
            </a:r>
          </a:p>
          <a:p xmlns:a="http://schemas.openxmlformats.org/drawingml/2006/main">
            <a:r>
              <a:t>- Self-contained GF(2) demonstration constructed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proof is now complete. Weight 1 fails, because no detector column is zero. Weight 2 fails, because a cancellation needs two equal columns, and all the columns are different. The weight-3 witness then gives the exact value.</a:t>
            </a:r>
          </a:p>
          <a:p xmlns:a="http://schemas.openxmlformats.org/drawingml/2006/main">
            <a:r>
              <a:t/>
            </a:r>
          </a:p>
          <a:p xmlns:a="http://schemas.openxmlformats.org/drawingml/2006/main">
            <a:r>
              <a:t>[Sources]</a:t>
            </a:r>
          </a:p>
          <a:p xmlns:a="http://schemas.openxmlformats.org/drawingml/2006/main">
            <a:r>
              <a:t>- Self-contained GF(2) demonstration constructed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proof is not evidence for q288. It has the same logical structure. A witness closes the upper bound, and a complete exclusion closes the lower bound. At q288 scale, the question is if the optimized search covers all of the reduced space.</a:t>
            </a:r>
          </a:p>
          <a:p xmlns:a="http://schemas.openxmlformats.org/drawingml/2006/main">
            <a:r>
              <a:t/>
            </a:r>
          </a:p>
          <a:p xmlns:a="http://schemas.openxmlformats.org/drawingml/2006/main">
            <a:r>
              <a:t>[Sources]</a:t>
            </a:r>
          </a:p>
          <a:p xmlns:a="http://schemas.openxmlformats.org/drawingml/2006/main">
            <a:r>
              <a:t>- QECProof-Q288 audited technical dossier, sections 6 and 7.</a:t>
            </a:r>
          </a:p>
          <a:p xmlns:a="http://schemas.openxmlformats.org/drawingml/2006/main">
            <a:r>
              <a:t>- Self-contained GF(2) demonstration constructed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give these values as measurements from an independent test. The project reports them. The main question is if the C++ program applies the rules for enumeration, pruning, canonical forms and shards correctly.</a:t>
            </a:r>
          </a:p>
          <a:p xmlns:a="http://schemas.openxmlformats.org/drawingml/2006/main">
            <a:r>
              <a:t/>
            </a:r>
          </a:p>
          <a:p xmlns:a="http://schemas.openxmlformats.org/drawingml/2006/main">
            <a:r>
              <a:t>[Sources]</a:t>
            </a:r>
          </a:p>
          <a:p xmlns:a="http://schemas.openxmlformats.org/drawingml/2006/main">
            <a:r>
              <a:t>- QECProof-Q288 audited technical dossier, sections 6, 9, and 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show the limits of the evidence. A reviewer can check each item in the left column from public data. Each item in the right column needs the private bytes and a replay. The audience can then keep the two types of evidence separate.</a:t>
            </a:r>
          </a:p>
          <a:p xmlns:a="http://schemas.openxmlformats.org/drawingml/2006/main">
            <a:r>
              <a:t/>
            </a:r>
          </a:p>
          <a:p xmlns:a="http://schemas.openxmlformats.org/drawingml/2006/main">
            <a:r>
              <a:t>[Sources]</a:t>
            </a:r>
          </a:p>
          <a:p xmlns:a="http://schemas.openxmlformats.org/drawingml/2006/main">
            <a:r>
              <a:t>- QECProof-Q288 audited technical dossier, executive evidence table.</a:t>
            </a:r>
          </a:p>
          <a:p xmlns:a="http://schemas.openxmlformats.org/drawingml/2006/main">
            <a:r>
              <a:t>- https://github.com/m-webster/codeDistancePYPI</a:t>
            </a:r>
          </a:p>
          <a:p xmlns:a="http://schemas.openxmlformats.org/drawingml/2006/main">
            <a:r>
              <a:t>- https://arxiv.org/abs/2503.10988</a:t>
            </a:r>
          </a:p>
          <a:p xmlns:a="http://schemas.openxmlformats.org/drawingml/2006/main">
            <a:r>
              <a:t>- https://arxiv.org/abs/2603.22532v2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decision slide. The first three gates make the risk in the software smaller. The fourth gate makes the trusted computing base smaller. Do not start a larger benchmark before a second team closes q288.</a:t>
            </a:r>
          </a:p>
          <a:p xmlns:a="http://schemas.openxmlformats.org/drawingml/2006/main">
            <a:r>
              <a:t/>
            </a:r>
          </a:p>
          <a:p xmlns:a="http://schemas.openxmlformats.org/drawingml/2006/main">
            <a:r>
              <a:t>[Sources]</a:t>
            </a:r>
          </a:p>
          <a:p xmlns:a="http://schemas.openxmlformats.org/drawingml/2006/main">
            <a:r>
              <a:t>- QECProof-Q288 audited technical dossier, section 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this as a proposal. The integration is not complete. The HPC question is if a distributed exact search can keep deterministic behavior and coverage that a machine can check.</a:t>
            </a:r>
          </a:p>
          <a:p xmlns:a="http://schemas.openxmlformats.org/drawingml/2006/main">
            <a:r>
              <a:t/>
            </a:r>
          </a:p>
          <a:p xmlns:a="http://schemas.openxmlformats.org/drawingml/2006/main">
            <a:r>
              <a:t>[Sources]</a:t>
            </a:r>
          </a:p>
          <a:p xmlns:a="http://schemas.openxmlformats.org/drawingml/2006/main">
            <a:r>
              <a:t>- https://www.cdac.in/index.aspx?id=quantum_computing</a:t>
            </a:r>
          </a:p>
          <a:p xmlns:a="http://schemas.openxmlformats.org/drawingml/2006/main">
            <a:r>
              <a:t>- https://www.cdac.in/index.aspx?id=tag&amp;tagcat=Quantum</a:t>
            </a:r>
          </a:p>
          <a:p xmlns:a="http://schemas.openxmlformats.org/drawingml/2006/main">
            <a:r>
              <a:t>- https://www.cdac.in/index.aspx?id=pk_pr_prs_rl253</a:t>
            </a:r>
          </a:p>
          <a:p xmlns:a="http://schemas.openxmlformats.org/drawingml/2006/main">
            <a:r>
              <a:t>- QECProof-Q288 audited technical dossier, section 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a clear request for a replay. If a second team gets the same result, the claim becomes a benchmark closure. Before that, give the project as a specific computational result that other teams can test.</a:t>
            </a:r>
          </a:p>
          <a:p xmlns:a="http://schemas.openxmlformats.org/drawingml/2006/main">
            <a:r>
              <a:t/>
            </a:r>
          </a:p>
          <a:p xmlns:a="http://schemas.openxmlformats.org/drawingml/2006/main">
            <a:r>
              <a:t>[Sources]</a:t>
            </a:r>
          </a:p>
          <a:p xmlns:a="http://schemas.openxmlformats.org/drawingml/2006/main">
            <a:r>
              <a:t>- QECProof-Q288 audited technical dossier, sections 16 to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ae562db65514290"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c779d1987f54776" Type="http://schemas.openxmlformats.org/officeDocument/2006/relationships/slideLayout" Target="../slideLayouts/slideLayout1.xml"/><Relationship Id="Re386fd5a6bb84e6a"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779d1987f547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201dc6464654b1b" Type="http://schemas.openxmlformats.org/officeDocument/2006/relationships/image" Target="../media/image.png"/><Relationship Id="R9431f17fa2bb44af" Type="http://schemas.openxmlformats.org/officeDocument/2006/relationships/slideLayout" Target="../slideLayouts/slideLayout1.xml"/><Relationship Id="Rac2f373ec21646b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ea2b15e426fb4bcd" Type="http://schemas.openxmlformats.org/officeDocument/2006/relationships/slideLayout" Target="../slideLayouts/slideLayout1.xml"/><Relationship Id="Rfeb55467bab0444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9bc2ad4b4f94c99" Type="http://schemas.openxmlformats.org/officeDocument/2006/relationships/slideLayout" Target="../slideLayouts/slideLayout1.xml"/><Relationship Id="Rb19241e2849c4afc"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e4c788d6165f423a" Type="http://schemas.openxmlformats.org/officeDocument/2006/relationships/slideLayout" Target="../slideLayouts/slideLayout1.xml"/><Relationship Id="Re6cf7fb6d7b94ec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75d8a33acaf840c4" Type="http://schemas.openxmlformats.org/officeDocument/2006/relationships/notesSlide" Target="../notesSlides/notesSlide5.xml"/><Relationship Id="Re0b25582abad4e06"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a979813edad34300" Type="http://schemas.openxmlformats.org/officeDocument/2006/relationships/notesSlide" Target="../notesSlides/notesSlide6.xml"/><Relationship Id="Rb238966794ef4895"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36f7052bac3042b7" Type="http://schemas.openxmlformats.org/officeDocument/2006/relationships/slideLayout" Target="../slideLayouts/slideLayout1.xml"/><Relationship Id="R99340bb23ced4b6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7c3b20f45324ae7" Type="http://schemas.openxmlformats.org/officeDocument/2006/relationships/slideLayout" Target="../slideLayouts/slideLayout1.xml"/><Relationship Id="R296c3dbfad9b414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156465eeba348cd" Type="http://schemas.openxmlformats.org/officeDocument/2006/relationships/slideLayout" Target="../slideLayouts/slideLayout1.xml"/><Relationship Id="R794041a4275246e0" Type="http://schemas.openxmlformats.org/officeDocument/2006/relationships/chart" Target="charts/chart1.xml"/><Relationship Id="R808f33db834e418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d9dfd5b131345b8" Type="http://schemas.openxmlformats.org/officeDocument/2006/relationships/notesSlide" Target="../notesSlides/notesSlide10.xml"/><Relationship Id="Rbf30c04a105d4c2d"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bda1a513cc1e4d80" Type="http://schemas.openxmlformats.org/officeDocument/2006/relationships/notesSlide" Target="../notesSlides/notesSlide11.xml"/><Relationship Id="Rbe0a4a47ac8d44c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ba8effb1e504a54" Type="http://schemas.openxmlformats.org/officeDocument/2006/relationships/slideLayout" Target="../slideLayouts/slideLayout1.xml"/><Relationship Id="R5e35a40cd94f49ec"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c9dc057137a4b2c" Type="http://schemas.openxmlformats.org/officeDocument/2006/relationships/slideLayout" Target="../slideLayouts/slideLayout1.xml"/><Relationship Id="R35ccb83b8335446f"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68252163e9c646b3" Type="http://schemas.openxmlformats.org/officeDocument/2006/relationships/notesSlide" Target="../notesSlides/notesSlide14.xml"/><Relationship Id="Rbd2be07f931c49ad"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04fc34e2019e409b" Type="http://schemas.openxmlformats.org/officeDocument/2006/relationships/slideLayout" Target="../slideLayouts/slideLayout1.xml"/><Relationship Id="Rbdabba6cfde04d2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80a33db042c8478d" Type="http://schemas.openxmlformats.org/officeDocument/2006/relationships/slideLayout" Target="../slideLayouts/slideLayout1.xml"/><Relationship Id="Rad66f99bfd9948fa"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71d92429b1a94d43" Type="http://schemas.openxmlformats.org/officeDocument/2006/relationships/notesSlide" Target="../notesSlides/notesSlide17.xml"/><Relationship Id="R9b6eac1d512c4d5f"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7fec21e158cc42f2" Type="http://schemas.openxmlformats.org/officeDocument/2006/relationships/slideLayout" Target="../slideLayouts/slideLayout1.xml"/><Relationship Id="Rccf00176837c407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1cf4c3bc656d4e3d" Type="http://schemas.openxmlformats.org/officeDocument/2006/relationships/slideLayout" Target="../slideLayouts/slideLayout1.xml"/><Relationship Id="Ra8a508b461324fd8"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bar"/>
        <c:grouping val="clustered"/>
        <c:varyColors val="0"/>
        <c:ser>
          <c:idx val="0"/>
          <c:order val="0"/>
          <c:tx>
            <c:v>Candidate count</c:v>
          </c:tx>
          <c:spPr>
            <a:solidFill xmlns:a="http://schemas.openxmlformats.org/drawingml/2006/main">
              <a:srgbClr val="3D8DFF"/>
            </a:solidFill>
          </c:spPr>
          <c:dPt>
            <c:idx val="0"/>
            <c:invertIfNegative val="0"/>
            <c:spPr>
              <a:solidFill xmlns:a="http://schemas.openxmlformats.org/drawingml/2006/main">
                <a:srgbClr val="6DCBF4"/>
              </a:solidFill>
            </c:spPr>
          </c:dPt>
          <c:dPt>
            <c:idx val="1"/>
            <c:invertIfNegative val="0"/>
            <c:spPr>
              <a:solidFill xmlns:a="http://schemas.openxmlformats.org/drawingml/2006/main">
                <a:srgbClr val="3D8DFF"/>
              </a:solidFill>
            </c:spPr>
          </c:dPt>
          <c:dPt>
            <c:idx val="2"/>
            <c:invertIfNegative val="0"/>
            <c:spPr>
              <a:solidFill xmlns:a="http://schemas.openxmlformats.org/drawingml/2006/main">
                <a:srgbClr val="0B0F14"/>
              </a:solidFill>
            </c:spPr>
          </c:dPt>
          <c:cat>
            <c:strLit>
              <c:ptCount val="3"/>
              <c:pt idx="0">
                <c:v>Raw Z-filtered mechanisms</c:v>
              </c:pt>
              <c:pt idx="1">
                <c:v>Unique (H,L) signatures</c:v>
              </c:pt>
              <c:pt idx="2">
                <c:v>Translation roots</c:v>
              </c:pt>
            </c:strLit>
          </c:cat>
          <c:val>
            <c:numLit>
              <c:formatCode>General</c:formatCode>
              <c:ptCount val="3"/>
              <c:pt idx="0">
                <c:v>10368</c:v>
              </c:pt>
              <c:pt idx="1">
                <c:v>8784</c:v>
              </c:pt>
              <c:pt idx="2">
                <c:v>366</c:v>
              </c:pt>
            </c:numLit>
          </c:val>
        </c:ser>
        <c:dLbls>
          <c:txPr>
            <a:bodyPr xmlns:a="http://schemas.openxmlformats.org/drawingml/2006/main" anchorCtr="1"/>
            <a:lstStyle xmlns:a="http://schemas.openxmlformats.org/drawingml/2006/main"/>
            <a:p xmlns:a="http://schemas.openxmlformats.org/drawingml/2006/main">
              <a:pPr>
                <a:defRPr sz="1200" b="1">
                  <a:solidFill>
                    <a:srgbClr val="0B0F14"/>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EFF1F3"/>
              </a:solidFill>
              <a:prstDash val="solid"/>
            </a:ln>
          </c:spPr>
        </c:majorGridlines>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67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0B0F14"/>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07872C5C-E4D1-48E8-89BC-013DA1BB60D7}"/>
              </a:ext>
            </a:extLst>
          </p:cNvPr>
          <p:cNvSpPr>
            <a:spLocks xmlns:a="http://schemas.openxmlformats.org/drawingml/2006/main" noGrp="1"/>
          </p:cNvSpPr>
          <p:nvPr/>
        </p:nvSpPr>
        <p:spPr>
          <a:xfrm xmlns:a="http://schemas.openxmlformats.org/drawingml/2006/main">
            <a:off x="514350" y="419100"/>
            <a:ext cx="500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i="0">
                <a:solidFill>
                  <a:srgbClr val="3D8DFF"/>
                </a:solidFill>
                <a:latin typeface="Arial"/>
                <a:ea typeface="Arial"/>
                <a:cs typeface="Arial"/>
              </a:defRPr>
            </a:pPr>
            <a:r>
              <a:rPr sz="1050" b="1" i="0">
                <a:solidFill>
                  <a:srgbClr val="3D8DFF"/>
                </a:solidFill>
                <a:latin typeface="Arial"/>
                <a:ea typeface="Arial"/>
                <a:cs typeface="Arial"/>
              </a:rPr>
              <a:t>TECHNICAL BRIEFING ON A QEC PROOF</a:t>
            </a:r>
          </a:p>
        </p:txBody>
      </p:sp>
      <p:sp>
        <p:nvSpPr>
          <p:cNvPr id="2" name="text">
            <a:extLst xmlns:a="http://schemas.openxmlformats.org/drawingml/2006/main">
              <a:ext uri="{FF2B5EF4-FFF2-40B4-BE49-F238E27FC236}">
                <a16:creationId xmlns:a16="http://schemas.microsoft.com/office/drawing/2014/main" id="{766F0CC7-4C6A-4598-B508-1E4E53F7AAA0}"/>
              </a:ext>
            </a:extLst>
          </p:cNvPr>
          <p:cNvSpPr>
            <a:spLocks xmlns:a="http://schemas.openxmlformats.org/drawingml/2006/main" noGrp="1"/>
          </p:cNvSpPr>
          <p:nvPr/>
        </p:nvSpPr>
        <p:spPr>
          <a:xfrm xmlns:a="http://schemas.openxmlformats.org/drawingml/2006/main">
            <a:off x="514350" y="112395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950" b="1" i="0">
                <a:solidFill>
                  <a:srgbClr val="0B0F14"/>
                </a:solidFill>
                <a:latin typeface="Arial"/>
                <a:ea typeface="Arial"/>
                <a:cs typeface="Arial"/>
              </a:defRPr>
            </a:pPr>
            <a:r>
              <a:rPr sz="4950" b="1" i="0">
                <a:solidFill>
                  <a:srgbClr val="0B0F14"/>
                </a:solidFill>
                <a:latin typeface="Arial"/>
                <a:ea typeface="Arial"/>
                <a:cs typeface="Arial"/>
              </a:rPr>
              <a:t>QECProof-Q288</a:t>
            </a:r>
          </a:p>
        </p:txBody>
      </p:sp>
      <p:sp>
        <p:nvSpPr>
          <p:cNvPr id="3" name="text">
            <a:extLst xmlns:a="http://schemas.openxmlformats.org/drawingml/2006/main">
              <a:ext uri="{FF2B5EF4-FFF2-40B4-BE49-F238E27FC236}">
                <a16:creationId xmlns:a16="http://schemas.microsoft.com/office/drawing/2014/main" id="{5C20FEE9-E984-4E7B-9C47-30A19EC4625F}"/>
              </a:ext>
            </a:extLst>
          </p:cNvPr>
          <p:cNvSpPr>
            <a:spLocks xmlns:a="http://schemas.openxmlformats.org/drawingml/2006/main" noGrp="1"/>
          </p:cNvSpPr>
          <p:nvPr/>
        </p:nvSpPr>
        <p:spPr>
          <a:xfrm xmlns:a="http://schemas.openxmlformats.org/drawingml/2006/main">
            <a:off x="514350" y="2209800"/>
            <a:ext cx="50958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0" i="0">
                <a:solidFill>
                  <a:srgbClr val="0B0F14"/>
                </a:solidFill>
                <a:latin typeface="Arial"/>
                <a:ea typeface="Arial"/>
                <a:cs typeface="Arial"/>
              </a:defRPr>
            </a:pPr>
            <a:r>
              <a:rPr sz="2550" b="0" i="0">
                <a:solidFill>
                  <a:srgbClr val="0B0F14"/>
                </a:solidFill>
                <a:latin typeface="Arial"/>
                <a:ea typeface="Arial"/>
                <a:cs typeface="Arial"/>
              </a:rPr>
              <a:t>Public work gives d ≤ 10.</a:t>
            </a:r>
          </a:p>
          <a:p xmlns:a="http://schemas.openxmlformats.org/drawingml/2006/main">
            <a:pPr algn="l">
              <a:defRPr sz="2550" b="0" i="0">
                <a:solidFill>
                  <a:srgbClr val="0B0F14"/>
                </a:solidFill>
                <a:latin typeface="Arial"/>
                <a:ea typeface="Arial"/>
                <a:cs typeface="Arial"/>
              </a:defRPr>
            </a:pPr>
            <a:r>
              <a:rPr sz="2550" b="0" i="0">
                <a:solidFill>
                  <a:srgbClr val="0B0F14"/>
                </a:solidFill>
                <a:latin typeface="Arial"/>
                <a:ea typeface="Arial"/>
                <a:cs typeface="Arial"/>
              </a:rPr>
              <a:t>The new claim is that weight 9 is not possible.</a:t>
            </a:r>
          </a:p>
        </p:txBody>
      </p:sp>
      <p:sp>
        <p:nvSpPr>
          <p:cNvPr id="4" name="">
            <a:extLst xmlns:a="http://schemas.openxmlformats.org/drawingml/2006/main">
              <a:ext uri="{FF2B5EF4-FFF2-40B4-BE49-F238E27FC236}">
                <a16:creationId xmlns:a16="http://schemas.microsoft.com/office/drawing/2014/main" id="{77FD53D0-9C1E-4EDE-B2CD-9EAA42C4D500}"/>
              </a:ext>
            </a:extLst>
          </p:cNvPr>
          <p:cNvSpPr>
            <a:spLocks xmlns:a="http://schemas.openxmlformats.org/drawingml/2006/main" noGrp="1"/>
          </p:cNvSpPr>
          <p:nvPr/>
        </p:nvSpPr>
        <p:spPr>
          <a:xfrm xmlns:a="http://schemas.openxmlformats.org/drawingml/2006/main">
            <a:off x="514350" y="3943350"/>
            <a:ext cx="1066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5" name="text">
            <a:extLst xmlns:a="http://schemas.openxmlformats.org/drawingml/2006/main">
              <a:ext uri="{FF2B5EF4-FFF2-40B4-BE49-F238E27FC236}">
                <a16:creationId xmlns:a16="http://schemas.microsoft.com/office/drawing/2014/main" id="{4C95D287-4E0F-48EB-8C8A-584534170CD1}"/>
              </a:ext>
            </a:extLst>
          </p:cNvPr>
          <p:cNvSpPr>
            <a:spLocks xmlns:a="http://schemas.openxmlformats.org/drawingml/2006/main" noGrp="1"/>
          </p:cNvSpPr>
          <p:nvPr/>
        </p:nvSpPr>
        <p:spPr>
          <a:xfrm xmlns:a="http://schemas.openxmlformats.org/drawingml/2006/main">
            <a:off x="514350" y="4238625"/>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i="0">
                <a:solidFill>
                  <a:srgbClr val="5D6673"/>
                </a:solidFill>
                <a:latin typeface="Arial"/>
                <a:ea typeface="Arial"/>
                <a:cs typeface="Arial"/>
              </a:defRPr>
            </a:pPr>
            <a:r>
              <a:rPr sz="1500" b="0" i="0">
                <a:solidFill>
                  <a:srgbClr val="5D6673"/>
                </a:solidFill>
                <a:latin typeface="Arial"/>
                <a:ea typeface="Arial"/>
                <a:cs typeface="Arial"/>
              </a:rPr>
              <a:t>This briefing keeps the public upper bound separate from the new lower-bound claim.</a:t>
            </a:r>
          </a:p>
        </p:txBody>
      </p:sp>
      <p:sp>
        <p:nvSpPr>
          <p:cNvPr id="6" name="text">
            <a:extLst xmlns:a="http://schemas.openxmlformats.org/drawingml/2006/main">
              <a:ext uri="{FF2B5EF4-FFF2-40B4-BE49-F238E27FC236}">
                <a16:creationId xmlns:a16="http://schemas.microsoft.com/office/drawing/2014/main" id="{328C190E-23F8-4A42-A016-E67DC4BCA57E}"/>
              </a:ext>
            </a:extLst>
          </p:cNvPr>
          <p:cNvSpPr>
            <a:spLocks xmlns:a="http://schemas.openxmlformats.org/drawingml/2006/main" noGrp="1"/>
          </p:cNvSpPr>
          <p:nvPr/>
        </p:nvSpPr>
        <p:spPr>
          <a:xfrm xmlns:a="http://schemas.openxmlformats.org/drawingml/2006/main">
            <a:off x="514350" y="6000750"/>
            <a:ext cx="485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0" i="0">
                <a:solidFill>
                  <a:srgbClr val="5D6673"/>
                </a:solidFill>
                <a:latin typeface="Arial"/>
                <a:ea typeface="Arial"/>
                <a:cs typeface="Arial"/>
              </a:defRPr>
            </a:pPr>
            <a:r>
              <a:rPr sz="1050" b="0" i="0">
                <a:solidFill>
                  <a:srgbClr val="5D6673"/>
                </a:solidFill>
                <a:latin typeface="Arial"/>
                <a:ea typeface="Arial"/>
                <a:cs typeface="Arial"/>
              </a:rPr>
              <a:t>Public SI1000 Gross-code circuit. August 2026.</a:t>
            </a:r>
          </a:p>
        </p:txBody>
      </p:sp>
      <p:sp>
        <p:nvSpPr>
          <p:cNvPr id="7" name="">
            <a:extLst xmlns:a="http://schemas.openxmlformats.org/drawingml/2006/main">
              <a:ext uri="{FF2B5EF4-FFF2-40B4-BE49-F238E27FC236}">
                <a16:creationId xmlns:a16="http://schemas.microsoft.com/office/drawing/2014/main" id="{FE38E30C-BFFC-4DD0-AC64-A5FF06D78E21}"/>
              </a:ext>
            </a:extLst>
          </p:cNvPr>
          <p:cNvSpPr>
            <a:spLocks xmlns:a="http://schemas.openxmlformats.org/drawingml/2006/main" noGrp="1"/>
          </p:cNvSpPr>
          <p:nvPr/>
        </p:nvSpPr>
        <p:spPr>
          <a:xfrm xmlns:a="http://schemas.openxmlformats.org/drawingml/2006/main">
            <a:off x="6172200" y="381000"/>
            <a:ext cx="5524500" cy="5848350"/>
          </a:xfrm>
          <a:prstGeom xmlns:a="http://schemas.openxmlformats.org/drawingml/2006/main" prst="roundRect">
            <a:avLst>
              <a:gd name="adj" fmla="val 1379"/>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201dc6464654b1b"/>
          <a:srcRect xmlns:a="http://schemas.openxmlformats.org/drawingml/2006/main" l="2787" t="0" r="2787" b="0"/>
          <a:stretch xmlns:a="http://schemas.openxmlformats.org/drawingml/2006/main">
            <a:fillRect l="0" t="0" r="0" b="0"/>
          </a:stretch>
        </p:blipFill>
        <p:spPr>
          <a:xfrm xmlns:a="http://schemas.openxmlformats.org/drawingml/2006/main">
            <a:off x="6191250" y="400050"/>
            <a:ext cx="5486400" cy="5810250"/>
          </a:xfrm>
          <a:prstGeom xmlns:a="http://schemas.openxmlformats.org/drawingml/2006/main" prst="roundRect">
            <a:avLst/>
          </a:prstGeom>
        </p:spPr>
      </p:pic>
    </p:spTree>
    <p:extLst>
      <p:ext uri="{BB962C8B-B14F-4D97-AF65-F5344CB8AC3E}">
        <p14:creationId xmlns:p14="http://schemas.microsoft.com/office/powerpoint/2010/main" val="13521771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AAEB49C8-DB3E-4BBD-8CC8-D848A8CCD596}"/>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CORE CLAIM</a:t>
            </a:r>
          </a:p>
        </p:txBody>
      </p:sp>
      <p:sp>
        <p:nvSpPr>
          <p:cNvPr id="2" name="slide-title">
            <a:extLst xmlns:a="http://schemas.openxmlformats.org/drawingml/2006/main">
              <a:ext uri="{FF2B5EF4-FFF2-40B4-BE49-F238E27FC236}">
                <a16:creationId xmlns:a16="http://schemas.microsoft.com/office/drawing/2014/main" id="{5F02E9E3-7981-4F4C-A198-70EF050A2D43}"/>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01"/>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An exact distance needs both bounds</a:t>
            </a:r>
          </a:p>
        </p:txBody>
      </p:sp>
      <p:sp>
        <p:nvSpPr>
          <p:cNvPr id="3" name="">
            <a:extLst xmlns:a="http://schemas.openxmlformats.org/drawingml/2006/main">
              <a:ext uri="{FF2B5EF4-FFF2-40B4-BE49-F238E27FC236}">
                <a16:creationId xmlns:a16="http://schemas.microsoft.com/office/drawing/2014/main" id="{C88AF855-903D-409F-AB4B-942ACA0D890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AA404B2A-5D04-4386-A478-D7183BE66B92}"/>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023A7D0-800B-4947-B806-02CD69ECAC27}"/>
              </a:ext>
            </a:extLst>
          </p:cNvPr>
          <p:cNvSpPr>
            <a:spLocks xmlns:a="http://schemas.openxmlformats.org/drawingml/2006/main" noGrp="1"/>
          </p:cNvSpPr>
          <p:nvPr/>
        </p:nvSpPr>
        <p:spPr>
          <a:xfrm xmlns:a="http://schemas.openxmlformats.org/drawingml/2006/main">
            <a:off x="552450" y="1714500"/>
            <a:ext cx="4572000" cy="27051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4F8E7DE-9E29-4C9B-9457-F2E2BCD6BE2D}"/>
              </a:ext>
            </a:extLst>
          </p:cNvPr>
          <p:cNvSpPr>
            <a:spLocks xmlns:a="http://schemas.openxmlformats.org/drawingml/2006/main" noGrp="1"/>
          </p:cNvSpPr>
          <p:nvPr/>
        </p:nvSpPr>
        <p:spPr>
          <a:xfrm xmlns:a="http://schemas.openxmlformats.org/drawingml/2006/main">
            <a:off x="781050" y="1905000"/>
            <a:ext cx="2095500" cy="266700"/>
          </a:xfrm>
          <a:prstGeom xmlns:a="http://schemas.openxmlformats.org/drawingml/2006/main" prst="rect">
            <a:avLst/>
          </a:prstGeom>
          <a:solidFill xmlns:a="http://schemas.openxmlformats.org/drawingml/2006/main">
            <a:srgbClr val="EFF1F3"/>
          </a:solidFill>
          <a:ln xmlns:a="http://schemas.openxmlformats.org/drawingml/2006/main" w="9525">
            <a:solidFill>
              <a:srgbClr val="EFF1F3"/>
            </a:solid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40DC0853-7331-4DEE-A393-6E8E9B0CAA77}"/>
              </a:ext>
            </a:extLst>
          </p:cNvPr>
          <p:cNvSpPr>
            <a:spLocks xmlns:a="http://schemas.openxmlformats.org/drawingml/2006/main" noGrp="1"/>
          </p:cNvSpPr>
          <p:nvPr/>
        </p:nvSpPr>
        <p:spPr>
          <a:xfrm xmlns:a="http://schemas.openxmlformats.org/drawingml/2006/main">
            <a:off x="857250" y="19526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0B0F14"/>
                </a:solidFill>
                <a:latin typeface="Arial"/>
                <a:ea typeface="Arial"/>
                <a:cs typeface="Arial"/>
              </a:defRPr>
            </a:pPr>
            <a:r>
              <a:rPr sz="900" b="1" i="0">
                <a:solidFill>
                  <a:srgbClr val="0B0F14"/>
                </a:solidFill>
                <a:latin typeface="Arial"/>
                <a:ea typeface="Arial"/>
                <a:cs typeface="Arial"/>
              </a:rPr>
              <a:t>PUBLIC BEFORE THIS PROJECT</a:t>
            </a:r>
          </a:p>
        </p:txBody>
      </p:sp>
      <p:sp>
        <p:nvSpPr>
          <p:cNvPr id="8" name="text">
            <a:extLst xmlns:a="http://schemas.openxmlformats.org/drawingml/2006/main">
              <a:ext uri="{FF2B5EF4-FFF2-40B4-BE49-F238E27FC236}">
                <a16:creationId xmlns:a16="http://schemas.microsoft.com/office/drawing/2014/main" id="{603B6EBB-3601-4E56-BB30-94D8BDFC1F53}"/>
              </a:ext>
            </a:extLst>
          </p:cNvPr>
          <p:cNvSpPr>
            <a:spLocks xmlns:a="http://schemas.openxmlformats.org/drawingml/2006/main" noGrp="1"/>
          </p:cNvSpPr>
          <p:nvPr/>
        </p:nvSpPr>
        <p:spPr>
          <a:xfrm xmlns:a="http://schemas.openxmlformats.org/drawingml/2006/main">
            <a:off x="781050" y="2400300"/>
            <a:ext cx="3905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5850" b="1" i="0">
                <a:solidFill>
                  <a:srgbClr val="0B0F14"/>
                </a:solidFill>
                <a:latin typeface="Arial"/>
                <a:ea typeface="Arial"/>
                <a:cs typeface="Arial"/>
              </a:defRPr>
            </a:pPr>
            <a:r>
              <a:rPr sz="5850" b="1" i="0">
                <a:solidFill>
                  <a:srgbClr val="0B0F14"/>
                </a:solidFill>
                <a:latin typeface="Arial"/>
                <a:ea typeface="Arial"/>
                <a:cs typeface="Arial"/>
              </a:rPr>
              <a:t>d ≤ 10</a:t>
            </a:r>
          </a:p>
        </p:txBody>
      </p:sp>
      <p:sp>
        <p:nvSpPr>
          <p:cNvPr id="9" name="text">
            <a:extLst xmlns:a="http://schemas.openxmlformats.org/drawingml/2006/main">
              <a:ext uri="{FF2B5EF4-FFF2-40B4-BE49-F238E27FC236}">
                <a16:creationId xmlns:a16="http://schemas.microsoft.com/office/drawing/2014/main" id="{424CF0C5-9156-4A71-91AB-A80253D9E9A0}"/>
              </a:ext>
            </a:extLst>
          </p:cNvPr>
          <p:cNvSpPr>
            <a:spLocks xmlns:a="http://schemas.openxmlformats.org/drawingml/2006/main" noGrp="1"/>
          </p:cNvSpPr>
          <p:nvPr/>
        </p:nvSpPr>
        <p:spPr>
          <a:xfrm xmlns:a="http://schemas.openxmlformats.org/drawingml/2006/main">
            <a:off x="781050" y="35242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D6673"/>
                </a:solidFill>
                <a:latin typeface="Arial"/>
                <a:ea typeface="Arial"/>
                <a:cs typeface="Arial"/>
              </a:defRPr>
            </a:pPr>
            <a:r>
              <a:rPr sz="1650" b="0" i="0">
                <a:solidFill>
                  <a:srgbClr val="5D6673"/>
                </a:solidFill>
                <a:latin typeface="Arial"/>
                <a:ea typeface="Arial"/>
                <a:cs typeface="Arial"/>
              </a:rPr>
              <a:t>A weight-10 witness gives the upper bound.</a:t>
            </a:r>
          </a:p>
        </p:txBody>
      </p:sp>
      <p:sp>
        <p:nvSpPr>
          <p:cNvPr id="10" name="text">
            <a:extLst xmlns:a="http://schemas.openxmlformats.org/drawingml/2006/main">
              <a:ext uri="{FF2B5EF4-FFF2-40B4-BE49-F238E27FC236}">
                <a16:creationId xmlns:a16="http://schemas.microsoft.com/office/drawing/2014/main" id="{7F86A5B1-507B-4698-ACD6-94935841187C}"/>
              </a:ext>
            </a:extLst>
          </p:cNvPr>
          <p:cNvSpPr>
            <a:spLocks xmlns:a="http://schemas.openxmlformats.org/drawingml/2006/main" noGrp="1"/>
          </p:cNvSpPr>
          <p:nvPr/>
        </p:nvSpPr>
        <p:spPr>
          <a:xfrm xmlns:a="http://schemas.openxmlformats.org/drawingml/2006/main">
            <a:off x="5581650" y="2571750"/>
            <a:ext cx="95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541"/>
          </a:bodyPr>
          <a:lstStyle xmlns:a="http://schemas.openxmlformats.org/drawingml/2006/main"/>
          <a:p xmlns:a="http://schemas.openxmlformats.org/drawingml/2006/main">
            <a:pPr algn="ctr">
              <a:defRPr sz="5550" b="1" i="0">
                <a:solidFill>
                  <a:srgbClr val="3D8DFF"/>
                </a:solidFill>
                <a:latin typeface="Arial"/>
                <a:ea typeface="Arial"/>
                <a:cs typeface="Arial"/>
              </a:defRPr>
            </a:pPr>
            <a:r>
              <a:rPr sz="5550" b="1" i="0">
                <a:solidFill>
                  <a:srgbClr val="3D8D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AF36244E-0E91-4926-A15D-2434F25DB4C8}"/>
              </a:ext>
            </a:extLst>
          </p:cNvPr>
          <p:cNvSpPr>
            <a:spLocks xmlns:a="http://schemas.openxmlformats.org/drawingml/2006/main" noGrp="1"/>
          </p:cNvSpPr>
          <p:nvPr/>
        </p:nvSpPr>
        <p:spPr>
          <a:xfrm xmlns:a="http://schemas.openxmlformats.org/drawingml/2006/main">
            <a:off x="7067550" y="1714500"/>
            <a:ext cx="4572000" cy="270510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6357982-32C5-4117-B648-B106184F921F}"/>
              </a:ext>
            </a:extLst>
          </p:cNvPr>
          <p:cNvSpPr>
            <a:spLocks xmlns:a="http://schemas.openxmlformats.org/drawingml/2006/main" noGrp="1"/>
          </p:cNvSpPr>
          <p:nvPr/>
        </p:nvSpPr>
        <p:spPr>
          <a:xfrm xmlns:a="http://schemas.openxmlformats.org/drawingml/2006/main">
            <a:off x="7296150" y="1905000"/>
            <a:ext cx="1943100" cy="2667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13" name="text">
            <a:extLst xmlns:a="http://schemas.openxmlformats.org/drawingml/2006/main">
              <a:ext uri="{FF2B5EF4-FFF2-40B4-BE49-F238E27FC236}">
                <a16:creationId xmlns:a16="http://schemas.microsoft.com/office/drawing/2014/main" id="{0744F961-1D2C-4DD0-8FAB-89179D3B16D0}"/>
              </a:ext>
            </a:extLst>
          </p:cNvPr>
          <p:cNvSpPr>
            <a:spLocks xmlns:a="http://schemas.openxmlformats.org/drawingml/2006/main" noGrp="1"/>
          </p:cNvSpPr>
          <p:nvPr/>
        </p:nvSpPr>
        <p:spPr>
          <a:xfrm xmlns:a="http://schemas.openxmlformats.org/drawingml/2006/main">
            <a:off x="7372350" y="1952625"/>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CLAIMED CONTRIBUTION</a:t>
            </a:r>
          </a:p>
        </p:txBody>
      </p:sp>
      <p:sp>
        <p:nvSpPr>
          <p:cNvPr id="14" name="text">
            <a:extLst xmlns:a="http://schemas.openxmlformats.org/drawingml/2006/main">
              <a:ext uri="{FF2B5EF4-FFF2-40B4-BE49-F238E27FC236}">
                <a16:creationId xmlns:a16="http://schemas.microsoft.com/office/drawing/2014/main" id="{BFEF9AA0-F26C-4AA9-8497-E86D4C6EC28A}"/>
              </a:ext>
            </a:extLst>
          </p:cNvPr>
          <p:cNvSpPr>
            <a:spLocks xmlns:a="http://schemas.openxmlformats.org/drawingml/2006/main" noGrp="1"/>
          </p:cNvSpPr>
          <p:nvPr/>
        </p:nvSpPr>
        <p:spPr>
          <a:xfrm xmlns:a="http://schemas.openxmlformats.org/drawingml/2006/main">
            <a:off x="7296150" y="2400300"/>
            <a:ext cx="3905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5850" b="1" i="0">
                <a:solidFill>
                  <a:srgbClr val="3D8DFF"/>
                </a:solidFill>
                <a:latin typeface="Arial"/>
                <a:ea typeface="Arial"/>
                <a:cs typeface="Arial"/>
              </a:defRPr>
            </a:pPr>
            <a:r>
              <a:rPr sz="5850" b="1" i="0">
                <a:solidFill>
                  <a:srgbClr val="3D8DFF"/>
                </a:solidFill>
                <a:latin typeface="Arial"/>
                <a:ea typeface="Arial"/>
                <a:cs typeface="Arial"/>
              </a:rPr>
              <a:t>d ≥ 10</a:t>
            </a:r>
          </a:p>
        </p:txBody>
      </p:sp>
      <p:sp>
        <p:nvSpPr>
          <p:cNvPr id="15" name="text">
            <a:extLst xmlns:a="http://schemas.openxmlformats.org/drawingml/2006/main">
              <a:ext uri="{FF2B5EF4-FFF2-40B4-BE49-F238E27FC236}">
                <a16:creationId xmlns:a16="http://schemas.microsoft.com/office/drawing/2014/main" id="{47D776D5-9E53-4455-A7F7-7816B84BC3C2}"/>
              </a:ext>
            </a:extLst>
          </p:cNvPr>
          <p:cNvSpPr>
            <a:spLocks xmlns:a="http://schemas.openxmlformats.org/drawingml/2006/main" noGrp="1"/>
          </p:cNvSpPr>
          <p:nvPr/>
        </p:nvSpPr>
        <p:spPr>
          <a:xfrm xmlns:a="http://schemas.openxmlformats.org/drawingml/2006/main">
            <a:off x="7296150" y="35242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0B0F14"/>
                </a:solidFill>
                <a:latin typeface="Arial"/>
                <a:ea typeface="Arial"/>
                <a:cs typeface="Arial"/>
              </a:defRPr>
            </a:pPr>
            <a:r>
              <a:rPr sz="1650" b="0" i="0">
                <a:solidFill>
                  <a:srgbClr val="0B0F14"/>
                </a:solidFill>
                <a:latin typeface="Arial"/>
                <a:ea typeface="Arial"/>
                <a:cs typeface="Arial"/>
              </a:rPr>
              <a:t>Show that no logical fault of weight 1 to 9 exists.</a:t>
            </a:r>
          </a:p>
        </p:txBody>
      </p:sp>
      <p:sp>
        <p:nvSpPr>
          <p:cNvPr id="16" name="">
            <a:extLst xmlns:a="http://schemas.openxmlformats.org/drawingml/2006/main">
              <a:ext uri="{FF2B5EF4-FFF2-40B4-BE49-F238E27FC236}">
                <a16:creationId xmlns:a16="http://schemas.microsoft.com/office/drawing/2014/main" id="{6280020C-769B-4341-8EF7-4817BF4F2C33}"/>
              </a:ext>
            </a:extLst>
          </p:cNvPr>
          <p:cNvSpPr>
            <a:spLocks xmlns:a="http://schemas.openxmlformats.org/drawingml/2006/main" noGrp="1"/>
          </p:cNvSpPr>
          <p:nvPr/>
        </p:nvSpPr>
        <p:spPr>
          <a:xfrm xmlns:a="http://schemas.openxmlformats.org/drawingml/2006/main">
            <a:off x="1562100" y="4953000"/>
            <a:ext cx="9067800" cy="19050"/>
          </a:xfrm>
          <a:prstGeom xmlns:a="http://schemas.openxmlformats.org/drawingml/2006/main" prst="rect">
            <a:avLst/>
          </a:prstGeom>
          <a:solidFill xmlns:a="http://schemas.openxmlformats.org/drawingml/2006/main">
            <a:srgbClr val="0B0F14"/>
          </a:solidFill>
          <a:ln xmlns:a="http://schemas.openxmlformats.org/drawingml/2006/main" w="0">
            <a:noFill/>
            <a:prstDash val="solid"/>
          </a:ln>
        </p:spPr>
        <p:txBody xmlns:a="http://schemas.openxmlformats.org/drawingml/2006/main">
          <a:bodyPr/>
          <a:p/>
        </p:txBody>
      </p:sp>
      <p:sp>
        <p:nvSpPr>
          <p:cNvPr id="17" name="text">
            <a:extLst xmlns:a="http://schemas.openxmlformats.org/drawingml/2006/main">
              <a:ext uri="{FF2B5EF4-FFF2-40B4-BE49-F238E27FC236}">
                <a16:creationId xmlns:a16="http://schemas.microsoft.com/office/drawing/2014/main" id="{46226409-97E9-4B22-B2F2-2BA6FF5E9C75}"/>
              </a:ext>
            </a:extLst>
          </p:cNvPr>
          <p:cNvSpPr>
            <a:spLocks xmlns:a="http://schemas.openxmlformats.org/drawingml/2006/main" noGrp="1"/>
          </p:cNvSpPr>
          <p:nvPr/>
        </p:nvSpPr>
        <p:spPr>
          <a:xfrm xmlns:a="http://schemas.openxmlformats.org/drawingml/2006/main">
            <a:off x="2095500" y="5219700"/>
            <a:ext cx="800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3150" b="1" i="0">
                <a:solidFill>
                  <a:srgbClr val="0B0F14"/>
                </a:solidFill>
                <a:latin typeface="Arial"/>
                <a:ea typeface="Arial"/>
                <a:cs typeface="Arial"/>
              </a:defRPr>
            </a:pPr>
            <a:r>
              <a:rPr sz="3150" b="1" i="0">
                <a:solidFill>
                  <a:srgbClr val="0B0F14"/>
                </a:solidFill>
                <a:latin typeface="Arial"/>
                <a:ea typeface="Arial"/>
                <a:cs typeface="Arial"/>
              </a:rPr>
              <a:t>If both parts are true, d = 10</a:t>
            </a:r>
          </a:p>
        </p:txBody>
      </p:sp>
      <p:sp>
        <p:nvSpPr>
          <p:cNvPr id="18" name="visible-source">
            <a:extLst xmlns:a="http://schemas.openxmlformats.org/drawingml/2006/main">
              <a:ext uri="{FF2B5EF4-FFF2-40B4-BE49-F238E27FC236}">
                <a16:creationId xmlns:a16="http://schemas.microsoft.com/office/drawing/2014/main" id="{75F13F27-3A0C-4B7C-BE74-06DA2E24815C}"/>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Sources: Gidney et al. (2025); Webster, Jacob &amp; Higgott (2026)</a:t>
            </a:r>
          </a:p>
        </p:txBody>
      </p:sp>
    </p:spTree>
    <p:extLst>
      <p:ext uri="{BB962C8B-B14F-4D97-AF65-F5344CB8AC3E}">
        <p14:creationId xmlns:p14="http://schemas.microsoft.com/office/powerpoint/2010/main" val="9544652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96B3347F-36AF-465B-97CD-52A2BBF79465}"/>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BENCHMARK IDENTITY</a:t>
            </a:r>
          </a:p>
        </p:txBody>
      </p:sp>
      <p:sp>
        <p:nvSpPr>
          <p:cNvPr id="2" name="slide-title">
            <a:extLst xmlns:a="http://schemas.openxmlformats.org/drawingml/2006/main">
              <a:ext uri="{FF2B5EF4-FFF2-40B4-BE49-F238E27FC236}">
                <a16:creationId xmlns:a16="http://schemas.microsoft.com/office/drawing/2014/main" id="{D39A697E-26B2-433F-B2F7-D36B11692560}"/>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The label q288 counts the qubits in the circuit</a:t>
            </a:r>
          </a:p>
        </p:txBody>
      </p:sp>
      <p:sp>
        <p:nvSpPr>
          <p:cNvPr id="3" name="">
            <a:extLst xmlns:a="http://schemas.openxmlformats.org/drawingml/2006/main">
              <a:ext uri="{FF2B5EF4-FFF2-40B4-BE49-F238E27FC236}">
                <a16:creationId xmlns:a16="http://schemas.microsoft.com/office/drawing/2014/main" id="{026CAFAE-CFE3-4ABA-92A4-6963C1447EB3}"/>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72955390-2D1D-4A9F-A541-610BD3EF1924}"/>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03</a:t>
            </a:r>
          </a:p>
        </p:txBody>
      </p:sp>
      <p:sp>
        <p:nvSpPr>
          <p:cNvPr id="5" name="text">
            <a:extLst xmlns:a="http://schemas.openxmlformats.org/drawingml/2006/main">
              <a:ext uri="{FF2B5EF4-FFF2-40B4-BE49-F238E27FC236}">
                <a16:creationId xmlns:a16="http://schemas.microsoft.com/office/drawing/2014/main" id="{AA45CD34-91C3-49E7-B69E-2623C98D6647}"/>
              </a:ext>
            </a:extLst>
          </p:cNvPr>
          <p:cNvSpPr>
            <a:spLocks xmlns:a="http://schemas.openxmlformats.org/drawingml/2006/main" noGrp="1"/>
          </p:cNvSpPr>
          <p:nvPr/>
        </p:nvSpPr>
        <p:spPr>
          <a:xfrm xmlns:a="http://schemas.openxmlformats.org/drawingml/2006/main">
            <a:off x="666750" y="1905000"/>
            <a:ext cx="247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6150" b="1" i="0">
                <a:solidFill>
                  <a:srgbClr val="3D8DFF"/>
                </a:solidFill>
                <a:latin typeface="Arial"/>
                <a:ea typeface="Arial"/>
                <a:cs typeface="Arial"/>
              </a:defRPr>
            </a:pPr>
            <a:r>
              <a:rPr sz="6150" b="1" i="0">
                <a:solidFill>
                  <a:srgbClr val="3D8DFF"/>
                </a:solidFill>
                <a:latin typeface="Arial"/>
                <a:ea typeface="Arial"/>
                <a:cs typeface="Arial"/>
              </a:rPr>
              <a:t>144</a:t>
            </a:r>
          </a:p>
        </p:txBody>
      </p:sp>
      <p:sp>
        <p:nvSpPr>
          <p:cNvPr id="6" name="text">
            <a:extLst xmlns:a="http://schemas.openxmlformats.org/drawingml/2006/main">
              <a:ext uri="{FF2B5EF4-FFF2-40B4-BE49-F238E27FC236}">
                <a16:creationId xmlns:a16="http://schemas.microsoft.com/office/drawing/2014/main" id="{90336A8B-C8C4-4AF5-B9A1-84F3FA735B00}"/>
              </a:ext>
            </a:extLst>
          </p:cNvPr>
          <p:cNvSpPr>
            <a:spLocks xmlns:a="http://schemas.openxmlformats.org/drawingml/2006/main" noGrp="1"/>
          </p:cNvSpPr>
          <p:nvPr/>
        </p:nvSpPr>
        <p:spPr>
          <a:xfrm xmlns:a="http://schemas.openxmlformats.org/drawingml/2006/main">
            <a:off x="704850" y="3048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5D6673"/>
                </a:solidFill>
                <a:latin typeface="Arial"/>
                <a:ea typeface="Arial"/>
                <a:cs typeface="Arial"/>
              </a:defRPr>
            </a:pPr>
            <a:r>
              <a:rPr sz="1200" b="1" i="0">
                <a:solidFill>
                  <a:srgbClr val="5D6673"/>
                </a:solidFill>
                <a:latin typeface="Arial"/>
                <a:ea typeface="Arial"/>
                <a:cs typeface="Arial"/>
              </a:rPr>
              <a:t>DATA QUBITS</a:t>
            </a:r>
          </a:p>
        </p:txBody>
      </p:sp>
      <p:sp>
        <p:nvSpPr>
          <p:cNvPr id="7" name="text">
            <a:extLst xmlns:a="http://schemas.openxmlformats.org/drawingml/2006/main">
              <a:ext uri="{FF2B5EF4-FFF2-40B4-BE49-F238E27FC236}">
                <a16:creationId xmlns:a16="http://schemas.microsoft.com/office/drawing/2014/main" id="{88134496-2DF5-475E-A23A-AF5936D26364}"/>
              </a:ext>
            </a:extLst>
          </p:cNvPr>
          <p:cNvSpPr>
            <a:spLocks xmlns:a="http://schemas.openxmlformats.org/drawingml/2006/main" noGrp="1"/>
          </p:cNvSpPr>
          <p:nvPr/>
        </p:nvSpPr>
        <p:spPr>
          <a:xfrm xmlns:a="http://schemas.openxmlformats.org/drawingml/2006/main">
            <a:off x="3143250" y="2114550"/>
            <a:ext cx="857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39"/>
          </a:bodyPr>
          <a:lstStyle xmlns:a="http://schemas.openxmlformats.org/drawingml/2006/main"/>
          <a:p xmlns:a="http://schemas.openxmlformats.org/drawingml/2006/main">
            <a:pPr algn="ctr">
              <a:defRPr sz="4950" b="0" i="0">
                <a:solidFill>
                  <a:srgbClr val="0B0F14"/>
                </a:solidFill>
                <a:latin typeface="Arial"/>
                <a:ea typeface="Arial"/>
                <a:cs typeface="Arial"/>
              </a:defRPr>
            </a:pPr>
            <a:r>
              <a:rPr sz="4950" b="0" i="0">
                <a:solidFill>
                  <a:srgbClr val="0B0F14"/>
                </a:solidFill>
                <a:latin typeface="Arial"/>
                <a:ea typeface="Arial"/>
                <a:cs typeface="Arial"/>
              </a:rPr>
              <a:t>+</a:t>
            </a:r>
          </a:p>
        </p:txBody>
      </p:sp>
      <p:sp>
        <p:nvSpPr>
          <p:cNvPr id="8" name="text">
            <a:extLst xmlns:a="http://schemas.openxmlformats.org/drawingml/2006/main">
              <a:ext uri="{FF2B5EF4-FFF2-40B4-BE49-F238E27FC236}">
                <a16:creationId xmlns:a16="http://schemas.microsoft.com/office/drawing/2014/main" id="{FDB8E1F6-BE0E-480C-86F8-182DF249235E}"/>
              </a:ext>
            </a:extLst>
          </p:cNvPr>
          <p:cNvSpPr>
            <a:spLocks xmlns:a="http://schemas.openxmlformats.org/drawingml/2006/main" noGrp="1"/>
          </p:cNvSpPr>
          <p:nvPr/>
        </p:nvSpPr>
        <p:spPr>
          <a:xfrm xmlns:a="http://schemas.openxmlformats.org/drawingml/2006/main">
            <a:off x="4095750" y="1905000"/>
            <a:ext cx="247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6150" b="1" i="0">
                <a:solidFill>
                  <a:srgbClr val="0B0F14"/>
                </a:solidFill>
                <a:latin typeface="Arial"/>
                <a:ea typeface="Arial"/>
                <a:cs typeface="Arial"/>
              </a:defRPr>
            </a:pPr>
            <a:r>
              <a:rPr sz="6150" b="1" i="0">
                <a:solidFill>
                  <a:srgbClr val="0B0F14"/>
                </a:solidFill>
                <a:latin typeface="Arial"/>
                <a:ea typeface="Arial"/>
                <a:cs typeface="Arial"/>
              </a:rPr>
              <a:t>144</a:t>
            </a:r>
          </a:p>
        </p:txBody>
      </p:sp>
      <p:sp>
        <p:nvSpPr>
          <p:cNvPr id="9" name="text">
            <a:extLst xmlns:a="http://schemas.openxmlformats.org/drawingml/2006/main">
              <a:ext uri="{FF2B5EF4-FFF2-40B4-BE49-F238E27FC236}">
                <a16:creationId xmlns:a16="http://schemas.microsoft.com/office/drawing/2014/main" id="{55B1D22C-F191-48EA-840F-6E1BEA8D7F8C}"/>
              </a:ext>
            </a:extLst>
          </p:cNvPr>
          <p:cNvSpPr>
            <a:spLocks xmlns:a="http://schemas.openxmlformats.org/drawingml/2006/main" noGrp="1"/>
          </p:cNvSpPr>
          <p:nvPr/>
        </p:nvSpPr>
        <p:spPr>
          <a:xfrm xmlns:a="http://schemas.openxmlformats.org/drawingml/2006/main">
            <a:off x="4133850" y="3048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5D6673"/>
                </a:solidFill>
                <a:latin typeface="Arial"/>
                <a:ea typeface="Arial"/>
                <a:cs typeface="Arial"/>
              </a:defRPr>
            </a:pPr>
            <a:r>
              <a:rPr sz="1200" b="1" i="0">
                <a:solidFill>
                  <a:srgbClr val="5D6673"/>
                </a:solidFill>
                <a:latin typeface="Arial"/>
                <a:ea typeface="Arial"/>
                <a:cs typeface="Arial"/>
              </a:rPr>
              <a:t>CHECK / ANCILLA QUBITS</a:t>
            </a:r>
          </a:p>
        </p:txBody>
      </p:sp>
      <p:sp>
        <p:nvSpPr>
          <p:cNvPr id="10" name="text">
            <a:extLst xmlns:a="http://schemas.openxmlformats.org/drawingml/2006/main">
              <a:ext uri="{FF2B5EF4-FFF2-40B4-BE49-F238E27FC236}">
                <a16:creationId xmlns:a16="http://schemas.microsoft.com/office/drawing/2014/main" id="{17ACE558-54B2-4231-B812-4E0C85676E8F}"/>
              </a:ext>
            </a:extLst>
          </p:cNvPr>
          <p:cNvSpPr>
            <a:spLocks xmlns:a="http://schemas.openxmlformats.org/drawingml/2006/main" noGrp="1"/>
          </p:cNvSpPr>
          <p:nvPr/>
        </p:nvSpPr>
        <p:spPr>
          <a:xfrm xmlns:a="http://schemas.openxmlformats.org/drawingml/2006/main">
            <a:off x="6572250" y="2114550"/>
            <a:ext cx="857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39"/>
          </a:bodyPr>
          <a:lstStyle xmlns:a="http://schemas.openxmlformats.org/drawingml/2006/main"/>
          <a:p xmlns:a="http://schemas.openxmlformats.org/drawingml/2006/main">
            <a:pPr algn="ctr">
              <a:defRPr sz="4950" b="0" i="0">
                <a:solidFill>
                  <a:srgbClr val="0B0F14"/>
                </a:solidFill>
                <a:latin typeface="Arial"/>
                <a:ea typeface="Arial"/>
                <a:cs typeface="Arial"/>
              </a:defRPr>
            </a:pPr>
            <a:r>
              <a:rPr sz="4950" b="0" i="0">
                <a:solidFill>
                  <a:srgbClr val="0B0F14"/>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8FB6291D-24DA-41B7-8BE4-73D0ECCB1865}"/>
              </a:ext>
            </a:extLst>
          </p:cNvPr>
          <p:cNvSpPr>
            <a:spLocks xmlns:a="http://schemas.openxmlformats.org/drawingml/2006/main" noGrp="1"/>
          </p:cNvSpPr>
          <p:nvPr/>
        </p:nvSpPr>
        <p:spPr>
          <a:xfrm xmlns:a="http://schemas.openxmlformats.org/drawingml/2006/main">
            <a:off x="7524750" y="1695450"/>
            <a:ext cx="3905250" cy="188595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12" name="text">
            <a:extLst xmlns:a="http://schemas.openxmlformats.org/drawingml/2006/main">
              <a:ext uri="{FF2B5EF4-FFF2-40B4-BE49-F238E27FC236}">
                <a16:creationId xmlns:a16="http://schemas.microsoft.com/office/drawing/2014/main" id="{C7312423-C96A-4EC7-8A83-35B37D6DA6A6}"/>
              </a:ext>
            </a:extLst>
          </p:cNvPr>
          <p:cNvSpPr>
            <a:spLocks xmlns:a="http://schemas.openxmlformats.org/drawingml/2006/main" noGrp="1"/>
          </p:cNvSpPr>
          <p:nvPr/>
        </p:nvSpPr>
        <p:spPr>
          <a:xfrm xmlns:a="http://schemas.openxmlformats.org/drawingml/2006/main">
            <a:off x="7867650" y="188595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94"/>
          </a:bodyPr>
          <a:lstStyle xmlns:a="http://schemas.openxmlformats.org/drawingml/2006/main"/>
          <a:p xmlns:a="http://schemas.openxmlformats.org/drawingml/2006/main">
            <a:pPr algn="ctr">
              <a:defRPr sz="6600" b="1" i="0">
                <a:solidFill>
                  <a:srgbClr val="3D8DFF"/>
                </a:solidFill>
                <a:latin typeface="Arial"/>
                <a:ea typeface="Arial"/>
                <a:cs typeface="Arial"/>
              </a:defRPr>
            </a:pPr>
            <a:r>
              <a:rPr sz="6600" b="1" i="0">
                <a:solidFill>
                  <a:srgbClr val="3D8DFF"/>
                </a:solidFill>
                <a:latin typeface="Arial"/>
                <a:ea typeface="Arial"/>
                <a:cs typeface="Arial"/>
              </a:rPr>
              <a:t>288</a:t>
            </a:r>
          </a:p>
        </p:txBody>
      </p:sp>
      <p:sp>
        <p:nvSpPr>
          <p:cNvPr id="13" name="text">
            <a:extLst xmlns:a="http://schemas.openxmlformats.org/drawingml/2006/main">
              <a:ext uri="{FF2B5EF4-FFF2-40B4-BE49-F238E27FC236}">
                <a16:creationId xmlns:a16="http://schemas.microsoft.com/office/drawing/2014/main" id="{3EAA0E8B-450B-479C-B85C-9BCFFA21A82A}"/>
              </a:ext>
            </a:extLst>
          </p:cNvPr>
          <p:cNvSpPr>
            <a:spLocks xmlns:a="http://schemas.openxmlformats.org/drawingml/2006/main" noGrp="1"/>
          </p:cNvSpPr>
          <p:nvPr/>
        </p:nvSpPr>
        <p:spPr>
          <a:xfrm xmlns:a="http://schemas.openxmlformats.org/drawingml/2006/main">
            <a:off x="7905750" y="299085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0B0F14"/>
                </a:solidFill>
                <a:latin typeface="Arial"/>
                <a:ea typeface="Arial"/>
                <a:cs typeface="Arial"/>
              </a:defRPr>
            </a:pPr>
            <a:r>
              <a:rPr sz="1275" b="1" i="0">
                <a:solidFill>
                  <a:srgbClr val="0B0F14"/>
                </a:solidFill>
                <a:latin typeface="Arial"/>
                <a:ea typeface="Arial"/>
                <a:cs typeface="Arial"/>
              </a:rPr>
              <a:t>CIRCUIT QUBITS</a:t>
            </a:r>
          </a:p>
        </p:txBody>
      </p:sp>
      <p:sp>
        <p:nvSpPr>
          <p:cNvPr id="14" name="">
            <a:extLst xmlns:a="http://schemas.openxmlformats.org/drawingml/2006/main">
              <a:ext uri="{FF2B5EF4-FFF2-40B4-BE49-F238E27FC236}">
                <a16:creationId xmlns:a16="http://schemas.microsoft.com/office/drawing/2014/main" id="{64F3E5FF-71B4-4AA5-BEAA-D0A399BDE293}"/>
              </a:ext>
            </a:extLst>
          </p:cNvPr>
          <p:cNvSpPr>
            <a:spLocks xmlns:a="http://schemas.openxmlformats.org/drawingml/2006/main" noGrp="1"/>
          </p:cNvSpPr>
          <p:nvPr/>
        </p:nvSpPr>
        <p:spPr>
          <a:xfrm xmlns:a="http://schemas.openxmlformats.org/drawingml/2006/main">
            <a:off x="666750" y="3981450"/>
            <a:ext cx="10763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5" name="text">
            <a:extLst xmlns:a="http://schemas.openxmlformats.org/drawingml/2006/main">
              <a:ext uri="{FF2B5EF4-FFF2-40B4-BE49-F238E27FC236}">
                <a16:creationId xmlns:a16="http://schemas.microsoft.com/office/drawing/2014/main" id="{F7840B06-9727-481E-BDEB-E101923D3F60}"/>
              </a:ext>
            </a:extLst>
          </p:cNvPr>
          <p:cNvSpPr>
            <a:spLocks xmlns:a="http://schemas.openxmlformats.org/drawingml/2006/main" noGrp="1"/>
          </p:cNvSpPr>
          <p:nvPr/>
        </p:nvSpPr>
        <p:spPr>
          <a:xfrm xmlns:a="http://schemas.openxmlformats.org/drawingml/2006/main">
            <a:off x="666750" y="43053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5D6673"/>
                </a:solidFill>
                <a:latin typeface="Arial"/>
                <a:ea typeface="Arial"/>
                <a:cs typeface="Arial"/>
              </a:defRPr>
            </a:pPr>
            <a:r>
              <a:rPr sz="1200" b="1" i="0">
                <a:solidFill>
                  <a:srgbClr val="5D6673"/>
                </a:solidFill>
                <a:latin typeface="Arial"/>
                <a:ea typeface="Arial"/>
                <a:cs typeface="Arial"/>
              </a:rPr>
              <a:t>Base code</a:t>
            </a:r>
          </a:p>
        </p:txBody>
      </p:sp>
      <p:sp>
        <p:nvSpPr>
          <p:cNvPr id="16" name="text">
            <a:extLst xmlns:a="http://schemas.openxmlformats.org/drawingml/2006/main">
              <a:ext uri="{FF2B5EF4-FFF2-40B4-BE49-F238E27FC236}">
                <a16:creationId xmlns:a16="http://schemas.microsoft.com/office/drawing/2014/main" id="{03DE375C-4B3B-408A-8EC8-4926A919CB28}"/>
              </a:ext>
            </a:extLst>
          </p:cNvPr>
          <p:cNvSpPr>
            <a:spLocks xmlns:a="http://schemas.openxmlformats.org/drawingml/2006/main" noGrp="1"/>
          </p:cNvSpPr>
          <p:nvPr/>
        </p:nvSpPr>
        <p:spPr>
          <a:xfrm xmlns:a="http://schemas.openxmlformats.org/drawingml/2006/main">
            <a:off x="666750" y="462915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0B0F14"/>
                </a:solidFill>
                <a:latin typeface="Arial"/>
                <a:ea typeface="Arial"/>
                <a:cs typeface="Arial"/>
              </a:defRPr>
            </a:pPr>
            <a:r>
              <a:rPr sz="2250" b="1" i="0">
                <a:solidFill>
                  <a:srgbClr val="0B0F14"/>
                </a:solidFill>
                <a:latin typeface="Arial"/>
                <a:ea typeface="Arial"/>
                <a:cs typeface="Arial"/>
              </a:rPr>
              <a:t>[[144,12,12]] Gross / bivariate-bicycle</a:t>
            </a:r>
          </a:p>
        </p:txBody>
      </p:sp>
      <p:sp>
        <p:nvSpPr>
          <p:cNvPr id="17" name="text">
            <a:extLst xmlns:a="http://schemas.openxmlformats.org/drawingml/2006/main">
              <a:ext uri="{FF2B5EF4-FFF2-40B4-BE49-F238E27FC236}">
                <a16:creationId xmlns:a16="http://schemas.microsoft.com/office/drawing/2014/main" id="{359FB551-62E3-4B86-8D72-7700897D9FA9}"/>
              </a:ext>
            </a:extLst>
          </p:cNvPr>
          <p:cNvSpPr>
            <a:spLocks xmlns:a="http://schemas.openxmlformats.org/drawingml/2006/main" noGrp="1"/>
          </p:cNvSpPr>
          <p:nvPr/>
        </p:nvSpPr>
        <p:spPr>
          <a:xfrm xmlns:a="http://schemas.openxmlformats.org/drawingml/2006/main">
            <a:off x="7524750" y="4305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5D6673"/>
                </a:solidFill>
                <a:latin typeface="Arial"/>
                <a:ea typeface="Arial"/>
                <a:cs typeface="Arial"/>
              </a:defRPr>
            </a:pPr>
            <a:r>
              <a:rPr sz="1200" b="1" i="0">
                <a:solidFill>
                  <a:srgbClr val="5D6673"/>
                </a:solidFill>
                <a:latin typeface="Arial"/>
                <a:ea typeface="Arial"/>
                <a:cs typeface="Arial"/>
              </a:rPr>
              <a:t>Separate public circuit</a:t>
            </a:r>
          </a:p>
        </p:txBody>
      </p:sp>
      <p:sp>
        <p:nvSpPr>
          <p:cNvPr id="18" name="text">
            <a:extLst xmlns:a="http://schemas.openxmlformats.org/drawingml/2006/main">
              <a:ext uri="{FF2B5EF4-FFF2-40B4-BE49-F238E27FC236}">
                <a16:creationId xmlns:a16="http://schemas.microsoft.com/office/drawing/2014/main" id="{97A74A8A-352D-4857-B08E-5BA457A74620}"/>
              </a:ext>
            </a:extLst>
          </p:cNvPr>
          <p:cNvSpPr>
            <a:spLocks xmlns:a="http://schemas.openxmlformats.org/drawingml/2006/main" noGrp="1"/>
          </p:cNvSpPr>
          <p:nvPr/>
        </p:nvSpPr>
        <p:spPr>
          <a:xfrm xmlns:a="http://schemas.openxmlformats.org/drawingml/2006/main">
            <a:off x="7524750" y="462915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0B0F14"/>
                </a:solidFill>
                <a:latin typeface="Arial"/>
                <a:ea typeface="Arial"/>
                <a:cs typeface="Arial"/>
              </a:defRPr>
            </a:pPr>
            <a:r>
              <a:rPr sz="2250" b="1" i="0">
                <a:solidFill>
                  <a:srgbClr val="0B0F14"/>
                </a:solidFill>
                <a:latin typeface="Arial"/>
                <a:ea typeface="Arial"/>
                <a:cs typeface="Arial"/>
              </a:rPr>
              <a:t>[[288,12,18]] gives q576</a:t>
            </a:r>
          </a:p>
        </p:txBody>
      </p:sp>
      <p:sp>
        <p:nvSpPr>
          <p:cNvPr id="19" name="visible-source">
            <a:extLst xmlns:a="http://schemas.openxmlformats.org/drawingml/2006/main">
              <a:ext uri="{FF2B5EF4-FFF2-40B4-BE49-F238E27FC236}">
                <a16:creationId xmlns:a16="http://schemas.microsoft.com/office/drawing/2014/main" id="{8E71878E-94E7-4361-B6FC-A1053770A617}"/>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Sources: Bravyi et al. (2024); pinned codeDistancePYPI circuit corpus</a:t>
            </a:r>
          </a:p>
        </p:txBody>
      </p:sp>
    </p:spTree>
    <p:extLst>
      <p:ext uri="{BB962C8B-B14F-4D97-AF65-F5344CB8AC3E}">
        <p14:creationId xmlns:p14="http://schemas.microsoft.com/office/powerpoint/2010/main" val="13167045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13A52D4B-DBD8-4D0F-8022-85883421EF0B}"/>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PINNED INPUT</a:t>
            </a:r>
          </a:p>
        </p:txBody>
      </p:sp>
      <p:sp>
        <p:nvSpPr>
          <p:cNvPr id="2" name="slide-title">
            <a:extLst xmlns:a="http://schemas.openxmlformats.org/drawingml/2006/main">
              <a:ext uri="{FF2B5EF4-FFF2-40B4-BE49-F238E27FC236}">
                <a16:creationId xmlns:a16="http://schemas.microsoft.com/office/drawing/2014/main" id="{6A7CE06A-E262-4CA6-9478-1B4C7F7989FD}"/>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The audited input is a public file with a known hash</a:t>
            </a:r>
          </a:p>
        </p:txBody>
      </p:sp>
      <p:sp>
        <p:nvSpPr>
          <p:cNvPr id="3" name="">
            <a:extLst xmlns:a="http://schemas.openxmlformats.org/drawingml/2006/main">
              <a:ext uri="{FF2B5EF4-FFF2-40B4-BE49-F238E27FC236}">
                <a16:creationId xmlns:a16="http://schemas.microsoft.com/office/drawing/2014/main" id="{FC32E96C-3497-4B72-AE98-7CE848B91869}"/>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55DCDB97-8FA3-4D5E-97A8-D4537FF2629E}"/>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923F904-F933-40D9-839A-EEAC14FDCBD5}"/>
              </a:ext>
            </a:extLst>
          </p:cNvPr>
          <p:cNvSpPr>
            <a:spLocks xmlns:a="http://schemas.openxmlformats.org/drawingml/2006/main" noGrp="1"/>
          </p:cNvSpPr>
          <p:nvPr/>
        </p:nvSpPr>
        <p:spPr>
          <a:xfrm xmlns:a="http://schemas.openxmlformats.org/drawingml/2006/main">
            <a:off x="552450" y="1600200"/>
            <a:ext cx="11087100" cy="10668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6" name="text">
            <a:extLst xmlns:a="http://schemas.openxmlformats.org/drawingml/2006/main">
              <a:ext uri="{FF2B5EF4-FFF2-40B4-BE49-F238E27FC236}">
                <a16:creationId xmlns:a16="http://schemas.microsoft.com/office/drawing/2014/main" id="{2653925A-F8B3-48D5-B462-A81D90D50EC4}"/>
              </a:ext>
            </a:extLst>
          </p:cNvPr>
          <p:cNvSpPr>
            <a:spLocks xmlns:a="http://schemas.openxmlformats.org/drawingml/2006/main" noGrp="1"/>
          </p:cNvSpPr>
          <p:nvPr/>
        </p:nvSpPr>
        <p:spPr>
          <a:xfrm xmlns:a="http://schemas.openxmlformats.org/drawingml/2006/main">
            <a:off x="781050" y="1790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PUBLIC CIRCUIT</a:t>
            </a:r>
          </a:p>
        </p:txBody>
      </p:sp>
      <p:sp>
        <p:nvSpPr>
          <p:cNvPr id="7" name="text">
            <a:extLst xmlns:a="http://schemas.openxmlformats.org/drawingml/2006/main">
              <a:ext uri="{FF2B5EF4-FFF2-40B4-BE49-F238E27FC236}">
                <a16:creationId xmlns:a16="http://schemas.microsoft.com/office/drawing/2014/main" id="{8AF91789-E56D-4BCE-9DB0-977BE4D7CD16}"/>
              </a:ext>
            </a:extLst>
          </p:cNvPr>
          <p:cNvSpPr>
            <a:spLocks xmlns:a="http://schemas.openxmlformats.org/drawingml/2006/main" noGrp="1"/>
          </p:cNvSpPr>
          <p:nvPr/>
        </p:nvSpPr>
        <p:spPr>
          <a:xfrm xmlns:a="http://schemas.openxmlformats.org/drawingml/2006/main">
            <a:off x="781050" y="2095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commit a4afe9c0…,  SHA-256 7c0dbeac…b18d</a:t>
            </a:r>
          </a:p>
        </p:txBody>
      </p:sp>
      <p:sp>
        <p:nvSpPr>
          <p:cNvPr id="8" name="text">
            <a:extLst xmlns:a="http://schemas.openxmlformats.org/drawingml/2006/main">
              <a:ext uri="{FF2B5EF4-FFF2-40B4-BE49-F238E27FC236}">
                <a16:creationId xmlns:a16="http://schemas.microsoft.com/office/drawing/2014/main" id="{6B0DE96B-4200-40C8-8FBF-45FDD2592D14}"/>
              </a:ext>
            </a:extLst>
          </p:cNvPr>
          <p:cNvSpPr>
            <a:spLocks xmlns:a="http://schemas.openxmlformats.org/drawingml/2006/main" noGrp="1"/>
          </p:cNvSpPr>
          <p:nvPr/>
        </p:nvSpPr>
        <p:spPr>
          <a:xfrm xmlns:a="http://schemas.openxmlformats.org/drawingml/2006/main">
            <a:off x="8324850" y="2000250"/>
            <a:ext cx="302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r">
              <a:defRPr sz="1275" b="0" i="0">
                <a:solidFill>
                  <a:srgbClr val="5D6673"/>
                </a:solidFill>
                <a:latin typeface="Arial"/>
                <a:ea typeface="Arial"/>
                <a:cs typeface="Arial"/>
              </a:defRPr>
            </a:pPr>
            <a:r>
              <a:rPr sz="1275" b="0" i="0">
                <a:solidFill>
                  <a:srgbClr val="5D6673"/>
                </a:solidFill>
                <a:latin typeface="Arial"/>
                <a:ea typeface="Arial"/>
                <a:cs typeface="Arial"/>
              </a:rPr>
              <a:t>SI1000, r=12, p=0.009, bivariate_bicycle_Z</a:t>
            </a:r>
          </a:p>
        </p:txBody>
      </p:sp>
      <p:sp>
        <p:nvSpPr>
          <p:cNvPr id="9" name="text">
            <a:extLst xmlns:a="http://schemas.openxmlformats.org/drawingml/2006/main">
              <a:ext uri="{FF2B5EF4-FFF2-40B4-BE49-F238E27FC236}">
                <a16:creationId xmlns:a16="http://schemas.microsoft.com/office/drawing/2014/main" id="{9711F18A-32C7-4751-A7CF-28F31F42F6B8}"/>
              </a:ext>
            </a:extLst>
          </p:cNvPr>
          <p:cNvSpPr>
            <a:spLocks xmlns:a="http://schemas.openxmlformats.org/drawingml/2006/main" noGrp="1"/>
          </p:cNvSpPr>
          <p:nvPr/>
        </p:nvSpPr>
        <p:spPr>
          <a:xfrm xmlns:a="http://schemas.openxmlformats.org/drawingml/2006/main">
            <a:off x="647700" y="3200400"/>
            <a:ext cx="2333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350" b="1" i="0">
                <a:solidFill>
                  <a:srgbClr val="3D8DFF"/>
                </a:solidFill>
                <a:latin typeface="Arial"/>
                <a:ea typeface="Arial"/>
                <a:cs typeface="Arial"/>
              </a:defRPr>
            </a:pPr>
            <a:r>
              <a:rPr sz="4350" b="1" i="0">
                <a:solidFill>
                  <a:srgbClr val="3D8DFF"/>
                </a:solidFill>
                <a:latin typeface="Arial"/>
                <a:ea typeface="Arial"/>
                <a:cs typeface="Arial"/>
              </a:rPr>
              <a:t>288</a:t>
            </a:r>
          </a:p>
        </p:txBody>
      </p:sp>
      <p:sp>
        <p:nvSpPr>
          <p:cNvPr id="10" name="">
            <a:extLst xmlns:a="http://schemas.openxmlformats.org/drawingml/2006/main">
              <a:ext uri="{FF2B5EF4-FFF2-40B4-BE49-F238E27FC236}">
                <a16:creationId xmlns:a16="http://schemas.microsoft.com/office/drawing/2014/main" id="{D7747465-FE6D-44C1-AF75-70E9032B63C9}"/>
              </a:ext>
            </a:extLst>
          </p:cNvPr>
          <p:cNvSpPr>
            <a:spLocks xmlns:a="http://schemas.openxmlformats.org/drawingml/2006/main" noGrp="1"/>
          </p:cNvSpPr>
          <p:nvPr/>
        </p:nvSpPr>
        <p:spPr>
          <a:xfrm xmlns:a="http://schemas.openxmlformats.org/drawingml/2006/main">
            <a:off x="647700" y="4076700"/>
            <a:ext cx="233362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1" name="text">
            <a:extLst xmlns:a="http://schemas.openxmlformats.org/drawingml/2006/main">
              <a:ext uri="{FF2B5EF4-FFF2-40B4-BE49-F238E27FC236}">
                <a16:creationId xmlns:a16="http://schemas.microsoft.com/office/drawing/2014/main" id="{DB268DD8-561C-43CC-A809-78301ED212B1}"/>
              </a:ext>
            </a:extLst>
          </p:cNvPr>
          <p:cNvSpPr>
            <a:spLocks xmlns:a="http://schemas.openxmlformats.org/drawingml/2006/main" noGrp="1"/>
          </p:cNvSpPr>
          <p:nvPr/>
        </p:nvSpPr>
        <p:spPr>
          <a:xfrm xmlns:a="http://schemas.openxmlformats.org/drawingml/2006/main">
            <a:off x="647700" y="42100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circuit qubits</a:t>
            </a:r>
          </a:p>
        </p:txBody>
      </p:sp>
      <p:sp>
        <p:nvSpPr>
          <p:cNvPr id="12" name="text">
            <a:extLst xmlns:a="http://schemas.openxmlformats.org/drawingml/2006/main">
              <a:ext uri="{FF2B5EF4-FFF2-40B4-BE49-F238E27FC236}">
                <a16:creationId xmlns:a16="http://schemas.microsoft.com/office/drawing/2014/main" id="{582B971C-0ACE-4DBF-BC34-45C20A95BA5F}"/>
              </a:ext>
            </a:extLst>
          </p:cNvPr>
          <p:cNvSpPr>
            <a:spLocks xmlns:a="http://schemas.openxmlformats.org/drawingml/2006/main" noGrp="1"/>
          </p:cNvSpPr>
          <p:nvPr/>
        </p:nvSpPr>
        <p:spPr>
          <a:xfrm xmlns:a="http://schemas.openxmlformats.org/drawingml/2006/main">
            <a:off x="3429000" y="3200400"/>
            <a:ext cx="2333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350" b="1" i="0">
                <a:solidFill>
                  <a:srgbClr val="0B0F14"/>
                </a:solidFill>
                <a:latin typeface="Arial"/>
                <a:ea typeface="Arial"/>
                <a:cs typeface="Arial"/>
              </a:defRPr>
            </a:pPr>
            <a:r>
              <a:rPr sz="4350" b="1" i="0">
                <a:solidFill>
                  <a:srgbClr val="0B0F14"/>
                </a:solidFill>
                <a:latin typeface="Arial"/>
                <a:ea typeface="Arial"/>
                <a:cs typeface="Arial"/>
              </a:rPr>
              <a:t>1,728</a:t>
            </a:r>
          </a:p>
        </p:txBody>
      </p:sp>
      <p:sp>
        <p:nvSpPr>
          <p:cNvPr id="13" name="">
            <a:extLst xmlns:a="http://schemas.openxmlformats.org/drawingml/2006/main">
              <a:ext uri="{FF2B5EF4-FFF2-40B4-BE49-F238E27FC236}">
                <a16:creationId xmlns:a16="http://schemas.microsoft.com/office/drawing/2014/main" id="{C52F7667-F2EE-4EF1-8F3F-D10250D1A112}"/>
              </a:ext>
            </a:extLst>
          </p:cNvPr>
          <p:cNvSpPr>
            <a:spLocks xmlns:a="http://schemas.openxmlformats.org/drawingml/2006/main" noGrp="1"/>
          </p:cNvSpPr>
          <p:nvPr/>
        </p:nvSpPr>
        <p:spPr>
          <a:xfrm xmlns:a="http://schemas.openxmlformats.org/drawingml/2006/main">
            <a:off x="3429000" y="4076700"/>
            <a:ext cx="233362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4" name="text">
            <a:extLst xmlns:a="http://schemas.openxmlformats.org/drawingml/2006/main">
              <a:ext uri="{FF2B5EF4-FFF2-40B4-BE49-F238E27FC236}">
                <a16:creationId xmlns:a16="http://schemas.microsoft.com/office/drawing/2014/main" id="{99825ABF-9011-44C7-A311-E90AAFFABAE0}"/>
              </a:ext>
            </a:extLst>
          </p:cNvPr>
          <p:cNvSpPr>
            <a:spLocks xmlns:a="http://schemas.openxmlformats.org/drawingml/2006/main" noGrp="1"/>
          </p:cNvSpPr>
          <p:nvPr/>
        </p:nvSpPr>
        <p:spPr>
          <a:xfrm xmlns:a="http://schemas.openxmlformats.org/drawingml/2006/main">
            <a:off x="3429000" y="42100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detectors</a:t>
            </a:r>
          </a:p>
        </p:txBody>
      </p:sp>
      <p:sp>
        <p:nvSpPr>
          <p:cNvPr id="15" name="text">
            <a:extLst xmlns:a="http://schemas.openxmlformats.org/drawingml/2006/main">
              <a:ext uri="{FF2B5EF4-FFF2-40B4-BE49-F238E27FC236}">
                <a16:creationId xmlns:a16="http://schemas.microsoft.com/office/drawing/2014/main" id="{7B013F80-3CA8-4915-9C4F-F0A4030B429C}"/>
              </a:ext>
            </a:extLst>
          </p:cNvPr>
          <p:cNvSpPr>
            <a:spLocks xmlns:a="http://schemas.openxmlformats.org/drawingml/2006/main" noGrp="1"/>
          </p:cNvSpPr>
          <p:nvPr/>
        </p:nvSpPr>
        <p:spPr>
          <a:xfrm xmlns:a="http://schemas.openxmlformats.org/drawingml/2006/main">
            <a:off x="6210300" y="3200400"/>
            <a:ext cx="2333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350" b="1" i="0">
                <a:solidFill>
                  <a:srgbClr val="0B0F14"/>
                </a:solidFill>
                <a:latin typeface="Arial"/>
                <a:ea typeface="Arial"/>
                <a:cs typeface="Arial"/>
              </a:defRPr>
            </a:pPr>
            <a:r>
              <a:rPr sz="4350" b="1" i="0">
                <a:solidFill>
                  <a:srgbClr val="0B0F14"/>
                </a:solidFill>
                <a:latin typeface="Arial"/>
                <a:ea typeface="Arial"/>
                <a:cs typeface="Arial"/>
              </a:rPr>
              <a:t>12</a:t>
            </a:r>
          </a:p>
        </p:txBody>
      </p:sp>
      <p:sp>
        <p:nvSpPr>
          <p:cNvPr id="16" name="">
            <a:extLst xmlns:a="http://schemas.openxmlformats.org/drawingml/2006/main">
              <a:ext uri="{FF2B5EF4-FFF2-40B4-BE49-F238E27FC236}">
                <a16:creationId xmlns:a16="http://schemas.microsoft.com/office/drawing/2014/main" id="{AD767292-6B3F-4835-B83D-0BAFAC8C72B6}"/>
              </a:ext>
            </a:extLst>
          </p:cNvPr>
          <p:cNvSpPr>
            <a:spLocks xmlns:a="http://schemas.openxmlformats.org/drawingml/2006/main" noGrp="1"/>
          </p:cNvSpPr>
          <p:nvPr/>
        </p:nvSpPr>
        <p:spPr>
          <a:xfrm xmlns:a="http://schemas.openxmlformats.org/drawingml/2006/main">
            <a:off x="6210300" y="4076700"/>
            <a:ext cx="233362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7" name="text">
            <a:extLst xmlns:a="http://schemas.openxmlformats.org/drawingml/2006/main">
              <a:ext uri="{FF2B5EF4-FFF2-40B4-BE49-F238E27FC236}">
                <a16:creationId xmlns:a16="http://schemas.microsoft.com/office/drawing/2014/main" id="{5AA894E0-5182-4AD4-B440-B3D816789BD3}"/>
              </a:ext>
            </a:extLst>
          </p:cNvPr>
          <p:cNvSpPr>
            <a:spLocks xmlns:a="http://schemas.openxmlformats.org/drawingml/2006/main" noGrp="1"/>
          </p:cNvSpPr>
          <p:nvPr/>
        </p:nvSpPr>
        <p:spPr>
          <a:xfrm xmlns:a="http://schemas.openxmlformats.org/drawingml/2006/main">
            <a:off x="6210300" y="42100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logical observables</a:t>
            </a:r>
          </a:p>
        </p:txBody>
      </p:sp>
      <p:sp>
        <p:nvSpPr>
          <p:cNvPr id="18" name="text">
            <a:extLst xmlns:a="http://schemas.openxmlformats.org/drawingml/2006/main">
              <a:ext uri="{FF2B5EF4-FFF2-40B4-BE49-F238E27FC236}">
                <a16:creationId xmlns:a16="http://schemas.microsoft.com/office/drawing/2014/main" id="{5AC9D55C-4610-4B9C-B1D2-FF6E9696AAB3}"/>
              </a:ext>
            </a:extLst>
          </p:cNvPr>
          <p:cNvSpPr>
            <a:spLocks xmlns:a="http://schemas.openxmlformats.org/drawingml/2006/main" noGrp="1"/>
          </p:cNvSpPr>
          <p:nvPr/>
        </p:nvSpPr>
        <p:spPr>
          <a:xfrm xmlns:a="http://schemas.openxmlformats.org/drawingml/2006/main">
            <a:off x="8991600" y="3200400"/>
            <a:ext cx="2333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350" b="1" i="0">
                <a:solidFill>
                  <a:srgbClr val="0B0F14"/>
                </a:solidFill>
                <a:latin typeface="Arial"/>
                <a:ea typeface="Arial"/>
                <a:cs typeface="Arial"/>
              </a:defRPr>
            </a:pPr>
            <a:r>
              <a:rPr sz="4350" b="1" i="0">
                <a:solidFill>
                  <a:srgbClr val="0B0F14"/>
                </a:solidFill>
                <a:latin typeface="Arial"/>
                <a:ea typeface="Arial"/>
                <a:cs typeface="Arial"/>
              </a:rPr>
              <a:t>703</a:t>
            </a:r>
          </a:p>
        </p:txBody>
      </p:sp>
      <p:sp>
        <p:nvSpPr>
          <p:cNvPr id="19" name="">
            <a:extLst xmlns:a="http://schemas.openxmlformats.org/drawingml/2006/main">
              <a:ext uri="{FF2B5EF4-FFF2-40B4-BE49-F238E27FC236}">
                <a16:creationId xmlns:a16="http://schemas.microsoft.com/office/drawing/2014/main" id="{8F60C67E-5F97-4B74-B125-D9722AA7DBE2}"/>
              </a:ext>
            </a:extLst>
          </p:cNvPr>
          <p:cNvSpPr>
            <a:spLocks xmlns:a="http://schemas.openxmlformats.org/drawingml/2006/main" noGrp="1"/>
          </p:cNvSpPr>
          <p:nvPr/>
        </p:nvSpPr>
        <p:spPr>
          <a:xfrm xmlns:a="http://schemas.openxmlformats.org/drawingml/2006/main">
            <a:off x="8991600" y="4076700"/>
            <a:ext cx="233362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20" name="text">
            <a:extLst xmlns:a="http://schemas.openxmlformats.org/drawingml/2006/main">
              <a:ext uri="{FF2B5EF4-FFF2-40B4-BE49-F238E27FC236}">
                <a16:creationId xmlns:a16="http://schemas.microsoft.com/office/drawing/2014/main" id="{2A20D8B4-3540-48B6-9439-04B14F80ABD4}"/>
              </a:ext>
            </a:extLst>
          </p:cNvPr>
          <p:cNvSpPr>
            <a:spLocks xmlns:a="http://schemas.openxmlformats.org/drawingml/2006/main" noGrp="1"/>
          </p:cNvSpPr>
          <p:nvPr/>
        </p:nvSpPr>
        <p:spPr>
          <a:xfrm xmlns:a="http://schemas.openxmlformats.org/drawingml/2006/main">
            <a:off x="8991600" y="42100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Stim lines</a:t>
            </a:r>
          </a:p>
        </p:txBody>
      </p:sp>
      <p:sp>
        <p:nvSpPr>
          <p:cNvPr id="21" name="text">
            <a:extLst xmlns:a="http://schemas.openxmlformats.org/drawingml/2006/main">
              <a:ext uri="{FF2B5EF4-FFF2-40B4-BE49-F238E27FC236}">
                <a16:creationId xmlns:a16="http://schemas.microsoft.com/office/drawing/2014/main" id="{5502DAF8-12FA-4A8E-88DE-54576AE274B3}"/>
              </a:ext>
            </a:extLst>
          </p:cNvPr>
          <p:cNvSpPr>
            <a:spLocks xmlns:a="http://schemas.openxmlformats.org/drawingml/2006/main" noGrp="1"/>
          </p:cNvSpPr>
          <p:nvPr/>
        </p:nvSpPr>
        <p:spPr>
          <a:xfrm xmlns:a="http://schemas.openxmlformats.org/drawingml/2006/main">
            <a:off x="666750" y="56007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Each result must refer to these exact public bytes.</a:t>
            </a:r>
          </a:p>
        </p:txBody>
      </p:sp>
      <p:sp>
        <p:nvSpPr>
          <p:cNvPr id="22" name="visible-source">
            <a:extLst xmlns:a="http://schemas.openxmlformats.org/drawingml/2006/main">
              <a:ext uri="{FF2B5EF4-FFF2-40B4-BE49-F238E27FC236}">
                <a16:creationId xmlns:a16="http://schemas.microsoft.com/office/drawing/2014/main" id="{01D591D9-F863-4097-A770-1C7FBE244F6B}"/>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pinned public circuit at commit a4afe9c09bbf…</a:t>
            </a:r>
          </a:p>
        </p:txBody>
      </p:sp>
    </p:spTree>
    <p:extLst>
      <p:ext uri="{BB962C8B-B14F-4D97-AF65-F5344CB8AC3E}">
        <p14:creationId xmlns:p14="http://schemas.microsoft.com/office/powerpoint/2010/main" val="1659146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
            <a:extLst xmlns:a="http://schemas.openxmlformats.org/drawingml/2006/main">
              <a:ext uri="{FF2B5EF4-FFF2-40B4-BE49-F238E27FC236}">
                <a16:creationId xmlns:a16="http://schemas.microsoft.com/office/drawing/2014/main" id="{0ACB99EB-20D3-4CB8-A4CD-CFE1B849D24C}"/>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PRIOR EVIDENCE</a:t>
            </a:r>
          </a:p>
        </p:txBody>
      </p:sp>
      <p:sp>
        <p:nvSpPr>
          <p:cNvPr id="2" name="slide-title">
            <a:extLst xmlns:a="http://schemas.openxmlformats.org/drawingml/2006/main">
              <a:ext uri="{FF2B5EF4-FFF2-40B4-BE49-F238E27FC236}">
                <a16:creationId xmlns:a16="http://schemas.microsoft.com/office/drawing/2014/main" id="{2F0D1E7D-7AEB-4905-AD08-4C68AEC3B35F}"/>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Public work gives the upper bound 10</a:t>
            </a:r>
          </a:p>
        </p:txBody>
      </p:sp>
      <p:sp>
        <p:nvSpPr>
          <p:cNvPr id="3" name="">
            <a:extLst xmlns:a="http://schemas.openxmlformats.org/drawingml/2006/main">
              <a:ext uri="{FF2B5EF4-FFF2-40B4-BE49-F238E27FC236}">
                <a16:creationId xmlns:a16="http://schemas.microsoft.com/office/drawing/2014/main" id="{136ACA0E-1647-4950-B030-9EBD93ADC309}"/>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CBC8DE67-2442-42FF-9337-05E01D1F5786}"/>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15CB605-AFDB-4970-A23B-BFE0267B4DAB}"/>
              </a:ext>
            </a:extLst>
          </p:cNvPr>
          <p:cNvSpPr>
            <a:spLocks xmlns:a="http://schemas.openxmlformats.org/drawingml/2006/main" noGrp="1"/>
          </p:cNvSpPr>
          <p:nvPr/>
        </p:nvSpPr>
        <p:spPr>
          <a:xfrm xmlns:a="http://schemas.openxmlformats.org/drawingml/2006/main">
            <a:off x="952500" y="3333750"/>
            <a:ext cx="10287000" cy="19050"/>
          </a:xfrm>
          <a:prstGeom xmlns:a="http://schemas.openxmlformats.org/drawingml/2006/main" prst="rect">
            <a:avLst/>
          </a:prstGeom>
          <a:solidFill xmlns:a="http://schemas.openxmlformats.org/drawingml/2006/main">
            <a:srgbClr val="0B0F14"/>
          </a:solidFill>
          <a:ln xmlns:a="http://schemas.openxmlformats.org/drawingml/2006/main" w="0">
            <a:no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4C226CC-7DD4-4FC4-BD9D-96EC2AF25889}"/>
              </a:ext>
            </a:extLst>
          </p:cNvPr>
          <p:cNvSpPr>
            <a:spLocks xmlns:a="http://schemas.openxmlformats.org/drawingml/2006/main" noGrp="1"/>
          </p:cNvSpPr>
          <p:nvPr/>
        </p:nvSpPr>
        <p:spPr>
          <a:xfrm xmlns:a="http://schemas.openxmlformats.org/drawingml/2006/main">
            <a:off x="952500" y="3333750"/>
            <a:ext cx="10287000" cy="19050"/>
          </a:xfrm>
          <a:prstGeom xmlns:a="http://schemas.openxmlformats.org/drawingml/2006/main" prst="rect">
            <a:avLst/>
          </a:prstGeom>
          <a:solidFill xmlns:a="http://schemas.openxmlformats.org/drawingml/2006/main">
            <a:srgbClr val="0B0F14"/>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007B69A-ED4B-469F-B911-472A1A4146DC}"/>
              </a:ext>
            </a:extLst>
          </p:cNvPr>
          <p:cNvSpPr>
            <a:spLocks xmlns:a="http://schemas.openxmlformats.org/drawingml/2006/main" noGrp="1"/>
          </p:cNvSpPr>
          <p:nvPr/>
        </p:nvSpPr>
        <p:spPr>
          <a:xfrm xmlns:a="http://schemas.openxmlformats.org/drawingml/2006/main">
            <a:off x="1085850" y="3276600"/>
            <a:ext cx="133350" cy="1333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8" name="text">
            <a:extLst xmlns:a="http://schemas.openxmlformats.org/drawingml/2006/main">
              <a:ext uri="{FF2B5EF4-FFF2-40B4-BE49-F238E27FC236}">
                <a16:creationId xmlns:a16="http://schemas.microsoft.com/office/drawing/2014/main" id="{58137A47-8B95-4D2C-B67A-F6CC12A1907D}"/>
              </a:ext>
            </a:extLst>
          </p:cNvPr>
          <p:cNvSpPr>
            <a:spLocks xmlns:a="http://schemas.openxmlformats.org/drawingml/2006/main" noGrp="1"/>
          </p:cNvSpPr>
          <p:nvPr/>
        </p:nvSpPr>
        <p:spPr>
          <a:xfrm xmlns:a="http://schemas.openxmlformats.org/drawingml/2006/main">
            <a:off x="1047750" y="2571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0B0F14"/>
                </a:solidFill>
                <a:latin typeface="Arial"/>
                <a:ea typeface="Arial"/>
                <a:cs typeface="Arial"/>
              </a:defRPr>
            </a:pPr>
            <a:r>
              <a:rPr sz="1350" b="1" i="0">
                <a:solidFill>
                  <a:srgbClr val="0B0F14"/>
                </a:solidFill>
                <a:latin typeface="Arial"/>
                <a:ea typeface="Arial"/>
                <a:cs typeface="Arial"/>
              </a:rPr>
              <a:t>2024</a:t>
            </a:r>
          </a:p>
        </p:txBody>
      </p:sp>
      <p:sp>
        <p:nvSpPr>
          <p:cNvPr id="9" name="text">
            <a:extLst xmlns:a="http://schemas.openxmlformats.org/drawingml/2006/main">
              <a:ext uri="{FF2B5EF4-FFF2-40B4-BE49-F238E27FC236}">
                <a16:creationId xmlns:a16="http://schemas.microsoft.com/office/drawing/2014/main" id="{DCDA5843-CF7B-4EEE-A753-416C889CD432}"/>
              </a:ext>
            </a:extLst>
          </p:cNvPr>
          <p:cNvSpPr>
            <a:spLocks xmlns:a="http://schemas.openxmlformats.org/drawingml/2006/main" noGrp="1"/>
          </p:cNvSpPr>
          <p:nvPr/>
        </p:nvSpPr>
        <p:spPr>
          <a:xfrm xmlns:a="http://schemas.openxmlformats.org/drawingml/2006/main">
            <a:off x="1047750" y="36957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Gross code</a:t>
            </a:r>
          </a:p>
        </p:txBody>
      </p:sp>
      <p:sp>
        <p:nvSpPr>
          <p:cNvPr id="10" name="text">
            <a:extLst xmlns:a="http://schemas.openxmlformats.org/drawingml/2006/main">
              <a:ext uri="{FF2B5EF4-FFF2-40B4-BE49-F238E27FC236}">
                <a16:creationId xmlns:a16="http://schemas.microsoft.com/office/drawing/2014/main" id="{D19957CD-0F99-41C5-B8E0-1BCAA6FA73BF}"/>
              </a:ext>
            </a:extLst>
          </p:cNvPr>
          <p:cNvSpPr>
            <a:spLocks xmlns:a="http://schemas.openxmlformats.org/drawingml/2006/main" noGrp="1"/>
          </p:cNvSpPr>
          <p:nvPr/>
        </p:nvSpPr>
        <p:spPr>
          <a:xfrm xmlns:a="http://schemas.openxmlformats.org/drawingml/2006/main">
            <a:off x="1047750" y="4171950"/>
            <a:ext cx="2143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The [[144,12,12]] BB code gives a memory with a low qubit cost.</a:t>
            </a:r>
          </a:p>
        </p:txBody>
      </p:sp>
      <p:sp>
        <p:nvSpPr>
          <p:cNvPr id="11" name="">
            <a:extLst xmlns:a="http://schemas.openxmlformats.org/drawingml/2006/main">
              <a:ext uri="{FF2B5EF4-FFF2-40B4-BE49-F238E27FC236}">
                <a16:creationId xmlns:a16="http://schemas.microsoft.com/office/drawing/2014/main" id="{C1E0B57E-27C0-4075-942D-9FE14ADF2429}"/>
              </a:ext>
            </a:extLst>
          </p:cNvPr>
          <p:cNvSpPr>
            <a:spLocks xmlns:a="http://schemas.openxmlformats.org/drawingml/2006/main" noGrp="1"/>
          </p:cNvSpPr>
          <p:nvPr/>
        </p:nvSpPr>
        <p:spPr>
          <a:xfrm xmlns:a="http://schemas.openxmlformats.org/drawingml/2006/main">
            <a:off x="3990975" y="3276600"/>
            <a:ext cx="133350" cy="1333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12" name="text">
            <a:extLst xmlns:a="http://schemas.openxmlformats.org/drawingml/2006/main">
              <a:ext uri="{FF2B5EF4-FFF2-40B4-BE49-F238E27FC236}">
                <a16:creationId xmlns:a16="http://schemas.microsoft.com/office/drawing/2014/main" id="{E3FE44B3-D806-44E9-8446-1F2E6F489DDB}"/>
              </a:ext>
            </a:extLst>
          </p:cNvPr>
          <p:cNvSpPr>
            <a:spLocks xmlns:a="http://schemas.openxmlformats.org/drawingml/2006/main" noGrp="1"/>
          </p:cNvSpPr>
          <p:nvPr/>
        </p:nvSpPr>
        <p:spPr>
          <a:xfrm xmlns:a="http://schemas.openxmlformats.org/drawingml/2006/main">
            <a:off x="3952875" y="2571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0B0F14"/>
                </a:solidFill>
                <a:latin typeface="Arial"/>
                <a:ea typeface="Arial"/>
                <a:cs typeface="Arial"/>
              </a:defRPr>
            </a:pPr>
            <a:r>
              <a:rPr sz="1350" b="1" i="0">
                <a:solidFill>
                  <a:srgbClr val="0B0F14"/>
                </a:solidFill>
                <a:latin typeface="Arial"/>
                <a:ea typeface="Arial"/>
                <a:cs typeface="Arial"/>
              </a:rPr>
              <a:t>2025</a:t>
            </a:r>
          </a:p>
        </p:txBody>
      </p:sp>
      <p:sp>
        <p:nvSpPr>
          <p:cNvPr id="13" name="text">
            <a:extLst xmlns:a="http://schemas.openxmlformats.org/drawingml/2006/main">
              <a:ext uri="{FF2B5EF4-FFF2-40B4-BE49-F238E27FC236}">
                <a16:creationId xmlns:a16="http://schemas.microsoft.com/office/drawing/2014/main" id="{A31015C0-F99E-48BD-BD22-A53A71B1549D}"/>
              </a:ext>
            </a:extLst>
          </p:cNvPr>
          <p:cNvSpPr>
            <a:spLocks xmlns:a="http://schemas.openxmlformats.org/drawingml/2006/main" noGrp="1"/>
          </p:cNvSpPr>
          <p:nvPr/>
        </p:nvSpPr>
        <p:spPr>
          <a:xfrm xmlns:a="http://schemas.openxmlformats.org/drawingml/2006/main">
            <a:off x="3952875" y="36957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Upper bound 10</a:t>
            </a:r>
          </a:p>
        </p:txBody>
      </p:sp>
      <p:sp>
        <p:nvSpPr>
          <p:cNvPr id="14" name="text">
            <a:extLst xmlns:a="http://schemas.openxmlformats.org/drawingml/2006/main">
              <a:ext uri="{FF2B5EF4-FFF2-40B4-BE49-F238E27FC236}">
                <a16:creationId xmlns:a16="http://schemas.microsoft.com/office/drawing/2014/main" id="{D934A365-004C-4E59-B5A1-A53D95AAE1BD}"/>
              </a:ext>
            </a:extLst>
          </p:cNvPr>
          <p:cNvSpPr>
            <a:spLocks xmlns:a="http://schemas.openxmlformats.org/drawingml/2006/main" noGrp="1"/>
          </p:cNvSpPr>
          <p:nvPr/>
        </p:nvSpPr>
        <p:spPr>
          <a:xfrm xmlns:a="http://schemas.openxmlformats.org/drawingml/2006/main">
            <a:off x="3952875" y="4171950"/>
            <a:ext cx="2143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Tesseract reports a q288 circuit distance of 10 or less.</a:t>
            </a:r>
          </a:p>
        </p:txBody>
      </p:sp>
      <p:sp>
        <p:nvSpPr>
          <p:cNvPr id="15" name="">
            <a:extLst xmlns:a="http://schemas.openxmlformats.org/drawingml/2006/main">
              <a:ext uri="{FF2B5EF4-FFF2-40B4-BE49-F238E27FC236}">
                <a16:creationId xmlns:a16="http://schemas.microsoft.com/office/drawing/2014/main" id="{12D01E8C-D768-4172-9EF8-C19BC6712194}"/>
              </a:ext>
            </a:extLst>
          </p:cNvPr>
          <p:cNvSpPr>
            <a:spLocks xmlns:a="http://schemas.openxmlformats.org/drawingml/2006/main" noGrp="1"/>
          </p:cNvSpPr>
          <p:nvPr/>
        </p:nvSpPr>
        <p:spPr>
          <a:xfrm xmlns:a="http://schemas.openxmlformats.org/drawingml/2006/main">
            <a:off x="6896100" y="3276600"/>
            <a:ext cx="133350" cy="1333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16" name="text">
            <a:extLst xmlns:a="http://schemas.openxmlformats.org/drawingml/2006/main">
              <a:ext uri="{FF2B5EF4-FFF2-40B4-BE49-F238E27FC236}">
                <a16:creationId xmlns:a16="http://schemas.microsoft.com/office/drawing/2014/main" id="{FB32F504-313A-4DC6-A300-0479EEC86813}"/>
              </a:ext>
            </a:extLst>
          </p:cNvPr>
          <p:cNvSpPr>
            <a:spLocks xmlns:a="http://schemas.openxmlformats.org/drawingml/2006/main" noGrp="1"/>
          </p:cNvSpPr>
          <p:nvPr/>
        </p:nvSpPr>
        <p:spPr>
          <a:xfrm xmlns:a="http://schemas.openxmlformats.org/drawingml/2006/main">
            <a:off x="6858000" y="2571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0B0F14"/>
                </a:solidFill>
                <a:latin typeface="Arial"/>
                <a:ea typeface="Arial"/>
                <a:cs typeface="Arial"/>
              </a:defRPr>
            </a:pPr>
            <a:r>
              <a:rPr sz="1350" b="1" i="0">
                <a:solidFill>
                  <a:srgbClr val="0B0F14"/>
                </a:solidFill>
                <a:latin typeface="Arial"/>
                <a:ea typeface="Arial"/>
                <a:cs typeface="Arial"/>
              </a:rPr>
              <a:t>2026</a:t>
            </a:r>
          </a:p>
        </p:txBody>
      </p:sp>
      <p:sp>
        <p:nvSpPr>
          <p:cNvPr id="17" name="text">
            <a:extLst xmlns:a="http://schemas.openxmlformats.org/drawingml/2006/main">
              <a:ext uri="{FF2B5EF4-FFF2-40B4-BE49-F238E27FC236}">
                <a16:creationId xmlns:a16="http://schemas.microsoft.com/office/drawing/2014/main" id="{7F8D7C2E-5F9F-46CC-BE8F-32DB9EF4FA7A}"/>
              </a:ext>
            </a:extLst>
          </p:cNvPr>
          <p:cNvSpPr>
            <a:spLocks xmlns:a="http://schemas.openxmlformats.org/drawingml/2006/main" noGrp="1"/>
          </p:cNvSpPr>
          <p:nvPr/>
        </p:nvSpPr>
        <p:spPr>
          <a:xfrm xmlns:a="http://schemas.openxmlformats.org/drawingml/2006/main">
            <a:off x="6858000" y="36957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35"/>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Exact gap remains</a:t>
            </a:r>
          </a:p>
        </p:txBody>
      </p:sp>
      <p:sp>
        <p:nvSpPr>
          <p:cNvPr id="18" name="text">
            <a:extLst xmlns:a="http://schemas.openxmlformats.org/drawingml/2006/main">
              <a:ext uri="{FF2B5EF4-FFF2-40B4-BE49-F238E27FC236}">
                <a16:creationId xmlns:a16="http://schemas.microsoft.com/office/drawing/2014/main" id="{4D06C48B-2603-4B8B-B6AC-F91E0F1B3E74}"/>
              </a:ext>
            </a:extLst>
          </p:cNvPr>
          <p:cNvSpPr>
            <a:spLocks xmlns:a="http://schemas.openxmlformats.org/drawingml/2006/main" noGrp="1"/>
          </p:cNvSpPr>
          <p:nvPr/>
        </p:nvSpPr>
        <p:spPr>
          <a:xfrm xmlns:a="http://schemas.openxmlformats.org/drawingml/2006/main">
            <a:off x="6858000" y="4171950"/>
            <a:ext cx="2143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Public exact methods do not close the larger BB rows.</a:t>
            </a:r>
          </a:p>
        </p:txBody>
      </p:sp>
      <p:sp>
        <p:nvSpPr>
          <p:cNvPr id="19" name="">
            <a:extLst xmlns:a="http://schemas.openxmlformats.org/drawingml/2006/main">
              <a:ext uri="{FF2B5EF4-FFF2-40B4-BE49-F238E27FC236}">
                <a16:creationId xmlns:a16="http://schemas.microsoft.com/office/drawing/2014/main" id="{4F7173D6-E579-45DE-8F67-82B11175B396}"/>
              </a:ext>
            </a:extLst>
          </p:cNvPr>
          <p:cNvSpPr>
            <a:spLocks xmlns:a="http://schemas.openxmlformats.org/drawingml/2006/main" noGrp="1"/>
          </p:cNvSpPr>
          <p:nvPr/>
        </p:nvSpPr>
        <p:spPr>
          <a:xfrm xmlns:a="http://schemas.openxmlformats.org/drawingml/2006/main">
            <a:off x="9801225" y="3276600"/>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20" name="text">
            <a:extLst xmlns:a="http://schemas.openxmlformats.org/drawingml/2006/main">
              <a:ext uri="{FF2B5EF4-FFF2-40B4-BE49-F238E27FC236}">
                <a16:creationId xmlns:a16="http://schemas.microsoft.com/office/drawing/2014/main" id="{511BB0D0-8A19-4E3F-82F5-C12EF9BCE4AB}"/>
              </a:ext>
            </a:extLst>
          </p:cNvPr>
          <p:cNvSpPr>
            <a:spLocks xmlns:a="http://schemas.openxmlformats.org/drawingml/2006/main" noGrp="1"/>
          </p:cNvSpPr>
          <p:nvPr/>
        </p:nvSpPr>
        <p:spPr>
          <a:xfrm xmlns:a="http://schemas.openxmlformats.org/drawingml/2006/main">
            <a:off x="9763125" y="2571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3D8DFF"/>
                </a:solidFill>
                <a:latin typeface="Arial"/>
                <a:ea typeface="Arial"/>
                <a:cs typeface="Arial"/>
              </a:defRPr>
            </a:pPr>
            <a:r>
              <a:rPr sz="1350" b="1" i="0">
                <a:solidFill>
                  <a:srgbClr val="3D8DFF"/>
                </a:solidFill>
                <a:latin typeface="Arial"/>
                <a:ea typeface="Arial"/>
                <a:cs typeface="Arial"/>
              </a:rPr>
              <a:t>QECProof</a:t>
            </a:r>
          </a:p>
        </p:txBody>
      </p:sp>
      <p:sp>
        <p:nvSpPr>
          <p:cNvPr id="21" name="text">
            <a:extLst xmlns:a="http://schemas.openxmlformats.org/drawingml/2006/main">
              <a:ext uri="{FF2B5EF4-FFF2-40B4-BE49-F238E27FC236}">
                <a16:creationId xmlns:a16="http://schemas.microsoft.com/office/drawing/2014/main" id="{43036BDA-F125-4156-915B-B7972FA323BA}"/>
              </a:ext>
            </a:extLst>
          </p:cNvPr>
          <p:cNvSpPr>
            <a:spLocks xmlns:a="http://schemas.openxmlformats.org/drawingml/2006/main" noGrp="1"/>
          </p:cNvSpPr>
          <p:nvPr/>
        </p:nvSpPr>
        <p:spPr>
          <a:xfrm xmlns:a="http://schemas.openxmlformats.org/drawingml/2006/main">
            <a:off x="9763125" y="36957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Reported closure</a:t>
            </a:r>
          </a:p>
        </p:txBody>
      </p:sp>
      <p:sp>
        <p:nvSpPr>
          <p:cNvPr id="22" name="text">
            <a:extLst xmlns:a="http://schemas.openxmlformats.org/drawingml/2006/main">
              <a:ext uri="{FF2B5EF4-FFF2-40B4-BE49-F238E27FC236}">
                <a16:creationId xmlns:a16="http://schemas.microsoft.com/office/drawing/2014/main" id="{5A5B3923-FB5B-475F-B3E9-D6CA326274F9}"/>
              </a:ext>
            </a:extLst>
          </p:cNvPr>
          <p:cNvSpPr>
            <a:spLocks xmlns:a="http://schemas.openxmlformats.org/drawingml/2006/main" noGrp="1"/>
          </p:cNvSpPr>
          <p:nvPr/>
        </p:nvSpPr>
        <p:spPr>
          <a:xfrm xmlns:a="http://schemas.openxmlformats.org/drawingml/2006/main">
            <a:off x="9763125" y="4171950"/>
            <a:ext cx="2143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The private bundle reports that no fault of weight 1 to 9 exists.</a:t>
            </a:r>
          </a:p>
        </p:txBody>
      </p:sp>
      <p:sp>
        <p:nvSpPr>
          <p:cNvPr id="23" name="">
            <a:extLst xmlns:a="http://schemas.openxmlformats.org/drawingml/2006/main">
              <a:ext uri="{FF2B5EF4-FFF2-40B4-BE49-F238E27FC236}">
                <a16:creationId xmlns:a16="http://schemas.microsoft.com/office/drawing/2014/main" id="{9BEBBF5D-0AB4-4F49-9352-2183C8A34827}"/>
              </a:ext>
            </a:extLst>
          </p:cNvPr>
          <p:cNvSpPr>
            <a:spLocks xmlns:a="http://schemas.openxmlformats.org/drawingml/2006/main" noGrp="1"/>
          </p:cNvSpPr>
          <p:nvPr/>
        </p:nvSpPr>
        <p:spPr>
          <a:xfrm xmlns:a="http://schemas.openxmlformats.org/drawingml/2006/main">
            <a:off x="9315450" y="1924050"/>
            <a:ext cx="2000250" cy="53340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24" name="text">
            <a:extLst xmlns:a="http://schemas.openxmlformats.org/drawingml/2006/main">
              <a:ext uri="{FF2B5EF4-FFF2-40B4-BE49-F238E27FC236}">
                <a16:creationId xmlns:a16="http://schemas.microsoft.com/office/drawing/2014/main" id="{FBBC9359-B1D1-419A-B833-0187290CBFFE}"/>
              </a:ext>
            </a:extLst>
          </p:cNvPr>
          <p:cNvSpPr>
            <a:spLocks xmlns:a="http://schemas.openxmlformats.org/drawingml/2006/main" noGrp="1"/>
          </p:cNvSpPr>
          <p:nvPr/>
        </p:nvSpPr>
        <p:spPr>
          <a:xfrm xmlns:a="http://schemas.openxmlformats.org/drawingml/2006/main">
            <a:off x="9429750" y="209550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ctr">
              <a:defRPr sz="975" b="1" i="0">
                <a:solidFill>
                  <a:srgbClr val="3D8DFF"/>
                </a:solidFill>
                <a:latin typeface="Arial"/>
                <a:ea typeface="Arial"/>
                <a:cs typeface="Arial"/>
              </a:defRPr>
            </a:pPr>
            <a:r>
              <a:rPr sz="975" b="1" i="0">
                <a:solidFill>
                  <a:srgbClr val="3D8DFF"/>
                </a:solidFill>
                <a:latin typeface="Arial"/>
                <a:ea typeface="Arial"/>
                <a:cs typeface="Arial"/>
              </a:rPr>
              <a:t>NEW PART = LOWER BOUND</a:t>
            </a:r>
          </a:p>
        </p:txBody>
      </p:sp>
      <p:sp>
        <p:nvSpPr>
          <p:cNvPr id="25" name="visible-source">
            <a:extLst xmlns:a="http://schemas.openxmlformats.org/drawingml/2006/main">
              <a:ext uri="{FF2B5EF4-FFF2-40B4-BE49-F238E27FC236}">
                <a16:creationId xmlns:a16="http://schemas.microsoft.com/office/drawing/2014/main" id="{03BDEBD0-FE54-48FB-B489-8110583CC439}"/>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Sources: Bravyi et al. (2024); Gidney et al. (2025); Webster et al. (2026)</a:t>
            </a:r>
          </a:p>
        </p:txBody>
      </p:sp>
    </p:spTree>
    <p:extLst>
      <p:ext uri="{BB962C8B-B14F-4D97-AF65-F5344CB8AC3E}">
        <p14:creationId xmlns:p14="http://schemas.microsoft.com/office/powerpoint/2010/main" val="14947533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CFC90BF5-BE50-4A2D-B387-672B8D8E295A}"/>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EXACT OBJECTIVE</a:t>
            </a:r>
          </a:p>
        </p:txBody>
      </p:sp>
      <p:sp>
        <p:nvSpPr>
          <p:cNvPr id="2" name="slide-title">
            <a:extLst xmlns:a="http://schemas.openxmlformats.org/drawingml/2006/main">
              <a:ext uri="{FF2B5EF4-FFF2-40B4-BE49-F238E27FC236}">
                <a16:creationId xmlns:a16="http://schemas.microsoft.com/office/drawing/2014/main" id="{4CAA657F-87B3-4CE3-A6EC-89B84439A9E3}"/>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The search finds the minimum weight over GF(2)</a:t>
            </a:r>
          </a:p>
        </p:txBody>
      </p:sp>
      <p:sp>
        <p:nvSpPr>
          <p:cNvPr id="3" name="">
            <a:extLst xmlns:a="http://schemas.openxmlformats.org/drawingml/2006/main">
              <a:ext uri="{FF2B5EF4-FFF2-40B4-BE49-F238E27FC236}">
                <a16:creationId xmlns:a16="http://schemas.microsoft.com/office/drawing/2014/main" id="{404BB836-DC25-4FF1-A8C0-6C03BDEADB37}"/>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43742491-DDB1-4149-827C-B3542DBA6F8F}"/>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7FF6561-0AB3-44F0-84CA-C2DB2055FE91}"/>
              </a:ext>
            </a:extLst>
          </p:cNvPr>
          <p:cNvSpPr>
            <a:spLocks xmlns:a="http://schemas.openxmlformats.org/drawingml/2006/main" noGrp="1"/>
          </p:cNvSpPr>
          <p:nvPr/>
        </p:nvSpPr>
        <p:spPr>
          <a:xfrm xmlns:a="http://schemas.openxmlformats.org/drawingml/2006/main">
            <a:off x="666750" y="1657350"/>
            <a:ext cx="7429500" cy="17145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6" name="text">
            <a:extLst xmlns:a="http://schemas.openxmlformats.org/drawingml/2006/main">
              <a:ext uri="{FF2B5EF4-FFF2-40B4-BE49-F238E27FC236}">
                <a16:creationId xmlns:a16="http://schemas.microsoft.com/office/drawing/2014/main" id="{35773444-D53A-4C13-B1C3-63A4056B5085}"/>
              </a:ext>
            </a:extLst>
          </p:cNvPr>
          <p:cNvSpPr>
            <a:spLocks xmlns:a="http://schemas.openxmlformats.org/drawingml/2006/main" noGrp="1"/>
          </p:cNvSpPr>
          <p:nvPr/>
        </p:nvSpPr>
        <p:spPr>
          <a:xfrm xmlns:a="http://schemas.openxmlformats.org/drawingml/2006/main">
            <a:off x="1047750" y="1962150"/>
            <a:ext cx="657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3150" b="1" i="0">
                <a:solidFill>
                  <a:srgbClr val="0B0F14"/>
                </a:solidFill>
                <a:latin typeface="Arial"/>
                <a:ea typeface="Arial"/>
                <a:cs typeface="Arial"/>
              </a:defRPr>
            </a:pPr>
            <a:r>
              <a:rPr sz="3150" b="1" i="0">
                <a:solidFill>
                  <a:srgbClr val="0B0F14"/>
                </a:solidFill>
                <a:latin typeface="Arial"/>
                <a:ea typeface="Arial"/>
                <a:cs typeface="Arial"/>
              </a:rPr>
              <a:t>dDEM,Z  =  min  ||x||₀</a:t>
            </a:r>
          </a:p>
        </p:txBody>
      </p:sp>
      <p:sp>
        <p:nvSpPr>
          <p:cNvPr id="7" name="text">
            <a:extLst xmlns:a="http://schemas.openxmlformats.org/drawingml/2006/main">
              <a:ext uri="{FF2B5EF4-FFF2-40B4-BE49-F238E27FC236}">
                <a16:creationId xmlns:a16="http://schemas.microsoft.com/office/drawing/2014/main" id="{0792346F-F415-4676-894C-BA9F6A48F1CC}"/>
              </a:ext>
            </a:extLst>
          </p:cNvPr>
          <p:cNvSpPr>
            <a:spLocks xmlns:a="http://schemas.openxmlformats.org/drawingml/2006/main" noGrp="1"/>
          </p:cNvSpPr>
          <p:nvPr/>
        </p:nvSpPr>
        <p:spPr>
          <a:xfrm xmlns:a="http://schemas.openxmlformats.org/drawingml/2006/main">
            <a:off x="1047750" y="2647950"/>
            <a:ext cx="657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851"/>
          </a:bodyPr>
          <a:lstStyle xmlns:a="http://schemas.openxmlformats.org/drawingml/2006/main"/>
          <a:p xmlns:a="http://schemas.openxmlformats.org/drawingml/2006/main">
            <a:pPr algn="ctr">
              <a:defRPr sz="2175" b="1" i="0">
                <a:solidFill>
                  <a:srgbClr val="3D8DFF"/>
                </a:solidFill>
                <a:latin typeface="Arial"/>
                <a:ea typeface="Arial"/>
                <a:cs typeface="Arial"/>
              </a:defRPr>
            </a:pPr>
            <a:r>
              <a:rPr sz="2175" b="1" i="0">
                <a:solidFill>
                  <a:srgbClr val="3D8DFF"/>
                </a:solidFill>
                <a:latin typeface="Arial"/>
                <a:ea typeface="Arial"/>
                <a:cs typeface="Arial"/>
              </a:rPr>
              <a:t>subject to   Hx = 0   and   Lx ≠ 0</a:t>
            </a:r>
          </a:p>
        </p:txBody>
      </p:sp>
      <p:sp>
        <p:nvSpPr>
          <p:cNvPr id="8" name="">
            <a:extLst xmlns:a="http://schemas.openxmlformats.org/drawingml/2006/main">
              <a:ext uri="{FF2B5EF4-FFF2-40B4-BE49-F238E27FC236}">
                <a16:creationId xmlns:a16="http://schemas.microsoft.com/office/drawing/2014/main" id="{0BF2705A-69DE-4C88-8148-777ED650D174}"/>
              </a:ext>
            </a:extLst>
          </p:cNvPr>
          <p:cNvSpPr>
            <a:spLocks xmlns:a="http://schemas.openxmlformats.org/drawingml/2006/main" noGrp="1"/>
          </p:cNvSpPr>
          <p:nvPr/>
        </p:nvSpPr>
        <p:spPr>
          <a:xfrm xmlns:a="http://schemas.openxmlformats.org/drawingml/2006/main">
            <a:off x="8667750" y="1657350"/>
            <a:ext cx="2762250" cy="171450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9" name="text">
            <a:extLst xmlns:a="http://schemas.openxmlformats.org/drawingml/2006/main">
              <a:ext uri="{FF2B5EF4-FFF2-40B4-BE49-F238E27FC236}">
                <a16:creationId xmlns:a16="http://schemas.microsoft.com/office/drawing/2014/main" id="{E6EE4E01-3CEE-4804-A334-4C5A6D05FDAF}"/>
              </a:ext>
            </a:extLst>
          </p:cNvPr>
          <p:cNvSpPr>
            <a:spLocks xmlns:a="http://schemas.openxmlformats.org/drawingml/2006/main" noGrp="1"/>
          </p:cNvSpPr>
          <p:nvPr/>
        </p:nvSpPr>
        <p:spPr>
          <a:xfrm xmlns:a="http://schemas.openxmlformats.org/drawingml/2006/main">
            <a:off x="8953500" y="19240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96"/>
          </a:bodyPr>
          <a:lstStyle xmlns:a="http://schemas.openxmlformats.org/drawingml/2006/main"/>
          <a:p xmlns:a="http://schemas.openxmlformats.org/drawingml/2006/main">
            <a:pPr algn="l">
              <a:defRPr sz="2850" b="1" i="0">
                <a:solidFill>
                  <a:srgbClr val="3D8DFF"/>
                </a:solidFill>
                <a:latin typeface="Arial"/>
                <a:ea typeface="Arial"/>
                <a:cs typeface="Arial"/>
              </a:defRPr>
            </a:pPr>
            <a:r>
              <a:rPr sz="2850" b="1" i="0">
                <a:solidFill>
                  <a:srgbClr val="3D8DFF"/>
                </a:solidFill>
                <a:latin typeface="Arial"/>
                <a:ea typeface="Arial"/>
                <a:cs typeface="Arial"/>
              </a:rPr>
              <a:t>H</a:t>
            </a:r>
          </a:p>
        </p:txBody>
      </p:sp>
      <p:sp>
        <p:nvSpPr>
          <p:cNvPr id="10" name="text">
            <a:extLst xmlns:a="http://schemas.openxmlformats.org/drawingml/2006/main">
              <a:ext uri="{FF2B5EF4-FFF2-40B4-BE49-F238E27FC236}">
                <a16:creationId xmlns:a16="http://schemas.microsoft.com/office/drawing/2014/main" id="{71A163EC-5528-41D8-BC2D-5C2D63CAD4F5}"/>
              </a:ext>
            </a:extLst>
          </p:cNvPr>
          <p:cNvSpPr>
            <a:spLocks xmlns:a="http://schemas.openxmlformats.org/drawingml/2006/main" noGrp="1"/>
          </p:cNvSpPr>
          <p:nvPr/>
        </p:nvSpPr>
        <p:spPr>
          <a:xfrm xmlns:a="http://schemas.openxmlformats.org/drawingml/2006/main">
            <a:off x="9620250" y="19812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936 × 8,784</a:t>
            </a:r>
          </a:p>
        </p:txBody>
      </p:sp>
      <p:sp>
        <p:nvSpPr>
          <p:cNvPr id="11" name="text">
            <a:extLst xmlns:a="http://schemas.openxmlformats.org/drawingml/2006/main">
              <a:ext uri="{FF2B5EF4-FFF2-40B4-BE49-F238E27FC236}">
                <a16:creationId xmlns:a16="http://schemas.microsoft.com/office/drawing/2014/main" id="{E475E8BC-3983-4886-8081-2004FCAA260B}"/>
              </a:ext>
            </a:extLst>
          </p:cNvPr>
          <p:cNvSpPr>
            <a:spLocks xmlns:a="http://schemas.openxmlformats.org/drawingml/2006/main" noGrp="1"/>
          </p:cNvSpPr>
          <p:nvPr/>
        </p:nvSpPr>
        <p:spPr>
          <a:xfrm xmlns:a="http://schemas.openxmlformats.org/drawingml/2006/main">
            <a:off x="8953500" y="25717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96"/>
          </a:bodyPr>
          <a:lstStyle xmlns:a="http://schemas.openxmlformats.org/drawingml/2006/main"/>
          <a:p xmlns:a="http://schemas.openxmlformats.org/drawingml/2006/main">
            <a:pPr algn="l">
              <a:defRPr sz="2850" b="1" i="0">
                <a:solidFill>
                  <a:srgbClr val="3D8DFF"/>
                </a:solidFill>
                <a:latin typeface="Arial"/>
                <a:ea typeface="Arial"/>
                <a:cs typeface="Arial"/>
              </a:defRPr>
            </a:pPr>
            <a:r>
              <a:rPr sz="2850" b="1" i="0">
                <a:solidFill>
                  <a:srgbClr val="3D8DFF"/>
                </a:solidFill>
                <a:latin typeface="Arial"/>
                <a:ea typeface="Arial"/>
                <a:cs typeface="Arial"/>
              </a:rPr>
              <a:t>L</a:t>
            </a:r>
          </a:p>
        </p:txBody>
      </p:sp>
      <p:sp>
        <p:nvSpPr>
          <p:cNvPr id="12" name="text">
            <a:extLst xmlns:a="http://schemas.openxmlformats.org/drawingml/2006/main">
              <a:ext uri="{FF2B5EF4-FFF2-40B4-BE49-F238E27FC236}">
                <a16:creationId xmlns:a16="http://schemas.microsoft.com/office/drawing/2014/main" id="{6DEBCCD8-5D6F-43AB-AEEE-AE57A9E91441}"/>
              </a:ext>
            </a:extLst>
          </p:cNvPr>
          <p:cNvSpPr>
            <a:spLocks xmlns:a="http://schemas.openxmlformats.org/drawingml/2006/main" noGrp="1"/>
          </p:cNvSpPr>
          <p:nvPr/>
        </p:nvSpPr>
        <p:spPr>
          <a:xfrm xmlns:a="http://schemas.openxmlformats.org/drawingml/2006/main">
            <a:off x="9620250" y="26289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12 × 8,784</a:t>
            </a:r>
          </a:p>
        </p:txBody>
      </p:sp>
      <p:sp>
        <p:nvSpPr>
          <p:cNvPr id="13" name="text">
            <a:extLst xmlns:a="http://schemas.openxmlformats.org/drawingml/2006/main">
              <a:ext uri="{FF2B5EF4-FFF2-40B4-BE49-F238E27FC236}">
                <a16:creationId xmlns:a16="http://schemas.microsoft.com/office/drawing/2014/main" id="{5F1705A6-B184-482C-BD59-1C059102F0DD}"/>
              </a:ext>
            </a:extLst>
          </p:cNvPr>
          <p:cNvSpPr>
            <a:spLocks xmlns:a="http://schemas.openxmlformats.org/drawingml/2006/main" noGrp="1"/>
          </p:cNvSpPr>
          <p:nvPr/>
        </p:nvSpPr>
        <p:spPr>
          <a:xfrm xmlns:a="http://schemas.openxmlformats.org/drawingml/2006/main">
            <a:off x="685800" y="4000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i="0">
                <a:solidFill>
                  <a:srgbClr val="0B0F14"/>
                </a:solidFill>
                <a:latin typeface="Arial"/>
                <a:ea typeface="Arial"/>
                <a:cs typeface="Arial"/>
              </a:defRPr>
            </a:pPr>
            <a:r>
              <a:rPr sz="2325" b="1" i="0">
                <a:solidFill>
                  <a:srgbClr val="0B0F14"/>
                </a:solidFill>
                <a:latin typeface="Arial"/>
                <a:ea typeface="Arial"/>
                <a:cs typeface="Arial"/>
              </a:rPr>
              <a:t>||x||₀</a:t>
            </a:r>
          </a:p>
        </p:txBody>
      </p:sp>
      <p:sp>
        <p:nvSpPr>
          <p:cNvPr id="14" name="">
            <a:extLst xmlns:a="http://schemas.openxmlformats.org/drawingml/2006/main">
              <a:ext uri="{FF2B5EF4-FFF2-40B4-BE49-F238E27FC236}">
                <a16:creationId xmlns:a16="http://schemas.microsoft.com/office/drawing/2014/main" id="{6A87896B-4E87-46EF-8B41-1FC51FBF2089}"/>
              </a:ext>
            </a:extLst>
          </p:cNvPr>
          <p:cNvSpPr>
            <a:spLocks xmlns:a="http://schemas.openxmlformats.org/drawingml/2006/main" noGrp="1"/>
          </p:cNvSpPr>
          <p:nvPr/>
        </p:nvSpPr>
        <p:spPr>
          <a:xfrm xmlns:a="http://schemas.openxmlformats.org/drawingml/2006/main">
            <a:off x="685800" y="4572000"/>
            <a:ext cx="3048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5" name="text">
            <a:extLst xmlns:a="http://schemas.openxmlformats.org/drawingml/2006/main">
              <a:ext uri="{FF2B5EF4-FFF2-40B4-BE49-F238E27FC236}">
                <a16:creationId xmlns:a16="http://schemas.microsoft.com/office/drawing/2014/main" id="{900DC9BF-ED8B-407C-AC0C-204BEB9E1D77}"/>
              </a:ext>
            </a:extLst>
          </p:cNvPr>
          <p:cNvSpPr>
            <a:spLocks xmlns:a="http://schemas.openxmlformats.org/drawingml/2006/main" noGrp="1"/>
          </p:cNvSpPr>
          <p:nvPr/>
        </p:nvSpPr>
        <p:spPr>
          <a:xfrm xmlns:a="http://schemas.openxmlformats.org/drawingml/2006/main">
            <a:off x="685800" y="47625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D6673"/>
                </a:solidFill>
                <a:latin typeface="Arial"/>
                <a:ea typeface="Arial"/>
                <a:cs typeface="Arial"/>
              </a:defRPr>
            </a:pPr>
            <a:r>
              <a:rPr sz="1425" b="0" i="0">
                <a:solidFill>
                  <a:srgbClr val="5D6673"/>
                </a:solidFill>
                <a:latin typeface="Arial"/>
                <a:ea typeface="Arial"/>
                <a:cs typeface="Arial"/>
              </a:rPr>
              <a:t>number of DEM mechanisms in x</a:t>
            </a:r>
          </a:p>
        </p:txBody>
      </p:sp>
      <p:sp>
        <p:nvSpPr>
          <p:cNvPr id="16" name="text">
            <a:extLst xmlns:a="http://schemas.openxmlformats.org/drawingml/2006/main">
              <a:ext uri="{FF2B5EF4-FFF2-40B4-BE49-F238E27FC236}">
                <a16:creationId xmlns:a16="http://schemas.microsoft.com/office/drawing/2014/main" id="{78DDB168-1ADA-4F2D-84EA-7D62C2A15391}"/>
              </a:ext>
            </a:extLst>
          </p:cNvPr>
          <p:cNvSpPr>
            <a:spLocks xmlns:a="http://schemas.openxmlformats.org/drawingml/2006/main" noGrp="1"/>
          </p:cNvSpPr>
          <p:nvPr/>
        </p:nvSpPr>
        <p:spPr>
          <a:xfrm xmlns:a="http://schemas.openxmlformats.org/drawingml/2006/main">
            <a:off x="4324350" y="4000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i="0">
                <a:solidFill>
                  <a:srgbClr val="0B0F14"/>
                </a:solidFill>
                <a:latin typeface="Arial"/>
                <a:ea typeface="Arial"/>
                <a:cs typeface="Arial"/>
              </a:defRPr>
            </a:pPr>
            <a:r>
              <a:rPr sz="2325" b="1" i="0">
                <a:solidFill>
                  <a:srgbClr val="0B0F14"/>
                </a:solidFill>
                <a:latin typeface="Arial"/>
                <a:ea typeface="Arial"/>
                <a:cs typeface="Arial"/>
              </a:rPr>
              <a:t>Hx = 0</a:t>
            </a:r>
          </a:p>
        </p:txBody>
      </p:sp>
      <p:sp>
        <p:nvSpPr>
          <p:cNvPr id="17" name="">
            <a:extLst xmlns:a="http://schemas.openxmlformats.org/drawingml/2006/main">
              <a:ext uri="{FF2B5EF4-FFF2-40B4-BE49-F238E27FC236}">
                <a16:creationId xmlns:a16="http://schemas.microsoft.com/office/drawing/2014/main" id="{D84A307E-7CD4-437D-AC2F-696689FAA792}"/>
              </a:ext>
            </a:extLst>
          </p:cNvPr>
          <p:cNvSpPr>
            <a:spLocks xmlns:a="http://schemas.openxmlformats.org/drawingml/2006/main" noGrp="1"/>
          </p:cNvSpPr>
          <p:nvPr/>
        </p:nvSpPr>
        <p:spPr>
          <a:xfrm xmlns:a="http://schemas.openxmlformats.org/drawingml/2006/main">
            <a:off x="4324350" y="4572000"/>
            <a:ext cx="3048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8" name="text">
            <a:extLst xmlns:a="http://schemas.openxmlformats.org/drawingml/2006/main">
              <a:ext uri="{FF2B5EF4-FFF2-40B4-BE49-F238E27FC236}">
                <a16:creationId xmlns:a16="http://schemas.microsoft.com/office/drawing/2014/main" id="{47E01C60-B14B-45F6-91C3-F9DA55EBFA6B}"/>
              </a:ext>
            </a:extLst>
          </p:cNvPr>
          <p:cNvSpPr>
            <a:spLocks xmlns:a="http://schemas.openxmlformats.org/drawingml/2006/main" noGrp="1"/>
          </p:cNvSpPr>
          <p:nvPr/>
        </p:nvSpPr>
        <p:spPr>
          <a:xfrm xmlns:a="http://schemas.openxmlformats.org/drawingml/2006/main">
            <a:off x="4324350" y="47625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D6673"/>
                </a:solidFill>
                <a:latin typeface="Arial"/>
                <a:ea typeface="Arial"/>
                <a:cs typeface="Arial"/>
              </a:defRPr>
            </a:pPr>
            <a:r>
              <a:rPr sz="1425" b="0" i="0">
                <a:solidFill>
                  <a:srgbClr val="5D6673"/>
                </a:solidFill>
                <a:latin typeface="Arial"/>
                <a:ea typeface="Arial"/>
                <a:cs typeface="Arial"/>
              </a:rPr>
              <a:t>zero detector syndrome</a:t>
            </a:r>
          </a:p>
        </p:txBody>
      </p:sp>
      <p:sp>
        <p:nvSpPr>
          <p:cNvPr id="19" name="text">
            <a:extLst xmlns:a="http://schemas.openxmlformats.org/drawingml/2006/main">
              <a:ext uri="{FF2B5EF4-FFF2-40B4-BE49-F238E27FC236}">
                <a16:creationId xmlns:a16="http://schemas.microsoft.com/office/drawing/2014/main" id="{C0E5F685-0C7E-459A-A008-B37E827D0C43}"/>
              </a:ext>
            </a:extLst>
          </p:cNvPr>
          <p:cNvSpPr>
            <a:spLocks xmlns:a="http://schemas.openxmlformats.org/drawingml/2006/main" noGrp="1"/>
          </p:cNvSpPr>
          <p:nvPr/>
        </p:nvSpPr>
        <p:spPr>
          <a:xfrm xmlns:a="http://schemas.openxmlformats.org/drawingml/2006/main">
            <a:off x="7962900" y="4000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i="0">
                <a:solidFill>
                  <a:srgbClr val="3D8DFF"/>
                </a:solidFill>
                <a:latin typeface="Arial"/>
                <a:ea typeface="Arial"/>
                <a:cs typeface="Arial"/>
              </a:defRPr>
            </a:pPr>
            <a:r>
              <a:rPr sz="2325" b="1" i="0">
                <a:solidFill>
                  <a:srgbClr val="3D8DFF"/>
                </a:solidFill>
                <a:latin typeface="Arial"/>
                <a:ea typeface="Arial"/>
                <a:cs typeface="Arial"/>
              </a:rPr>
              <a:t>Lx ≠ 0</a:t>
            </a:r>
          </a:p>
        </p:txBody>
      </p:sp>
      <p:sp>
        <p:nvSpPr>
          <p:cNvPr id="20" name="">
            <a:extLst xmlns:a="http://schemas.openxmlformats.org/drawingml/2006/main">
              <a:ext uri="{FF2B5EF4-FFF2-40B4-BE49-F238E27FC236}">
                <a16:creationId xmlns:a16="http://schemas.microsoft.com/office/drawing/2014/main" id="{A087CB9C-1CB3-4839-B4DB-55C28D92AF64}"/>
              </a:ext>
            </a:extLst>
          </p:cNvPr>
          <p:cNvSpPr>
            <a:spLocks xmlns:a="http://schemas.openxmlformats.org/drawingml/2006/main" noGrp="1"/>
          </p:cNvSpPr>
          <p:nvPr/>
        </p:nvSpPr>
        <p:spPr>
          <a:xfrm xmlns:a="http://schemas.openxmlformats.org/drawingml/2006/main">
            <a:off x="7962900" y="4572000"/>
            <a:ext cx="30480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21" name="text">
            <a:extLst xmlns:a="http://schemas.openxmlformats.org/drawingml/2006/main">
              <a:ext uri="{FF2B5EF4-FFF2-40B4-BE49-F238E27FC236}">
                <a16:creationId xmlns:a16="http://schemas.microsoft.com/office/drawing/2014/main" id="{092B4E78-2A2B-425F-A795-ACACCDDC6032}"/>
              </a:ext>
            </a:extLst>
          </p:cNvPr>
          <p:cNvSpPr>
            <a:spLocks xmlns:a="http://schemas.openxmlformats.org/drawingml/2006/main" noGrp="1"/>
          </p:cNvSpPr>
          <p:nvPr/>
        </p:nvSpPr>
        <p:spPr>
          <a:xfrm xmlns:a="http://schemas.openxmlformats.org/drawingml/2006/main">
            <a:off x="7962900" y="47625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D6673"/>
                </a:solidFill>
                <a:latin typeface="Arial"/>
                <a:ea typeface="Arial"/>
                <a:cs typeface="Arial"/>
              </a:defRPr>
            </a:pPr>
            <a:r>
              <a:rPr sz="1425" b="0" i="0">
                <a:solidFill>
                  <a:srgbClr val="5D6673"/>
                </a:solidFill>
                <a:latin typeface="Arial"/>
                <a:ea typeface="Arial"/>
                <a:cs typeface="Arial"/>
              </a:rPr>
              <a:t>logical action is not zero</a:t>
            </a:r>
          </a:p>
        </p:txBody>
      </p:sp>
      <p:sp>
        <p:nvSpPr>
          <p:cNvPr id="22" name="text">
            <a:extLst xmlns:a="http://schemas.openxmlformats.org/drawingml/2006/main">
              <a:ext uri="{FF2B5EF4-FFF2-40B4-BE49-F238E27FC236}">
                <a16:creationId xmlns:a16="http://schemas.microsoft.com/office/drawing/2014/main" id="{D421F54A-04E9-44CB-84BB-49CA16FAA66D}"/>
              </a:ext>
            </a:extLst>
          </p:cNvPr>
          <p:cNvSpPr>
            <a:spLocks xmlns:a="http://schemas.openxmlformats.org/drawingml/2006/main" noGrp="1"/>
          </p:cNvSpPr>
          <p:nvPr/>
        </p:nvSpPr>
        <p:spPr>
          <a:xfrm xmlns:a="http://schemas.openxmlformats.org/drawingml/2006/main">
            <a:off x="685800" y="57721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i="0">
                <a:solidFill>
                  <a:srgbClr val="0B0F14"/>
                </a:solidFill>
                <a:latin typeface="Arial"/>
                <a:ea typeface="Arial"/>
                <a:cs typeface="Arial"/>
              </a:defRPr>
            </a:pPr>
            <a:r>
              <a:rPr sz="1650" b="1" i="0">
                <a:solidFill>
                  <a:srgbClr val="0B0F14"/>
                </a:solidFill>
                <a:latin typeface="Arial"/>
                <a:ea typeface="Arial"/>
                <a:cs typeface="Arial"/>
              </a:rPr>
              <a:t>This weight applies only to the Z-filtered DEM mechanisms.</a:t>
            </a:r>
          </a:p>
        </p:txBody>
      </p:sp>
      <p:sp>
        <p:nvSpPr>
          <p:cNvPr id="23" name="visible-source">
            <a:extLst xmlns:a="http://schemas.openxmlformats.org/drawingml/2006/main">
              <a:ext uri="{FF2B5EF4-FFF2-40B4-BE49-F238E27FC236}">
                <a16:creationId xmlns:a16="http://schemas.microsoft.com/office/drawing/2014/main" id="{6D6CDE44-D2B4-4468-8EE0-D5F16340BFDC}"/>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Stim DEM semantics; audited q288 matrix reconstruction</a:t>
            </a:r>
          </a:p>
        </p:txBody>
      </p:sp>
    </p:spTree>
    <p:extLst>
      <p:ext uri="{BB962C8B-B14F-4D97-AF65-F5344CB8AC3E}">
        <p14:creationId xmlns:p14="http://schemas.microsoft.com/office/powerpoint/2010/main" val="7864081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
            <a:extLst xmlns:a="http://schemas.openxmlformats.org/drawingml/2006/main">
              <a:ext uri="{FF2B5EF4-FFF2-40B4-BE49-F238E27FC236}">
                <a16:creationId xmlns:a16="http://schemas.microsoft.com/office/drawing/2014/main" id="{A8E68156-3960-4FE4-A251-351E91C36F7E}"/>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SEARCH ARCHITECTURE</a:t>
            </a:r>
          </a:p>
        </p:txBody>
      </p:sp>
      <p:sp>
        <p:nvSpPr>
          <p:cNvPr id="2" name="slide-title">
            <a:extLst xmlns:a="http://schemas.openxmlformats.org/drawingml/2006/main">
              <a:ext uri="{FF2B5EF4-FFF2-40B4-BE49-F238E27FC236}">
                <a16:creationId xmlns:a16="http://schemas.microsoft.com/office/drawing/2014/main" id="{D2805532-116C-4AA1-B396-EE9338BE16E2}"/>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Each speed increase must keep the exact solution set</a:t>
            </a:r>
          </a:p>
        </p:txBody>
      </p:sp>
      <p:sp>
        <p:nvSpPr>
          <p:cNvPr id="3" name="">
            <a:extLst xmlns:a="http://schemas.openxmlformats.org/drawingml/2006/main">
              <a:ext uri="{FF2B5EF4-FFF2-40B4-BE49-F238E27FC236}">
                <a16:creationId xmlns:a16="http://schemas.microsoft.com/office/drawing/2014/main" id="{93758172-70D2-4101-8686-C33D8A437153}"/>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0ED195E4-FE86-4B69-9147-F1CD1AE7AC73}"/>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1D7BBCC-1DFB-4FAE-9C8F-9A0BE5D8E441}"/>
              </a:ext>
            </a:extLst>
          </p:cNvPr>
          <p:cNvSpPr>
            <a:spLocks xmlns:a="http://schemas.openxmlformats.org/drawingml/2006/main" noGrp="1"/>
          </p:cNvSpPr>
          <p:nvPr/>
        </p:nvSpPr>
        <p:spPr>
          <a:xfrm xmlns:a="http://schemas.openxmlformats.org/drawingml/2006/main">
            <a:off x="1143000" y="3219450"/>
            <a:ext cx="9906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A735E2C-388E-4BF3-9AEA-8FCEADB41340}"/>
              </a:ext>
            </a:extLst>
          </p:cNvPr>
          <p:cNvSpPr>
            <a:spLocks xmlns:a="http://schemas.openxmlformats.org/drawingml/2006/main" noGrp="1"/>
          </p:cNvSpPr>
          <p:nvPr/>
        </p:nvSpPr>
        <p:spPr>
          <a:xfrm xmlns:a="http://schemas.openxmlformats.org/drawingml/2006/main">
            <a:off x="685800" y="2286000"/>
            <a:ext cx="666750" cy="6667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F6B59A5B-8EBC-4993-A457-1D3329B85D0F}"/>
              </a:ext>
            </a:extLst>
          </p:cNvPr>
          <p:cNvSpPr>
            <a:spLocks xmlns:a="http://schemas.openxmlformats.org/drawingml/2006/main" noGrp="1"/>
          </p:cNvSpPr>
          <p:nvPr/>
        </p:nvSpPr>
        <p:spPr>
          <a:xfrm xmlns:a="http://schemas.openxmlformats.org/drawingml/2006/main">
            <a:off x="685800" y="2486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D2B729BF-9CC9-40A7-A8A8-4162AD58CEA3}"/>
              </a:ext>
            </a:extLst>
          </p:cNvPr>
          <p:cNvSpPr>
            <a:spLocks xmlns:a="http://schemas.openxmlformats.org/drawingml/2006/main" noGrp="1"/>
          </p:cNvSpPr>
          <p:nvPr/>
        </p:nvSpPr>
        <p:spPr>
          <a:xfrm xmlns:a="http://schemas.openxmlformats.org/drawingml/2006/main">
            <a:off x="685800" y="3714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Connected supports</a:t>
            </a:r>
          </a:p>
        </p:txBody>
      </p:sp>
      <p:sp>
        <p:nvSpPr>
          <p:cNvPr id="9" name="text">
            <a:extLst xmlns:a="http://schemas.openxmlformats.org/drawingml/2006/main">
              <a:ext uri="{FF2B5EF4-FFF2-40B4-BE49-F238E27FC236}">
                <a16:creationId xmlns:a16="http://schemas.microsoft.com/office/drawing/2014/main" id="{B7BFAA17-F516-4237-B879-EC18CE028E2D}"/>
              </a:ext>
            </a:extLst>
          </p:cNvPr>
          <p:cNvSpPr>
            <a:spLocks xmlns:a="http://schemas.openxmlformats.org/drawingml/2006/main" noGrp="1"/>
          </p:cNvSpPr>
          <p:nvPr/>
        </p:nvSpPr>
        <p:spPr>
          <a:xfrm xmlns:a="http://schemas.openxmlformats.org/drawingml/2006/main">
            <a:off x="685800" y="4267200"/>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A minimum solution can keep all its detectors connected.</a:t>
            </a:r>
          </a:p>
        </p:txBody>
      </p:sp>
      <p:sp>
        <p:nvSpPr>
          <p:cNvPr id="10" name="">
            <a:extLst xmlns:a="http://schemas.openxmlformats.org/drawingml/2006/main">
              <a:ext uri="{FF2B5EF4-FFF2-40B4-BE49-F238E27FC236}">
                <a16:creationId xmlns:a16="http://schemas.microsoft.com/office/drawing/2014/main" id="{000233A6-82C8-4B68-9E53-0B13142E9012}"/>
              </a:ext>
            </a:extLst>
          </p:cNvPr>
          <p:cNvSpPr>
            <a:spLocks xmlns:a="http://schemas.openxmlformats.org/drawingml/2006/main" noGrp="1"/>
          </p:cNvSpPr>
          <p:nvPr/>
        </p:nvSpPr>
        <p:spPr>
          <a:xfrm xmlns:a="http://schemas.openxmlformats.org/drawingml/2006/main">
            <a:off x="3505200" y="2286000"/>
            <a:ext cx="666750" cy="6667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11" name="text">
            <a:extLst xmlns:a="http://schemas.openxmlformats.org/drawingml/2006/main">
              <a:ext uri="{FF2B5EF4-FFF2-40B4-BE49-F238E27FC236}">
                <a16:creationId xmlns:a16="http://schemas.microsoft.com/office/drawing/2014/main" id="{33DE8A4D-4270-49E8-850B-9007E6ED87D7}"/>
              </a:ext>
            </a:extLst>
          </p:cNvPr>
          <p:cNvSpPr>
            <a:spLocks xmlns:a="http://schemas.openxmlformats.org/drawingml/2006/main" noGrp="1"/>
          </p:cNvSpPr>
          <p:nvPr/>
        </p:nvSpPr>
        <p:spPr>
          <a:xfrm xmlns:a="http://schemas.openxmlformats.org/drawingml/2006/main">
            <a:off x="3505200" y="2486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60CE2E56-C8F8-4DEA-98BC-548703FE7B9E}"/>
              </a:ext>
            </a:extLst>
          </p:cNvPr>
          <p:cNvSpPr>
            <a:spLocks xmlns:a="http://schemas.openxmlformats.org/drawingml/2006/main" noGrp="1"/>
          </p:cNvSpPr>
          <p:nvPr/>
        </p:nvSpPr>
        <p:spPr>
          <a:xfrm xmlns:a="http://schemas.openxmlformats.org/drawingml/2006/main">
            <a:off x="3505200" y="3714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Canonical roots</a:t>
            </a:r>
          </a:p>
        </p:txBody>
      </p:sp>
      <p:sp>
        <p:nvSpPr>
          <p:cNvPr id="13" name="text">
            <a:extLst xmlns:a="http://schemas.openxmlformats.org/drawingml/2006/main">
              <a:ext uri="{FF2B5EF4-FFF2-40B4-BE49-F238E27FC236}">
                <a16:creationId xmlns:a16="http://schemas.microsoft.com/office/drawing/2014/main" id="{FEB3DAED-199C-404B-A54D-3584BEFAC362}"/>
              </a:ext>
            </a:extLst>
          </p:cNvPr>
          <p:cNvSpPr>
            <a:spLocks xmlns:a="http://schemas.openxmlformats.org/drawingml/2006/main" noGrp="1"/>
          </p:cNvSpPr>
          <p:nvPr/>
        </p:nvSpPr>
        <p:spPr>
          <a:xfrm xmlns:a="http://schemas.openxmlformats.org/drawingml/2006/main">
            <a:off x="3505200" y="4267200"/>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Keep one example for each translation orbit.</a:t>
            </a:r>
          </a:p>
        </p:txBody>
      </p:sp>
      <p:sp>
        <p:nvSpPr>
          <p:cNvPr id="14" name="">
            <a:extLst xmlns:a="http://schemas.openxmlformats.org/drawingml/2006/main">
              <a:ext uri="{FF2B5EF4-FFF2-40B4-BE49-F238E27FC236}">
                <a16:creationId xmlns:a16="http://schemas.microsoft.com/office/drawing/2014/main" id="{3C4FF5DE-A2BE-4169-8F56-E7AE38993A83}"/>
              </a:ext>
            </a:extLst>
          </p:cNvPr>
          <p:cNvSpPr>
            <a:spLocks xmlns:a="http://schemas.openxmlformats.org/drawingml/2006/main" noGrp="1"/>
          </p:cNvSpPr>
          <p:nvPr/>
        </p:nvSpPr>
        <p:spPr>
          <a:xfrm xmlns:a="http://schemas.openxmlformats.org/drawingml/2006/main">
            <a:off x="6324600" y="2286000"/>
            <a:ext cx="666750" cy="6667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15" name="text">
            <a:extLst xmlns:a="http://schemas.openxmlformats.org/drawingml/2006/main">
              <a:ext uri="{FF2B5EF4-FFF2-40B4-BE49-F238E27FC236}">
                <a16:creationId xmlns:a16="http://schemas.microsoft.com/office/drawing/2014/main" id="{B7713E01-998C-4D18-8752-C7F4FE5545C4}"/>
              </a:ext>
            </a:extLst>
          </p:cNvPr>
          <p:cNvSpPr>
            <a:spLocks xmlns:a="http://schemas.openxmlformats.org/drawingml/2006/main" noGrp="1"/>
          </p:cNvSpPr>
          <p:nvPr/>
        </p:nvSpPr>
        <p:spPr>
          <a:xfrm xmlns:a="http://schemas.openxmlformats.org/drawingml/2006/main">
            <a:off x="6324600" y="2486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0DB4E5EC-C3C9-43D9-9DA4-33CF8F72F3FE}"/>
              </a:ext>
            </a:extLst>
          </p:cNvPr>
          <p:cNvSpPr>
            <a:spLocks xmlns:a="http://schemas.openxmlformats.org/drawingml/2006/main" noGrp="1"/>
          </p:cNvSpPr>
          <p:nvPr/>
        </p:nvSpPr>
        <p:spPr>
          <a:xfrm xmlns:a="http://schemas.openxmlformats.org/drawingml/2006/main">
            <a:off x="6324600" y="3714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Admissible bound</a:t>
            </a:r>
          </a:p>
        </p:txBody>
      </p:sp>
      <p:sp>
        <p:nvSpPr>
          <p:cNvPr id="17" name="text">
            <a:extLst xmlns:a="http://schemas.openxmlformats.org/drawingml/2006/main">
              <a:ext uri="{FF2B5EF4-FFF2-40B4-BE49-F238E27FC236}">
                <a16:creationId xmlns:a16="http://schemas.microsoft.com/office/drawing/2014/main" id="{F202AA2C-C2F2-45EF-B954-3427028F4C13}"/>
              </a:ext>
            </a:extLst>
          </p:cNvPr>
          <p:cNvSpPr>
            <a:spLocks xmlns:a="http://schemas.openxmlformats.org/drawingml/2006/main" noGrp="1"/>
          </p:cNvSpPr>
          <p:nvPr/>
        </p:nvSpPr>
        <p:spPr>
          <a:xfrm xmlns:a="http://schemas.openxmlformats.org/drawingml/2006/main">
            <a:off x="6324600" y="4267200"/>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Cut a branch only if it must go above weight 9.</a:t>
            </a:r>
          </a:p>
        </p:txBody>
      </p:sp>
      <p:sp>
        <p:nvSpPr>
          <p:cNvPr id="18" name="">
            <a:extLst xmlns:a="http://schemas.openxmlformats.org/drawingml/2006/main">
              <a:ext uri="{FF2B5EF4-FFF2-40B4-BE49-F238E27FC236}">
                <a16:creationId xmlns:a16="http://schemas.microsoft.com/office/drawing/2014/main" id="{05CEC9AD-5AFA-455D-B469-A57278A703DF}"/>
              </a:ext>
            </a:extLst>
          </p:cNvPr>
          <p:cNvSpPr>
            <a:spLocks xmlns:a="http://schemas.openxmlformats.org/drawingml/2006/main" noGrp="1"/>
          </p:cNvSpPr>
          <p:nvPr/>
        </p:nvSpPr>
        <p:spPr>
          <a:xfrm xmlns:a="http://schemas.openxmlformats.org/drawingml/2006/main">
            <a:off x="9144000" y="2286000"/>
            <a:ext cx="666750" cy="6667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19" name="text">
            <a:extLst xmlns:a="http://schemas.openxmlformats.org/drawingml/2006/main">
              <a:ext uri="{FF2B5EF4-FFF2-40B4-BE49-F238E27FC236}">
                <a16:creationId xmlns:a16="http://schemas.microsoft.com/office/drawing/2014/main" id="{F8EB76AB-3552-46A8-8615-195D6BE58B84}"/>
              </a:ext>
            </a:extLst>
          </p:cNvPr>
          <p:cNvSpPr>
            <a:spLocks xmlns:a="http://schemas.openxmlformats.org/drawingml/2006/main" noGrp="1"/>
          </p:cNvSpPr>
          <p:nvPr/>
        </p:nvSpPr>
        <p:spPr>
          <a:xfrm xmlns:a="http://schemas.openxmlformats.org/drawingml/2006/main">
            <a:off x="9144000" y="2486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04</a:t>
            </a:r>
          </a:p>
        </p:txBody>
      </p:sp>
      <p:sp>
        <p:nvSpPr>
          <p:cNvPr id="20" name="text">
            <a:extLst xmlns:a="http://schemas.openxmlformats.org/drawingml/2006/main">
              <a:ext uri="{FF2B5EF4-FFF2-40B4-BE49-F238E27FC236}">
                <a16:creationId xmlns:a16="http://schemas.microsoft.com/office/drawing/2014/main" id="{26D6739E-5E41-4495-AD8B-77A0D7B17F98}"/>
              </a:ext>
            </a:extLst>
          </p:cNvPr>
          <p:cNvSpPr>
            <a:spLocks xmlns:a="http://schemas.openxmlformats.org/drawingml/2006/main" noGrp="1"/>
          </p:cNvSpPr>
          <p:nvPr/>
        </p:nvSpPr>
        <p:spPr>
          <a:xfrm xmlns:a="http://schemas.openxmlformats.org/drawingml/2006/main">
            <a:off x="9144000" y="3714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Exact XOR closure</a:t>
            </a:r>
          </a:p>
        </p:txBody>
      </p:sp>
      <p:sp>
        <p:nvSpPr>
          <p:cNvPr id="21" name="text">
            <a:extLst xmlns:a="http://schemas.openxmlformats.org/drawingml/2006/main">
              <a:ext uri="{FF2B5EF4-FFF2-40B4-BE49-F238E27FC236}">
                <a16:creationId xmlns:a16="http://schemas.microsoft.com/office/drawing/2014/main" id="{167BA336-A727-4E42-ABD1-2D7B14D5C2C8}"/>
              </a:ext>
            </a:extLst>
          </p:cNvPr>
          <p:cNvSpPr>
            <a:spLocks xmlns:a="http://schemas.openxmlformats.org/drawingml/2006/main" noGrp="1"/>
          </p:cNvSpPr>
          <p:nvPr/>
        </p:nvSpPr>
        <p:spPr>
          <a:xfrm xmlns:a="http://schemas.openxmlformats.org/drawingml/2006/main">
            <a:off x="9144000" y="4267200"/>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Find the last one or two mechanisms exactly.</a:t>
            </a:r>
          </a:p>
        </p:txBody>
      </p:sp>
      <p:sp>
        <p:nvSpPr>
          <p:cNvPr id="22" name="">
            <a:extLst xmlns:a="http://schemas.openxmlformats.org/drawingml/2006/main">
              <a:ext uri="{FF2B5EF4-FFF2-40B4-BE49-F238E27FC236}">
                <a16:creationId xmlns:a16="http://schemas.microsoft.com/office/drawing/2014/main" id="{8AAED29C-778A-40C8-944A-BB521AAB0536}"/>
              </a:ext>
            </a:extLst>
          </p:cNvPr>
          <p:cNvSpPr>
            <a:spLocks xmlns:a="http://schemas.openxmlformats.org/drawingml/2006/main" noGrp="1"/>
          </p:cNvSpPr>
          <p:nvPr/>
        </p:nvSpPr>
        <p:spPr>
          <a:xfrm xmlns:a="http://schemas.openxmlformats.org/drawingml/2006/main">
            <a:off x="685800" y="5619750"/>
            <a:ext cx="10763250" cy="4191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23" name="text">
            <a:extLst xmlns:a="http://schemas.openxmlformats.org/drawingml/2006/main">
              <a:ext uri="{FF2B5EF4-FFF2-40B4-BE49-F238E27FC236}">
                <a16:creationId xmlns:a16="http://schemas.microsoft.com/office/drawing/2014/main" id="{E90A10E7-804B-48FE-9EC1-73E0AA3953A6}"/>
              </a:ext>
            </a:extLst>
          </p:cNvPr>
          <p:cNvSpPr>
            <a:spLocks xmlns:a="http://schemas.openxmlformats.org/drawingml/2006/main" noGrp="1"/>
          </p:cNvSpPr>
          <p:nvPr/>
        </p:nvSpPr>
        <p:spPr>
          <a:xfrm xmlns:a="http://schemas.openxmlformats.org/drawingml/2006/main">
            <a:off x="895350" y="5715000"/>
            <a:ext cx="1034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0B0F14"/>
                </a:solidFill>
                <a:latin typeface="Arial"/>
                <a:ea typeface="Arial"/>
                <a:cs typeface="Arial"/>
              </a:defRPr>
            </a:pPr>
            <a:r>
              <a:rPr sz="1500" b="1" i="0">
                <a:solidFill>
                  <a:srgbClr val="0B0F14"/>
                </a:solidFill>
                <a:latin typeface="Arial"/>
                <a:ea typeface="Arial"/>
                <a:cs typeface="Arial"/>
              </a:rPr>
              <a:t>Safe reductions and complete shard coverage together give an exact result.</a:t>
            </a:r>
          </a:p>
        </p:txBody>
      </p:sp>
      <p:sp>
        <p:nvSpPr>
          <p:cNvPr id="24" name="visible-source">
            <a:extLst xmlns:a="http://schemas.openxmlformats.org/drawingml/2006/main">
              <a:ext uri="{FF2B5EF4-FFF2-40B4-BE49-F238E27FC236}">
                <a16:creationId xmlns:a16="http://schemas.microsoft.com/office/drawing/2014/main" id="{1AF992F4-7172-4D5B-9FEF-6A96774230BE}"/>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Sources: Dumer, Kovalev &amp; Pryadko (2017); QECProof method dossier</a:t>
            </a:r>
          </a:p>
        </p:txBody>
      </p:sp>
    </p:spTree>
    <p:extLst>
      <p:ext uri="{BB962C8B-B14F-4D97-AF65-F5344CB8AC3E}">
        <p14:creationId xmlns:p14="http://schemas.microsoft.com/office/powerpoint/2010/main" val="16466737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F141B3F9-7C36-4A71-B2FD-0E2AC0610BF0}"/>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CORRECTNESS REPAIR</a:t>
            </a:r>
          </a:p>
        </p:txBody>
      </p:sp>
      <p:sp>
        <p:nvSpPr>
          <p:cNvPr id="2" name="slide-title">
            <a:extLst xmlns:a="http://schemas.openxmlformats.org/drawingml/2006/main">
              <a:ext uri="{FF2B5EF4-FFF2-40B4-BE49-F238E27FC236}">
                <a16:creationId xmlns:a16="http://schemas.microsoft.com/office/drawing/2014/main" id="{AD8785F8-6F16-4286-B2A5-8A8F2B426352}"/>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The symmetry proof needs two identities</a:t>
            </a:r>
          </a:p>
        </p:txBody>
      </p:sp>
      <p:sp>
        <p:nvSpPr>
          <p:cNvPr id="3" name="">
            <a:extLst xmlns:a="http://schemas.openxmlformats.org/drawingml/2006/main">
              <a:ext uri="{FF2B5EF4-FFF2-40B4-BE49-F238E27FC236}">
                <a16:creationId xmlns:a16="http://schemas.microsoft.com/office/drawing/2014/main" id="{A0334077-3897-43EE-A6A6-AC7FBB7F563E}"/>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39BC30FE-9908-48A8-9F3D-227127891ED7}"/>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D5D984B-0821-43C4-B37C-FC74678FAF5E}"/>
              </a:ext>
            </a:extLst>
          </p:cNvPr>
          <p:cNvSpPr>
            <a:spLocks xmlns:a="http://schemas.openxmlformats.org/drawingml/2006/main" noGrp="1"/>
          </p:cNvSpPr>
          <p:nvPr/>
        </p:nvSpPr>
        <p:spPr>
          <a:xfrm xmlns:a="http://schemas.openxmlformats.org/drawingml/2006/main">
            <a:off x="647700" y="1657350"/>
            <a:ext cx="4810125" cy="26479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5A99652E-4FBB-44A3-88E5-CBB9E9CC625C}"/>
              </a:ext>
            </a:extLst>
          </p:cNvPr>
          <p:cNvSpPr>
            <a:spLocks xmlns:a="http://schemas.openxmlformats.org/drawingml/2006/main" noGrp="1"/>
          </p:cNvSpPr>
          <p:nvPr/>
        </p:nvSpPr>
        <p:spPr>
          <a:xfrm xmlns:a="http://schemas.openxmlformats.org/drawingml/2006/main">
            <a:off x="876300" y="1866900"/>
            <a:ext cx="1219200" cy="266700"/>
          </a:xfrm>
          <a:prstGeom xmlns:a="http://schemas.openxmlformats.org/drawingml/2006/main" prst="rect">
            <a:avLst/>
          </a:prstGeom>
          <a:solidFill xmlns:a="http://schemas.openxmlformats.org/drawingml/2006/main">
            <a:srgbClr val="EFF1F3"/>
          </a:solidFill>
          <a:ln xmlns:a="http://schemas.openxmlformats.org/drawingml/2006/main" w="9525">
            <a:solidFill>
              <a:srgbClr val="EFF1F3"/>
            </a:solid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9B1F8DD6-EF51-4D83-81C5-871BD0816BD5}"/>
              </a:ext>
            </a:extLst>
          </p:cNvPr>
          <p:cNvSpPr>
            <a:spLocks xmlns:a="http://schemas.openxmlformats.org/drawingml/2006/main" noGrp="1"/>
          </p:cNvSpPr>
          <p:nvPr/>
        </p:nvSpPr>
        <p:spPr>
          <a:xfrm xmlns:a="http://schemas.openxmlformats.org/drawingml/2006/main">
            <a:off x="952500" y="1914525"/>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0B0F14"/>
                </a:solidFill>
                <a:latin typeface="Arial"/>
                <a:ea typeface="Arial"/>
                <a:cs typeface="Arial"/>
              </a:defRPr>
            </a:pPr>
            <a:r>
              <a:rPr sz="900" b="1" i="0">
                <a:solidFill>
                  <a:srgbClr val="0B0F14"/>
                </a:solidFill>
                <a:latin typeface="Arial"/>
                <a:ea typeface="Arial"/>
                <a:cs typeface="Arial"/>
              </a:rPr>
              <a:t>INCOMPLETE</a:t>
            </a:r>
          </a:p>
        </p:txBody>
      </p:sp>
      <p:sp>
        <p:nvSpPr>
          <p:cNvPr id="8" name="text">
            <a:extLst xmlns:a="http://schemas.openxmlformats.org/drawingml/2006/main">
              <a:ext uri="{FF2B5EF4-FFF2-40B4-BE49-F238E27FC236}">
                <a16:creationId xmlns:a16="http://schemas.microsoft.com/office/drawing/2014/main" id="{D7A7B88A-7E45-4F52-990A-89E65069C9C7}"/>
              </a:ext>
            </a:extLst>
          </p:cNvPr>
          <p:cNvSpPr>
            <a:spLocks xmlns:a="http://schemas.openxmlformats.org/drawingml/2006/main" noGrp="1"/>
          </p:cNvSpPr>
          <p:nvPr/>
        </p:nvSpPr>
        <p:spPr>
          <a:xfrm xmlns:a="http://schemas.openxmlformats.org/drawingml/2006/main">
            <a:off x="876300" y="240030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625" b="1" i="0">
                <a:solidFill>
                  <a:srgbClr val="0B0F14"/>
                </a:solidFill>
                <a:latin typeface="Arial"/>
                <a:ea typeface="Arial"/>
                <a:cs typeface="Arial"/>
              </a:defRPr>
            </a:pPr>
            <a:r>
              <a:rPr sz="2625" b="1" i="0">
                <a:solidFill>
                  <a:srgbClr val="0B0F14"/>
                </a:solidFill>
                <a:latin typeface="Arial"/>
                <a:ea typeface="Arial"/>
                <a:cs typeface="Arial"/>
              </a:rPr>
              <a:t>LP = BH + TL</a:t>
            </a:r>
          </a:p>
        </p:txBody>
      </p:sp>
      <p:sp>
        <p:nvSpPr>
          <p:cNvPr id="9" name="text">
            <a:extLst xmlns:a="http://schemas.openxmlformats.org/drawingml/2006/main">
              <a:ext uri="{FF2B5EF4-FFF2-40B4-BE49-F238E27FC236}">
                <a16:creationId xmlns:a16="http://schemas.microsoft.com/office/drawing/2014/main" id="{F7A77139-CA32-44FB-A5A7-24AEAD07D3AC}"/>
              </a:ext>
            </a:extLst>
          </p:cNvPr>
          <p:cNvSpPr>
            <a:spLocks xmlns:a="http://schemas.openxmlformats.org/drawingml/2006/main" noGrp="1"/>
          </p:cNvSpPr>
          <p:nvPr/>
        </p:nvSpPr>
        <p:spPr>
          <a:xfrm xmlns:a="http://schemas.openxmlformats.org/drawingml/2006/main">
            <a:off x="876300" y="314325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D6673"/>
                </a:solidFill>
                <a:latin typeface="Arial"/>
                <a:ea typeface="Arial"/>
                <a:cs typeface="Arial"/>
              </a:defRPr>
            </a:pPr>
            <a:r>
              <a:rPr sz="1425" b="0" i="0">
                <a:solidFill>
                  <a:srgbClr val="5D6673"/>
                </a:solidFill>
                <a:latin typeface="Arial"/>
                <a:ea typeface="Arial"/>
                <a:cs typeface="Arial"/>
              </a:rPr>
              <a:t>This identity keeps the logical action. It does not show that Px stays in the kernel.</a:t>
            </a:r>
          </a:p>
        </p:txBody>
      </p:sp>
      <p:sp>
        <p:nvSpPr>
          <p:cNvPr id="10" name="text">
            <a:extLst xmlns:a="http://schemas.openxmlformats.org/drawingml/2006/main">
              <a:ext uri="{FF2B5EF4-FFF2-40B4-BE49-F238E27FC236}">
                <a16:creationId xmlns:a16="http://schemas.microsoft.com/office/drawing/2014/main" id="{A19F6F9B-4764-4F79-BBB4-ED8AF652C722}"/>
              </a:ext>
            </a:extLst>
          </p:cNvPr>
          <p:cNvSpPr>
            <a:spLocks xmlns:a="http://schemas.openxmlformats.org/drawingml/2006/main" noGrp="1"/>
          </p:cNvSpPr>
          <p:nvPr/>
        </p:nvSpPr>
        <p:spPr>
          <a:xfrm xmlns:a="http://schemas.openxmlformats.org/drawingml/2006/main">
            <a:off x="5600700" y="266700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57"/>
          </a:bodyPr>
          <a:lstStyle xmlns:a="http://schemas.openxmlformats.org/drawingml/2006/main"/>
          <a:p xmlns:a="http://schemas.openxmlformats.org/drawingml/2006/main">
            <a:pPr algn="ctr">
              <a:defRPr sz="4200" b="1" i="0">
                <a:solidFill>
                  <a:srgbClr val="3D8DFF"/>
                </a:solidFill>
                <a:latin typeface="Arial"/>
                <a:ea typeface="Arial"/>
                <a:cs typeface="Arial"/>
              </a:defRPr>
            </a:pPr>
            <a:r>
              <a:rPr sz="4200" b="1" i="0">
                <a:solidFill>
                  <a:srgbClr val="3D8D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46CF2EA-C648-4BFC-BF5B-681D017EE158}"/>
              </a:ext>
            </a:extLst>
          </p:cNvPr>
          <p:cNvSpPr>
            <a:spLocks xmlns:a="http://schemas.openxmlformats.org/drawingml/2006/main" noGrp="1"/>
          </p:cNvSpPr>
          <p:nvPr/>
        </p:nvSpPr>
        <p:spPr>
          <a:xfrm xmlns:a="http://schemas.openxmlformats.org/drawingml/2006/main">
            <a:off x="6572250" y="1657350"/>
            <a:ext cx="5048250" cy="264795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1FE5A1F-8FF5-4C50-AC13-2CE802340474}"/>
              </a:ext>
            </a:extLst>
          </p:cNvPr>
          <p:cNvSpPr>
            <a:spLocks xmlns:a="http://schemas.openxmlformats.org/drawingml/2006/main" noGrp="1"/>
          </p:cNvSpPr>
          <p:nvPr/>
        </p:nvSpPr>
        <p:spPr>
          <a:xfrm xmlns:a="http://schemas.openxmlformats.org/drawingml/2006/main">
            <a:off x="6800850" y="1866900"/>
            <a:ext cx="1219200" cy="2667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13" name="text">
            <a:extLst xmlns:a="http://schemas.openxmlformats.org/drawingml/2006/main">
              <a:ext uri="{FF2B5EF4-FFF2-40B4-BE49-F238E27FC236}">
                <a16:creationId xmlns:a16="http://schemas.microsoft.com/office/drawing/2014/main" id="{C002232D-3AD1-490D-B5E1-807A193BB8AD}"/>
              </a:ext>
            </a:extLst>
          </p:cNvPr>
          <p:cNvSpPr>
            <a:spLocks xmlns:a="http://schemas.openxmlformats.org/drawingml/2006/main" noGrp="1"/>
          </p:cNvSpPr>
          <p:nvPr/>
        </p:nvSpPr>
        <p:spPr>
          <a:xfrm xmlns:a="http://schemas.openxmlformats.org/drawingml/2006/main">
            <a:off x="6877050" y="1914525"/>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CERTIFIED</a:t>
            </a:r>
          </a:p>
        </p:txBody>
      </p:sp>
      <p:sp>
        <p:nvSpPr>
          <p:cNvPr id="14" name="text">
            <a:extLst xmlns:a="http://schemas.openxmlformats.org/drawingml/2006/main">
              <a:ext uri="{FF2B5EF4-FFF2-40B4-BE49-F238E27FC236}">
                <a16:creationId xmlns:a16="http://schemas.microsoft.com/office/drawing/2014/main" id="{9233856D-C767-48D3-AD40-FCBBF4A50D5B}"/>
              </a:ext>
            </a:extLst>
          </p:cNvPr>
          <p:cNvSpPr>
            <a:spLocks xmlns:a="http://schemas.openxmlformats.org/drawingml/2006/main" noGrp="1"/>
          </p:cNvSpPr>
          <p:nvPr/>
        </p:nvSpPr>
        <p:spPr>
          <a:xfrm xmlns:a="http://schemas.openxmlformats.org/drawingml/2006/main">
            <a:off x="6800850" y="234315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625" b="1" i="0">
                <a:solidFill>
                  <a:srgbClr val="3D8DFF"/>
                </a:solidFill>
                <a:latin typeface="Arial"/>
                <a:ea typeface="Arial"/>
                <a:cs typeface="Arial"/>
              </a:defRPr>
            </a:pPr>
            <a:r>
              <a:rPr sz="2625" b="1" i="0">
                <a:solidFill>
                  <a:srgbClr val="3D8DFF"/>
                </a:solidFill>
                <a:latin typeface="Arial"/>
                <a:ea typeface="Arial"/>
                <a:cs typeface="Arial"/>
              </a:rPr>
              <a:t>HP = SH</a:t>
            </a:r>
          </a:p>
        </p:txBody>
      </p:sp>
      <p:sp>
        <p:nvSpPr>
          <p:cNvPr id="15" name="text">
            <a:extLst xmlns:a="http://schemas.openxmlformats.org/drawingml/2006/main">
              <a:ext uri="{FF2B5EF4-FFF2-40B4-BE49-F238E27FC236}">
                <a16:creationId xmlns:a16="http://schemas.microsoft.com/office/drawing/2014/main" id="{F292C6A4-DC9F-41B3-A764-61A0CB46F0A5}"/>
              </a:ext>
            </a:extLst>
          </p:cNvPr>
          <p:cNvSpPr>
            <a:spLocks xmlns:a="http://schemas.openxmlformats.org/drawingml/2006/main" noGrp="1"/>
          </p:cNvSpPr>
          <p:nvPr/>
        </p:nvSpPr>
        <p:spPr>
          <a:xfrm xmlns:a="http://schemas.openxmlformats.org/drawingml/2006/main">
            <a:off x="6800850" y="289560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625" b="1" i="0">
                <a:solidFill>
                  <a:srgbClr val="0B0F14"/>
                </a:solidFill>
                <a:latin typeface="Arial"/>
                <a:ea typeface="Arial"/>
                <a:cs typeface="Arial"/>
              </a:defRPr>
            </a:pPr>
            <a:r>
              <a:rPr sz="2625" b="1" i="0">
                <a:solidFill>
                  <a:srgbClr val="0B0F14"/>
                </a:solidFill>
                <a:latin typeface="Arial"/>
                <a:ea typeface="Arial"/>
                <a:cs typeface="Arial"/>
              </a:rPr>
              <a:t>LP = BH + TL</a:t>
            </a:r>
          </a:p>
        </p:txBody>
      </p:sp>
      <p:sp>
        <p:nvSpPr>
          <p:cNvPr id="16" name="text">
            <a:extLst xmlns:a="http://schemas.openxmlformats.org/drawingml/2006/main">
              <a:ext uri="{FF2B5EF4-FFF2-40B4-BE49-F238E27FC236}">
                <a16:creationId xmlns:a16="http://schemas.microsoft.com/office/drawing/2014/main" id="{371E00E2-17D1-4058-9D3D-CBC807B2CD79}"/>
              </a:ext>
            </a:extLst>
          </p:cNvPr>
          <p:cNvSpPr>
            <a:spLocks xmlns:a="http://schemas.openxmlformats.org/drawingml/2006/main" noGrp="1"/>
          </p:cNvSpPr>
          <p:nvPr/>
        </p:nvSpPr>
        <p:spPr>
          <a:xfrm xmlns:a="http://schemas.openxmlformats.org/drawingml/2006/main">
            <a:off x="6800850" y="35433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D6673"/>
                </a:solidFill>
                <a:latin typeface="Arial"/>
                <a:ea typeface="Arial"/>
                <a:cs typeface="Arial"/>
              </a:defRPr>
            </a:pPr>
            <a:r>
              <a:rPr sz="1575" b="0" i="0">
                <a:solidFill>
                  <a:srgbClr val="5D6673"/>
                </a:solidFill>
                <a:latin typeface="Arial"/>
                <a:ea typeface="Arial"/>
                <a:cs typeface="Arial"/>
              </a:rPr>
              <a:t>with T invertible over GF(2)</a:t>
            </a:r>
          </a:p>
        </p:txBody>
      </p:sp>
      <p:sp>
        <p:nvSpPr>
          <p:cNvPr id="17" name="text">
            <a:extLst xmlns:a="http://schemas.openxmlformats.org/drawingml/2006/main">
              <a:ext uri="{FF2B5EF4-FFF2-40B4-BE49-F238E27FC236}">
                <a16:creationId xmlns:a16="http://schemas.microsoft.com/office/drawing/2014/main" id="{FC21BF7E-E846-40C9-A48D-4ECAF8DA9F8F}"/>
              </a:ext>
            </a:extLst>
          </p:cNvPr>
          <p:cNvSpPr>
            <a:spLocks xmlns:a="http://schemas.openxmlformats.org/drawingml/2006/main" noGrp="1"/>
          </p:cNvSpPr>
          <p:nvPr/>
        </p:nvSpPr>
        <p:spPr>
          <a:xfrm xmlns:a="http://schemas.openxmlformats.org/drawingml/2006/main">
            <a:off x="723900" y="48577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SYNDROME</a:t>
            </a:r>
          </a:p>
        </p:txBody>
      </p:sp>
      <p:sp>
        <p:nvSpPr>
          <p:cNvPr id="18" name="text">
            <a:extLst xmlns:a="http://schemas.openxmlformats.org/drawingml/2006/main">
              <a:ext uri="{FF2B5EF4-FFF2-40B4-BE49-F238E27FC236}">
                <a16:creationId xmlns:a16="http://schemas.microsoft.com/office/drawing/2014/main" id="{A2B28DE5-D759-4D8F-BB5D-9268FD0C1722}"/>
              </a:ext>
            </a:extLst>
          </p:cNvPr>
          <p:cNvSpPr>
            <a:spLocks xmlns:a="http://schemas.openxmlformats.org/drawingml/2006/main" noGrp="1"/>
          </p:cNvSpPr>
          <p:nvPr/>
        </p:nvSpPr>
        <p:spPr>
          <a:xfrm xmlns:a="http://schemas.openxmlformats.org/drawingml/2006/main">
            <a:off x="723900" y="52006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0B0F14"/>
                </a:solidFill>
                <a:latin typeface="Arial"/>
                <a:ea typeface="Arial"/>
                <a:cs typeface="Arial"/>
              </a:defRPr>
            </a:pPr>
            <a:r>
              <a:rPr sz="1950" b="1" i="0">
                <a:solidFill>
                  <a:srgbClr val="0B0F14"/>
                </a:solidFill>
                <a:latin typeface="Arial"/>
                <a:ea typeface="Arial"/>
                <a:cs typeface="Arial"/>
              </a:rPr>
              <a:t>H(Px) = 0</a:t>
            </a:r>
          </a:p>
        </p:txBody>
      </p:sp>
      <p:sp>
        <p:nvSpPr>
          <p:cNvPr id="19" name="text">
            <a:extLst xmlns:a="http://schemas.openxmlformats.org/drawingml/2006/main">
              <a:ext uri="{FF2B5EF4-FFF2-40B4-BE49-F238E27FC236}">
                <a16:creationId xmlns:a16="http://schemas.microsoft.com/office/drawing/2014/main" id="{039860F8-BF34-4E84-AAFC-90FB8B2521D9}"/>
              </a:ext>
            </a:extLst>
          </p:cNvPr>
          <p:cNvSpPr>
            <a:spLocks xmlns:a="http://schemas.openxmlformats.org/drawingml/2006/main" noGrp="1"/>
          </p:cNvSpPr>
          <p:nvPr/>
        </p:nvSpPr>
        <p:spPr>
          <a:xfrm xmlns:a="http://schemas.openxmlformats.org/drawingml/2006/main">
            <a:off x="4400550" y="48577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LOGICAL</a:t>
            </a:r>
          </a:p>
        </p:txBody>
      </p:sp>
      <p:sp>
        <p:nvSpPr>
          <p:cNvPr id="20" name="text">
            <a:extLst xmlns:a="http://schemas.openxmlformats.org/drawingml/2006/main">
              <a:ext uri="{FF2B5EF4-FFF2-40B4-BE49-F238E27FC236}">
                <a16:creationId xmlns:a16="http://schemas.microsoft.com/office/drawing/2014/main" id="{04712DD1-7F1E-476F-8105-91C2C22C7B08}"/>
              </a:ext>
            </a:extLst>
          </p:cNvPr>
          <p:cNvSpPr>
            <a:spLocks xmlns:a="http://schemas.openxmlformats.org/drawingml/2006/main" noGrp="1"/>
          </p:cNvSpPr>
          <p:nvPr/>
        </p:nvSpPr>
        <p:spPr>
          <a:xfrm xmlns:a="http://schemas.openxmlformats.org/drawingml/2006/main">
            <a:off x="4400550" y="52006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0B0F14"/>
                </a:solidFill>
                <a:latin typeface="Arial"/>
                <a:ea typeface="Arial"/>
                <a:cs typeface="Arial"/>
              </a:defRPr>
            </a:pPr>
            <a:r>
              <a:rPr sz="1950" b="1" i="0">
                <a:solidFill>
                  <a:srgbClr val="0B0F14"/>
                </a:solidFill>
                <a:latin typeface="Arial"/>
                <a:ea typeface="Arial"/>
                <a:cs typeface="Arial"/>
              </a:rPr>
              <a:t>L(Px) ≠ 0</a:t>
            </a:r>
          </a:p>
        </p:txBody>
      </p:sp>
      <p:sp>
        <p:nvSpPr>
          <p:cNvPr id="21" name="text">
            <a:extLst xmlns:a="http://schemas.openxmlformats.org/drawingml/2006/main">
              <a:ext uri="{FF2B5EF4-FFF2-40B4-BE49-F238E27FC236}">
                <a16:creationId xmlns:a16="http://schemas.microsoft.com/office/drawing/2014/main" id="{1CD5BB17-0990-4745-8DBD-7B508F98CC0C}"/>
              </a:ext>
            </a:extLst>
          </p:cNvPr>
          <p:cNvSpPr>
            <a:spLocks xmlns:a="http://schemas.openxmlformats.org/drawingml/2006/main" noGrp="1"/>
          </p:cNvSpPr>
          <p:nvPr/>
        </p:nvSpPr>
        <p:spPr>
          <a:xfrm xmlns:a="http://schemas.openxmlformats.org/drawingml/2006/main">
            <a:off x="8077200" y="48577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WEIGHT</a:t>
            </a:r>
          </a:p>
        </p:txBody>
      </p:sp>
      <p:sp>
        <p:nvSpPr>
          <p:cNvPr id="22" name="text">
            <a:extLst xmlns:a="http://schemas.openxmlformats.org/drawingml/2006/main">
              <a:ext uri="{FF2B5EF4-FFF2-40B4-BE49-F238E27FC236}">
                <a16:creationId xmlns:a16="http://schemas.microsoft.com/office/drawing/2014/main" id="{987C402E-E535-43E9-9198-2865D6970C6D}"/>
              </a:ext>
            </a:extLst>
          </p:cNvPr>
          <p:cNvSpPr>
            <a:spLocks xmlns:a="http://schemas.openxmlformats.org/drawingml/2006/main" noGrp="1"/>
          </p:cNvSpPr>
          <p:nvPr/>
        </p:nvSpPr>
        <p:spPr>
          <a:xfrm xmlns:a="http://schemas.openxmlformats.org/drawingml/2006/main">
            <a:off x="8077200" y="52006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0B0F14"/>
                </a:solidFill>
                <a:latin typeface="Arial"/>
                <a:ea typeface="Arial"/>
                <a:cs typeface="Arial"/>
              </a:defRPr>
            </a:pPr>
            <a:r>
              <a:rPr sz="1950" b="1" i="0">
                <a:solidFill>
                  <a:srgbClr val="0B0F14"/>
                </a:solidFill>
                <a:latin typeface="Arial"/>
                <a:ea typeface="Arial"/>
                <a:cs typeface="Arial"/>
              </a:rPr>
              <a:t>||Px||₀ = ||x||₀</a:t>
            </a:r>
          </a:p>
        </p:txBody>
      </p:sp>
      <p:sp>
        <p:nvSpPr>
          <p:cNvPr id="23" name="visible-source">
            <a:extLst xmlns:a="http://schemas.openxmlformats.org/drawingml/2006/main">
              <a:ext uri="{FF2B5EF4-FFF2-40B4-BE49-F238E27FC236}">
                <a16:creationId xmlns:a16="http://schemas.microsoft.com/office/drawing/2014/main" id="{A9E315C8-0E9B-402F-B99B-C3E814C37E8E}"/>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the corrected algebra audit of the symmetry argument</a:t>
            </a:r>
          </a:p>
        </p:txBody>
      </p:sp>
    </p:spTree>
    <p:extLst>
      <p:ext uri="{BB962C8B-B14F-4D97-AF65-F5344CB8AC3E}">
        <p14:creationId xmlns:p14="http://schemas.microsoft.com/office/powerpoint/2010/main" val="925228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D9A4A48-E67F-4835-A8E9-303D0DC5E831}"/>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INSTANCE REDUCTION</a:t>
            </a:r>
          </a:p>
        </p:txBody>
      </p:sp>
      <p:sp>
        <p:nvSpPr>
          <p:cNvPr id="2" name="slide-title">
            <a:extLst xmlns:a="http://schemas.openxmlformats.org/drawingml/2006/main">
              <a:ext uri="{FF2B5EF4-FFF2-40B4-BE49-F238E27FC236}">
                <a16:creationId xmlns:a16="http://schemas.microsoft.com/office/drawing/2014/main" id="{52DBF165-9C35-406F-B20A-BD649656ABD6}"/>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Certified reductions make the candidate set smaller</a:t>
            </a:r>
          </a:p>
        </p:txBody>
      </p:sp>
      <p:sp>
        <p:nvSpPr>
          <p:cNvPr id="3" name="">
            <a:extLst xmlns:a="http://schemas.openxmlformats.org/drawingml/2006/main">
              <a:ext uri="{FF2B5EF4-FFF2-40B4-BE49-F238E27FC236}">
                <a16:creationId xmlns:a16="http://schemas.microsoft.com/office/drawing/2014/main" id="{41BA702B-12F3-4CE6-A64F-85056B8EBA48}"/>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5FE80E4C-711D-4190-9B43-FA5D4059C4E5}"/>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09</a:t>
            </a:r>
          </a:p>
        </p:txBody>
      </p:sp>
      <p:graphicFrame>
        <p:nvGraphicFramePr>
          <p:cNvPr id="17" name="Chart"/>
          <p:cNvGraphicFramePr/>
          <p:nvPr/>
        </p:nvGraphicFramePr>
        <p:xfrm>
          <a:off xmlns:a="http://schemas.openxmlformats.org/drawingml/2006/main" x="609600" y="1676400"/>
          <a:ext xmlns:a="http://schemas.openxmlformats.org/drawingml/2006/main" cx="6572250" cy="4095750"/>
        </p:xfrm>
        <a:graphic xmlns:a="http://schemas.openxmlformats.org/drawingml/2006/main">
          <a:graphicData uri="http://schemas.openxmlformats.org/drawingml/2006/chart">
            <c:chart xmlns:r="http://schemas.openxmlformats.org/officeDocument/2006/relationships" xmlns:c="http://schemas.openxmlformats.org/drawingml/2006/chart" r:id="R794041a4275246e0"/>
          </a:graphicData>
        </a:graphic>
      </p:graphicFrame>
      <p:sp>
        <p:nvSpPr>
          <p:cNvPr id="6" name="">
            <a:extLst xmlns:a="http://schemas.openxmlformats.org/drawingml/2006/main">
              <a:ext uri="{FF2B5EF4-FFF2-40B4-BE49-F238E27FC236}">
                <a16:creationId xmlns:a16="http://schemas.microsoft.com/office/drawing/2014/main" id="{2DC724B8-9CB8-4DB6-84AF-23C6771C3BD7}"/>
              </a:ext>
            </a:extLst>
          </p:cNvPr>
          <p:cNvSpPr>
            <a:spLocks xmlns:a="http://schemas.openxmlformats.org/drawingml/2006/main" noGrp="1"/>
          </p:cNvSpPr>
          <p:nvPr/>
        </p:nvSpPr>
        <p:spPr>
          <a:xfrm xmlns:a="http://schemas.openxmlformats.org/drawingml/2006/main">
            <a:off x="7753350" y="1676400"/>
            <a:ext cx="3714750" cy="40957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37837D94-C435-4014-8CD5-E12969B31C38}"/>
              </a:ext>
            </a:extLst>
          </p:cNvPr>
          <p:cNvSpPr>
            <a:spLocks xmlns:a="http://schemas.openxmlformats.org/drawingml/2006/main" noGrp="1"/>
          </p:cNvSpPr>
          <p:nvPr/>
        </p:nvSpPr>
        <p:spPr>
          <a:xfrm xmlns:a="http://schemas.openxmlformats.org/drawingml/2006/main">
            <a:off x="8058150" y="198120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3D8DFF"/>
                </a:solidFill>
                <a:latin typeface="Arial"/>
                <a:ea typeface="Arial"/>
                <a:cs typeface="Arial"/>
              </a:defRPr>
            </a:pPr>
            <a:r>
              <a:rPr sz="2100" b="1" i="0">
                <a:solidFill>
                  <a:srgbClr val="3D8DFF"/>
                </a:solidFill>
                <a:latin typeface="Arial"/>
                <a:ea typeface="Arial"/>
                <a:cs typeface="Arial"/>
              </a:rPr>
              <a:t>10,368 to 8,784</a:t>
            </a:r>
          </a:p>
        </p:txBody>
      </p:sp>
      <p:sp>
        <p:nvSpPr>
          <p:cNvPr id="8" name="text">
            <a:extLst xmlns:a="http://schemas.openxmlformats.org/drawingml/2006/main">
              <a:ext uri="{FF2B5EF4-FFF2-40B4-BE49-F238E27FC236}">
                <a16:creationId xmlns:a16="http://schemas.microsoft.com/office/drawing/2014/main" id="{94EC900C-0E8B-4443-8C19-B52A0DB42D2C}"/>
              </a:ext>
            </a:extLst>
          </p:cNvPr>
          <p:cNvSpPr>
            <a:spLocks xmlns:a="http://schemas.openxmlformats.org/drawingml/2006/main" noGrp="1"/>
          </p:cNvSpPr>
          <p:nvPr/>
        </p:nvSpPr>
        <p:spPr>
          <a:xfrm xmlns:a="http://schemas.openxmlformats.org/drawingml/2006/main">
            <a:off x="8058150" y="2571750"/>
            <a:ext cx="3124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D6673"/>
                </a:solidFill>
                <a:latin typeface="Arial"/>
                <a:ea typeface="Arial"/>
                <a:cs typeface="Arial"/>
              </a:defRPr>
            </a:pPr>
            <a:r>
              <a:rPr sz="1425" b="0" i="0">
                <a:solidFill>
                  <a:srgbClr val="5D6673"/>
                </a:solidFill>
                <a:latin typeface="Arial"/>
                <a:ea typeface="Arial"/>
                <a:cs typeface="Arial"/>
              </a:rPr>
              <a:t>You can remove duplicate signatures. Two equal columns cancel each other.</a:t>
            </a:r>
          </a:p>
        </p:txBody>
      </p:sp>
      <p:sp>
        <p:nvSpPr>
          <p:cNvPr id="9" name="">
            <a:extLst xmlns:a="http://schemas.openxmlformats.org/drawingml/2006/main">
              <a:ext uri="{FF2B5EF4-FFF2-40B4-BE49-F238E27FC236}">
                <a16:creationId xmlns:a16="http://schemas.microsoft.com/office/drawing/2014/main" id="{7FC230E8-A98B-4CE3-949B-BC6E8A79B986}"/>
              </a:ext>
            </a:extLst>
          </p:cNvPr>
          <p:cNvSpPr>
            <a:spLocks xmlns:a="http://schemas.openxmlformats.org/drawingml/2006/main" noGrp="1"/>
          </p:cNvSpPr>
          <p:nvPr/>
        </p:nvSpPr>
        <p:spPr>
          <a:xfrm xmlns:a="http://schemas.openxmlformats.org/drawingml/2006/main">
            <a:off x="8058150" y="3562350"/>
            <a:ext cx="31242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0" name="text">
            <a:extLst xmlns:a="http://schemas.openxmlformats.org/drawingml/2006/main">
              <a:ext uri="{FF2B5EF4-FFF2-40B4-BE49-F238E27FC236}">
                <a16:creationId xmlns:a16="http://schemas.microsoft.com/office/drawing/2014/main" id="{EFA4115C-0BFE-4666-9886-C4B42EE9F1ED}"/>
              </a:ext>
            </a:extLst>
          </p:cNvPr>
          <p:cNvSpPr>
            <a:spLocks xmlns:a="http://schemas.openxmlformats.org/drawingml/2006/main" noGrp="1"/>
          </p:cNvSpPr>
          <p:nvPr/>
        </p:nvSpPr>
        <p:spPr>
          <a:xfrm xmlns:a="http://schemas.openxmlformats.org/drawingml/2006/main">
            <a:off x="8058150" y="382905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B0F14"/>
                </a:solidFill>
                <a:latin typeface="Arial"/>
                <a:ea typeface="Arial"/>
                <a:cs typeface="Arial"/>
              </a:defRPr>
            </a:pPr>
            <a:r>
              <a:rPr sz="2100" b="1" i="0">
                <a:solidFill>
                  <a:srgbClr val="0B0F14"/>
                </a:solidFill>
                <a:latin typeface="Arial"/>
                <a:ea typeface="Arial"/>
                <a:cs typeface="Arial"/>
              </a:rPr>
              <a:t>8,784 ÷ 24 = 366</a:t>
            </a:r>
          </a:p>
        </p:txBody>
      </p:sp>
      <p:sp>
        <p:nvSpPr>
          <p:cNvPr id="11" name="text">
            <a:extLst xmlns:a="http://schemas.openxmlformats.org/drawingml/2006/main">
              <a:ext uri="{FF2B5EF4-FFF2-40B4-BE49-F238E27FC236}">
                <a16:creationId xmlns:a16="http://schemas.microsoft.com/office/drawing/2014/main" id="{14CB4373-15C5-4B01-8485-1525F7599E9A}"/>
              </a:ext>
            </a:extLst>
          </p:cNvPr>
          <p:cNvSpPr>
            <a:spLocks xmlns:a="http://schemas.openxmlformats.org/drawingml/2006/main" noGrp="1"/>
          </p:cNvSpPr>
          <p:nvPr/>
        </p:nvSpPr>
        <p:spPr>
          <a:xfrm xmlns:a="http://schemas.openxmlformats.org/drawingml/2006/main">
            <a:off x="8058150" y="4419600"/>
            <a:ext cx="312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D6673"/>
                </a:solidFill>
                <a:latin typeface="Arial"/>
                <a:ea typeface="Arial"/>
                <a:cs typeface="Arial"/>
              </a:defRPr>
            </a:pPr>
            <a:r>
              <a:rPr sz="1425" b="0" i="0">
                <a:solidFill>
                  <a:srgbClr val="5D6673"/>
                </a:solidFill>
                <a:latin typeface="Arial"/>
                <a:ea typeface="Arial"/>
                <a:cs typeface="Arial"/>
              </a:rPr>
              <a:t>This arithmetic does not prove coverage. The group action and the canonical count still need certificates.</a:t>
            </a:r>
          </a:p>
        </p:txBody>
      </p:sp>
      <p:sp>
        <p:nvSpPr>
          <p:cNvPr id="12" name="visible-source">
            <a:extLst xmlns:a="http://schemas.openxmlformats.org/drawingml/2006/main">
              <a:ext uri="{FF2B5EF4-FFF2-40B4-BE49-F238E27FC236}">
                <a16:creationId xmlns:a16="http://schemas.microsoft.com/office/drawing/2014/main" id="{74850EC4-1C4D-47F1-97B2-9E2A4A075CC2}"/>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a separate Stim 1.15.0 reconstruction. The project reports 24 translations.</a:t>
            </a:r>
          </a:p>
        </p:txBody>
      </p:sp>
    </p:spTree>
    <p:extLst>
      <p:ext uri="{BB962C8B-B14F-4D97-AF65-F5344CB8AC3E}">
        <p14:creationId xmlns:p14="http://schemas.microsoft.com/office/powerpoint/2010/main" val="1805895548"/>
      </p:ext>
    </p:extLst>
  </p:cSld>
</p:sld>
</file>

<file path=ppt/slides/slide10.xml><?xml version="1.0" encoding="utf-8"?>
<p:sld xmlns:p="http://schemas.openxmlformats.org/presentationml/2006/main">
  <p:cSld>
    <p:bg>
      <p:bgPr>
        <a:solidFill xmlns:a="http://schemas.openxmlformats.org/drawingml/2006/main">
          <a:srgbClr val="0A0D12"/>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423E72A9-395B-4079-9334-39D5283A434B}"/>
              </a:ext>
            </a:extLst>
          </p:cNvPr>
          <p:cNvSpPr>
            <a:spLocks xmlns:a="http://schemas.openxmlformats.org/drawingml/2006/main" noGrp="1"/>
          </p:cNvSpPr>
          <p:nvPr/>
        </p:nvSpPr>
        <p:spPr>
          <a:xfrm xmlns:a="http://schemas.openxmlformats.org/drawingml/2006/main">
            <a:off x="609600" y="5143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19"/>
          </a:bodyPr>
          <a:lstStyle xmlns:a="http://schemas.openxmlformats.org/drawingml/2006/main"/>
          <a:p xmlns:a="http://schemas.openxmlformats.org/drawingml/2006/main">
            <a:pPr algn="l">
              <a:defRPr sz="1050" b="1" i="0">
                <a:solidFill>
                  <a:srgbClr val="6DCBF4"/>
                </a:solidFill>
                <a:latin typeface="Arial"/>
                <a:ea typeface="Arial"/>
                <a:cs typeface="Arial"/>
              </a:defRPr>
            </a:pPr>
            <a:r>
              <a:rPr sz="1050" b="1" i="0">
                <a:solidFill>
                  <a:srgbClr val="6DCBF4"/>
                </a:solidFill>
                <a:latin typeface="Arial"/>
                <a:ea typeface="Arial"/>
                <a:cs typeface="Arial"/>
              </a:rPr>
              <a:t>SELF-CONTAINED DEMO</a:t>
            </a:r>
          </a:p>
        </p:txBody>
      </p:sp>
      <p:sp>
        <p:nvSpPr>
          <p:cNvPr id="2" name="text">
            <a:extLst xmlns:a="http://schemas.openxmlformats.org/drawingml/2006/main">
              <a:ext uri="{FF2B5EF4-FFF2-40B4-BE49-F238E27FC236}">
                <a16:creationId xmlns:a16="http://schemas.microsoft.com/office/drawing/2014/main" id="{77288CC8-B158-4B88-9759-52BBBC83F7C5}"/>
              </a:ext>
            </a:extLst>
          </p:cNvPr>
          <p:cNvSpPr>
            <a:spLocks xmlns:a="http://schemas.openxmlformats.org/drawingml/2006/main" noGrp="1"/>
          </p:cNvSpPr>
          <p:nvPr/>
        </p:nvSpPr>
        <p:spPr>
          <a:xfrm xmlns:a="http://schemas.openxmlformats.org/drawingml/2006/main">
            <a:off x="609600" y="12192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714"/>
          </a:bodyPr>
          <a:lstStyle xmlns:a="http://schemas.openxmlformats.org/drawingml/2006/main"/>
          <a:p xmlns:a="http://schemas.openxmlformats.org/drawingml/2006/main">
            <a:pPr algn="l">
              <a:defRPr sz="5250" b="1" i="0">
                <a:solidFill>
                  <a:srgbClr val="FFFFFF"/>
                </a:solidFill>
                <a:latin typeface="Arial"/>
                <a:ea typeface="Arial"/>
                <a:cs typeface="Arial"/>
              </a:defRPr>
            </a:pPr>
            <a:r>
              <a:rPr sz="4600" b="1" i="0">
                <a:solidFill>
                  <a:srgbClr val="FFFFFF"/>
                </a:solidFill>
                <a:latin typeface="Arial"/>
                <a:ea typeface="Arial"/>
                <a:cs typeface="Arial"/>
              </a:rPr>
              <a:t>A witness is not a proof</a:t>
            </a:r>
          </a:p>
        </p:txBody>
      </p:sp>
      <p:sp>
        <p:nvSpPr>
          <p:cNvPr id="3" name="text">
            <a:extLst xmlns:a="http://schemas.openxmlformats.org/drawingml/2006/main">
              <a:ext uri="{FF2B5EF4-FFF2-40B4-BE49-F238E27FC236}">
                <a16:creationId xmlns:a16="http://schemas.microsoft.com/office/drawing/2014/main" id="{9052FCD4-EF0D-4230-8716-00AA2B3B65D8}"/>
              </a:ext>
            </a:extLst>
          </p:cNvPr>
          <p:cNvSpPr>
            <a:spLocks xmlns:a="http://schemas.openxmlformats.org/drawingml/2006/main" noGrp="1"/>
          </p:cNvSpPr>
          <p:nvPr/>
        </p:nvSpPr>
        <p:spPr>
          <a:xfrm xmlns:a="http://schemas.openxmlformats.org/drawingml/2006/main">
            <a:off x="609600" y="238125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88"/>
          </a:bodyPr>
          <a:lstStyle xmlns:a="http://schemas.openxmlformats.org/drawingml/2006/main"/>
          <a:p xmlns:a="http://schemas.openxmlformats.org/drawingml/2006/main">
            <a:pPr algn="l">
              <a:defRPr sz="2250" b="0" i="0">
                <a:solidFill>
                  <a:srgbClr val="C8CED7"/>
                </a:solidFill>
                <a:latin typeface="Arial"/>
                <a:ea typeface="Arial"/>
                <a:cs typeface="Arial"/>
              </a:defRPr>
            </a:pPr>
            <a:r>
              <a:rPr sz="2250" b="0" i="0">
                <a:solidFill>
                  <a:srgbClr val="C8CED7"/>
                </a:solidFill>
                <a:latin typeface="Arial"/>
                <a:ea typeface="Arial"/>
                <a:cs typeface="Arial"/>
              </a:rPr>
              <a:t>This demo solves a GF(2) example with six mechanisms in three steps.</a:t>
            </a:r>
          </a:p>
        </p:txBody>
      </p:sp>
      <p:sp>
        <p:nvSpPr>
          <p:cNvPr id="4" name="">
            <a:extLst xmlns:a="http://schemas.openxmlformats.org/drawingml/2006/main">
              <a:ext uri="{FF2B5EF4-FFF2-40B4-BE49-F238E27FC236}">
                <a16:creationId xmlns:a16="http://schemas.microsoft.com/office/drawing/2014/main" id="{49877F0A-3117-4B8C-9622-1AB36FA89678}"/>
              </a:ext>
            </a:extLst>
          </p:cNvPr>
          <p:cNvSpPr>
            <a:spLocks xmlns:a="http://schemas.openxmlformats.org/drawingml/2006/main" noGrp="1"/>
          </p:cNvSpPr>
          <p:nvPr/>
        </p:nvSpPr>
        <p:spPr>
          <a:xfrm xmlns:a="http://schemas.openxmlformats.org/drawingml/2006/main">
            <a:off x="609600" y="3409950"/>
            <a:ext cx="10668000" cy="9525"/>
          </a:xfrm>
          <a:prstGeom xmlns:a="http://schemas.openxmlformats.org/drawingml/2006/main" prst="rect">
            <a:avLst/>
          </a:prstGeom>
          <a:solidFill xmlns:a="http://schemas.openxmlformats.org/drawingml/2006/main">
            <a:srgbClr val="343A44"/>
          </a:solidFill>
          <a:ln xmlns:a="http://schemas.openxmlformats.org/drawingml/2006/main" w="0">
            <a:noFill/>
            <a:prstDash val="solid"/>
          </a:ln>
        </p:spPr>
        <p:txBody xmlns:a="http://schemas.openxmlformats.org/drawingml/2006/main">
          <a:bodyPr/>
          <a:p/>
        </p:txBody>
      </p:sp>
      <p:sp>
        <p:nvSpPr>
          <p:cNvPr id="5" name="text">
            <a:extLst xmlns:a="http://schemas.openxmlformats.org/drawingml/2006/main">
              <a:ext uri="{FF2B5EF4-FFF2-40B4-BE49-F238E27FC236}">
                <a16:creationId xmlns:a16="http://schemas.microsoft.com/office/drawing/2014/main" id="{3562D4F6-99A1-4965-8FAC-EE42209E0864}"/>
              </a:ext>
            </a:extLst>
          </p:cNvPr>
          <p:cNvSpPr>
            <a:spLocks xmlns:a="http://schemas.openxmlformats.org/drawingml/2006/main" noGrp="1"/>
          </p:cNvSpPr>
          <p:nvPr/>
        </p:nvSpPr>
        <p:spPr>
          <a:xfrm xmlns:a="http://schemas.openxmlformats.org/drawingml/2006/main">
            <a:off x="742950" y="3810000"/>
            <a:ext cx="85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57"/>
          </a:bodyPr>
          <a:lstStyle xmlns:a="http://schemas.openxmlformats.org/drawingml/2006/main"/>
          <a:p xmlns:a="http://schemas.openxmlformats.org/drawingml/2006/main">
            <a:pPr algn="l">
              <a:defRPr sz="4200" b="1" i="0">
                <a:solidFill>
                  <a:srgbClr val="3D8DFF"/>
                </a:solidFill>
                <a:latin typeface="Arial"/>
                <a:ea typeface="Arial"/>
                <a:cs typeface="Arial"/>
              </a:defRPr>
            </a:pPr>
            <a:r>
              <a:rPr sz="4200" b="1" i="0">
                <a:solidFill>
                  <a:srgbClr val="3D8DFF"/>
                </a:solidFill>
                <a:latin typeface="Arial"/>
                <a:ea typeface="Arial"/>
                <a:cs typeface="Arial"/>
              </a:rPr>
              <a:t>1</a:t>
            </a:r>
          </a:p>
        </p:txBody>
      </p:sp>
      <p:sp>
        <p:nvSpPr>
          <p:cNvPr id="6" name="text">
            <a:extLst xmlns:a="http://schemas.openxmlformats.org/drawingml/2006/main">
              <a:ext uri="{FF2B5EF4-FFF2-40B4-BE49-F238E27FC236}">
                <a16:creationId xmlns:a16="http://schemas.microsoft.com/office/drawing/2014/main" id="{A7C8ADC6-261E-4910-B31A-01CC05EE50B4}"/>
              </a:ext>
            </a:extLst>
          </p:cNvPr>
          <p:cNvSpPr>
            <a:spLocks xmlns:a="http://schemas.openxmlformats.org/drawingml/2006/main" noGrp="1"/>
          </p:cNvSpPr>
          <p:nvPr/>
        </p:nvSpPr>
        <p:spPr>
          <a:xfrm xmlns:a="http://schemas.openxmlformats.org/drawingml/2006/main">
            <a:off x="1600200" y="39624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i="0">
                <a:solidFill>
                  <a:srgbClr val="FFFFFF"/>
                </a:solidFill>
                <a:latin typeface="Arial"/>
                <a:ea typeface="Arial"/>
                <a:cs typeface="Arial"/>
              </a:defRPr>
            </a:pPr>
            <a:r>
              <a:rPr sz="1800" b="1" i="0">
                <a:solidFill>
                  <a:srgbClr val="FFFFFF"/>
                </a:solidFill>
                <a:latin typeface="Arial"/>
                <a:ea typeface="Arial"/>
                <a:cs typeface="Arial"/>
              </a:rPr>
              <a:t>Build H and L</a:t>
            </a:r>
          </a:p>
        </p:txBody>
      </p:sp>
      <p:sp>
        <p:nvSpPr>
          <p:cNvPr id="7" name="text">
            <a:extLst xmlns:a="http://schemas.openxmlformats.org/drawingml/2006/main">
              <a:ext uri="{FF2B5EF4-FFF2-40B4-BE49-F238E27FC236}">
                <a16:creationId xmlns:a16="http://schemas.microsoft.com/office/drawing/2014/main" id="{87E7A966-1CBC-425A-90E7-8AAC710FFAB7}"/>
              </a:ext>
            </a:extLst>
          </p:cNvPr>
          <p:cNvSpPr>
            <a:spLocks xmlns:a="http://schemas.openxmlformats.org/drawingml/2006/main" noGrp="1"/>
          </p:cNvSpPr>
          <p:nvPr/>
        </p:nvSpPr>
        <p:spPr>
          <a:xfrm xmlns:a="http://schemas.openxmlformats.org/drawingml/2006/main">
            <a:off x="4343400" y="3810000"/>
            <a:ext cx="85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57"/>
          </a:bodyPr>
          <a:lstStyle xmlns:a="http://schemas.openxmlformats.org/drawingml/2006/main"/>
          <a:p xmlns:a="http://schemas.openxmlformats.org/drawingml/2006/main">
            <a:pPr algn="l">
              <a:defRPr sz="4200" b="1" i="0">
                <a:solidFill>
                  <a:srgbClr val="3D8DFF"/>
                </a:solidFill>
                <a:latin typeface="Arial"/>
                <a:ea typeface="Arial"/>
                <a:cs typeface="Arial"/>
              </a:defRPr>
            </a:pPr>
            <a:r>
              <a:rPr sz="4200" b="1" i="0">
                <a:solidFill>
                  <a:srgbClr val="3D8DFF"/>
                </a:solidFill>
                <a:latin typeface="Arial"/>
                <a:ea typeface="Arial"/>
                <a:cs typeface="Arial"/>
              </a:rPr>
              <a:t>2</a:t>
            </a:r>
          </a:p>
        </p:txBody>
      </p:sp>
      <p:sp>
        <p:nvSpPr>
          <p:cNvPr id="8" name="text">
            <a:extLst xmlns:a="http://schemas.openxmlformats.org/drawingml/2006/main">
              <a:ext uri="{FF2B5EF4-FFF2-40B4-BE49-F238E27FC236}">
                <a16:creationId xmlns:a16="http://schemas.microsoft.com/office/drawing/2014/main" id="{02E2BC42-933D-4798-A69F-49452425691C}"/>
              </a:ext>
            </a:extLst>
          </p:cNvPr>
          <p:cNvSpPr>
            <a:spLocks xmlns:a="http://schemas.openxmlformats.org/drawingml/2006/main" noGrp="1"/>
          </p:cNvSpPr>
          <p:nvPr/>
        </p:nvSpPr>
        <p:spPr>
          <a:xfrm xmlns:a="http://schemas.openxmlformats.org/drawingml/2006/main">
            <a:off x="5200650" y="39624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i="0">
                <a:solidFill>
                  <a:srgbClr val="FFFFFF"/>
                </a:solidFill>
                <a:latin typeface="Arial"/>
                <a:ea typeface="Arial"/>
                <a:cs typeface="Arial"/>
              </a:defRPr>
            </a:pPr>
            <a:r>
              <a:rPr sz="1800" b="1" i="0">
                <a:solidFill>
                  <a:srgbClr val="FFFFFF"/>
                </a:solidFill>
                <a:latin typeface="Arial"/>
                <a:ea typeface="Arial"/>
                <a:cs typeface="Arial"/>
              </a:rPr>
              <a:t>Find a witness</a:t>
            </a:r>
          </a:p>
        </p:txBody>
      </p:sp>
      <p:sp>
        <p:nvSpPr>
          <p:cNvPr id="9" name="text">
            <a:extLst xmlns:a="http://schemas.openxmlformats.org/drawingml/2006/main">
              <a:ext uri="{FF2B5EF4-FFF2-40B4-BE49-F238E27FC236}">
                <a16:creationId xmlns:a16="http://schemas.microsoft.com/office/drawing/2014/main" id="{317E6236-9590-4E03-8425-40F61F37DC8B}"/>
              </a:ext>
            </a:extLst>
          </p:cNvPr>
          <p:cNvSpPr>
            <a:spLocks xmlns:a="http://schemas.openxmlformats.org/drawingml/2006/main" noGrp="1"/>
          </p:cNvSpPr>
          <p:nvPr/>
        </p:nvSpPr>
        <p:spPr>
          <a:xfrm xmlns:a="http://schemas.openxmlformats.org/drawingml/2006/main">
            <a:off x="7943850" y="3810000"/>
            <a:ext cx="85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57"/>
          </a:bodyPr>
          <a:lstStyle xmlns:a="http://schemas.openxmlformats.org/drawingml/2006/main"/>
          <a:p xmlns:a="http://schemas.openxmlformats.org/drawingml/2006/main">
            <a:pPr algn="l">
              <a:defRPr sz="4200" b="1" i="0">
                <a:solidFill>
                  <a:srgbClr val="3D8DFF"/>
                </a:solidFill>
                <a:latin typeface="Arial"/>
                <a:ea typeface="Arial"/>
                <a:cs typeface="Arial"/>
              </a:defRPr>
            </a:pPr>
            <a:r>
              <a:rPr sz="4200" b="1" i="0">
                <a:solidFill>
                  <a:srgbClr val="3D8DFF"/>
                </a:solidFill>
                <a:latin typeface="Arial"/>
                <a:ea typeface="Arial"/>
                <a:cs typeface="Arial"/>
              </a:rPr>
              <a:t>3</a:t>
            </a:r>
          </a:p>
        </p:txBody>
      </p:sp>
      <p:sp>
        <p:nvSpPr>
          <p:cNvPr id="10" name="text">
            <a:extLst xmlns:a="http://schemas.openxmlformats.org/drawingml/2006/main">
              <a:ext uri="{FF2B5EF4-FFF2-40B4-BE49-F238E27FC236}">
                <a16:creationId xmlns:a16="http://schemas.microsoft.com/office/drawing/2014/main" id="{67CE3144-14AF-497F-8EE4-B2D95E114DDA}"/>
              </a:ext>
            </a:extLst>
          </p:cNvPr>
          <p:cNvSpPr>
            <a:spLocks xmlns:a="http://schemas.openxmlformats.org/drawingml/2006/main" noGrp="1"/>
          </p:cNvSpPr>
          <p:nvPr/>
        </p:nvSpPr>
        <p:spPr>
          <a:xfrm xmlns:a="http://schemas.openxmlformats.org/drawingml/2006/main">
            <a:off x="8801100" y="39624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685"/>
          </a:bodyPr>
          <a:lstStyle xmlns:a="http://schemas.openxmlformats.org/drawingml/2006/main"/>
          <a:p xmlns:a="http://schemas.openxmlformats.org/drawingml/2006/main">
            <a:pPr algn="l">
              <a:defRPr sz="1800" b="1" i="0">
                <a:solidFill>
                  <a:srgbClr val="FFFFFF"/>
                </a:solidFill>
                <a:latin typeface="Arial"/>
                <a:ea typeface="Arial"/>
                <a:cs typeface="Arial"/>
              </a:defRPr>
            </a:pPr>
            <a:r>
              <a:rPr sz="1800" b="1" i="0">
                <a:solidFill>
                  <a:srgbClr val="FFFFFF"/>
                </a:solidFill>
                <a:latin typeface="Arial"/>
                <a:ea typeface="Arial"/>
                <a:cs typeface="Arial"/>
              </a:rPr>
              <a:t>Close the lower bound</a:t>
            </a:r>
          </a:p>
        </p:txBody>
      </p:sp>
      <p:sp>
        <p:nvSpPr>
          <p:cNvPr id="11" name="">
            <a:extLst xmlns:a="http://schemas.openxmlformats.org/drawingml/2006/main">
              <a:ext uri="{FF2B5EF4-FFF2-40B4-BE49-F238E27FC236}">
                <a16:creationId xmlns:a16="http://schemas.microsoft.com/office/drawing/2014/main" id="{991CBDC7-6E93-46AA-8A6A-4A4F3E66D02A}"/>
              </a:ext>
            </a:extLst>
          </p:cNvPr>
          <p:cNvSpPr>
            <a:spLocks xmlns:a="http://schemas.openxmlformats.org/drawingml/2006/main" noGrp="1"/>
          </p:cNvSpPr>
          <p:nvPr/>
        </p:nvSpPr>
        <p:spPr>
          <a:xfrm xmlns:a="http://schemas.openxmlformats.org/drawingml/2006/main">
            <a:off x="609600" y="5219700"/>
            <a:ext cx="10668000" cy="647700"/>
          </a:xfrm>
          <a:prstGeom xmlns:a="http://schemas.openxmlformats.org/drawingml/2006/main" prst="rect">
            <a:avLst/>
          </a:prstGeom>
          <a:solidFill xmlns:a="http://schemas.openxmlformats.org/drawingml/2006/main">
            <a:srgbClr val="111721"/>
          </a:solidFill>
          <a:ln xmlns:a="http://schemas.openxmlformats.org/drawingml/2006/main" w="9525">
            <a:solidFill>
              <a:srgbClr val="343A44"/>
            </a:solidFill>
            <a:prstDash val="solid"/>
          </a:ln>
        </p:spPr>
        <p:txBody xmlns:a="http://schemas.openxmlformats.org/drawingml/2006/main">
          <a:bodyPr/>
          <a:p/>
        </p:txBody>
      </p:sp>
      <p:sp>
        <p:nvSpPr>
          <p:cNvPr id="12" name="text">
            <a:extLst xmlns:a="http://schemas.openxmlformats.org/drawingml/2006/main">
              <a:ext uri="{FF2B5EF4-FFF2-40B4-BE49-F238E27FC236}">
                <a16:creationId xmlns:a16="http://schemas.microsoft.com/office/drawing/2014/main" id="{9619D3EC-8577-4B2A-A5A9-055BED89E525}"/>
              </a:ext>
            </a:extLst>
          </p:cNvPr>
          <p:cNvSpPr>
            <a:spLocks xmlns:a="http://schemas.openxmlformats.org/drawingml/2006/main" noGrp="1"/>
          </p:cNvSpPr>
          <p:nvPr/>
        </p:nvSpPr>
        <p:spPr>
          <a:xfrm xmlns:a="http://schemas.openxmlformats.org/drawingml/2006/main">
            <a:off x="819150" y="5391150"/>
            <a:ext cx="10248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i="0">
                <a:solidFill>
                  <a:srgbClr val="6DCBF4"/>
                </a:solidFill>
                <a:latin typeface="Arial"/>
                <a:ea typeface="Arial"/>
                <a:cs typeface="Arial"/>
              </a:defRPr>
            </a:pPr>
            <a:r>
              <a:rPr sz="1725" b="1" i="0">
                <a:solidFill>
                  <a:srgbClr val="6DCBF4"/>
                </a:solidFill>
                <a:latin typeface="Arial"/>
                <a:ea typeface="Arial"/>
                <a:cs typeface="Arial"/>
              </a:rPr>
              <a:t>Press the right arrow key to start the demo</a:t>
            </a:r>
          </a:p>
        </p:txBody>
      </p:sp>
      <p:sp>
        <p:nvSpPr>
          <p:cNvPr id="13" name="text">
            <a:extLst xmlns:a="http://schemas.openxmlformats.org/drawingml/2006/main">
              <a:ext uri="{FF2B5EF4-FFF2-40B4-BE49-F238E27FC236}">
                <a16:creationId xmlns:a16="http://schemas.microsoft.com/office/drawing/2014/main" id="{8FF42CB0-A5A2-4B0C-8D5E-AFB51039A9D6}"/>
              </a:ext>
            </a:extLst>
          </p:cNvPr>
          <p:cNvSpPr>
            <a:spLocks xmlns:a="http://schemas.openxmlformats.org/drawingml/2006/main" noGrp="1"/>
          </p:cNvSpPr>
          <p:nvPr/>
        </p:nvSpPr>
        <p:spPr>
          <a:xfrm xmlns:a="http://schemas.openxmlformats.org/drawingml/2006/main">
            <a:off x="111252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8F98A5"/>
                </a:solidFill>
                <a:latin typeface="Arial"/>
                <a:ea typeface="Arial"/>
                <a:cs typeface="Arial"/>
              </a:defRPr>
            </a:pPr>
            <a:r>
              <a:rPr sz="825" b="0" i="0">
                <a:solidFill>
                  <a:srgbClr val="8F98A5"/>
                </a:solidFill>
                <a:latin typeface="Arial"/>
                <a:ea typeface="Arial"/>
                <a:cs typeface="Arial"/>
              </a:rPr>
              <a:t>10</a:t>
            </a:r>
          </a:p>
        </p:txBody>
      </p:sp>
    </p:spTree>
    <p:extLst>
      <p:ext uri="{BB962C8B-B14F-4D97-AF65-F5344CB8AC3E}">
        <p14:creationId xmlns:p14="http://schemas.microsoft.com/office/powerpoint/2010/main" val="3905186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
            <a:extLst xmlns:a="http://schemas.openxmlformats.org/drawingml/2006/main">
              <a:ext uri="{FF2B5EF4-FFF2-40B4-BE49-F238E27FC236}">
                <a16:creationId xmlns:a16="http://schemas.microsoft.com/office/drawing/2014/main" id="{BDFE584E-7CC5-4C20-95BB-AA8B1DDA82D6}"/>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LIVE EXACTNESS DEMO</a:t>
            </a:r>
          </a:p>
        </p:txBody>
      </p:sp>
      <p:sp>
        <p:nvSpPr>
          <p:cNvPr id="2" name="slide-title">
            <a:extLst xmlns:a="http://schemas.openxmlformats.org/drawingml/2006/main">
              <a:ext uri="{FF2B5EF4-FFF2-40B4-BE49-F238E27FC236}">
                <a16:creationId xmlns:a16="http://schemas.microsoft.com/office/drawing/2014/main" id="{A447D1D2-C930-422D-B381-CFA731E970EB}"/>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The example has six mechanisms and three detectors</a:t>
            </a:r>
          </a:p>
        </p:txBody>
      </p:sp>
      <p:sp>
        <p:nvSpPr>
          <p:cNvPr id="3" name="">
            <a:extLst xmlns:a="http://schemas.openxmlformats.org/drawingml/2006/main">
              <a:ext uri="{FF2B5EF4-FFF2-40B4-BE49-F238E27FC236}">
                <a16:creationId xmlns:a16="http://schemas.microsoft.com/office/drawing/2014/main" id="{5CB08588-0E35-40DF-B48A-60DF4C59078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95443493-6B15-4A85-905B-4B39D2DEEBE0}"/>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FE004F7-7517-47AF-BD15-61BD029A3F48}"/>
              </a:ext>
            </a:extLst>
          </p:cNvPr>
          <p:cNvSpPr>
            <a:spLocks xmlns:a="http://schemas.openxmlformats.org/drawingml/2006/main" noGrp="1"/>
          </p:cNvSpPr>
          <p:nvPr/>
        </p:nvSpPr>
        <p:spPr>
          <a:xfrm xmlns:a="http://schemas.openxmlformats.org/drawingml/2006/main">
            <a:off x="9886950" y="285750"/>
            <a:ext cx="1333500" cy="2667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6" name="text">
            <a:extLst xmlns:a="http://schemas.openxmlformats.org/drawingml/2006/main">
              <a:ext uri="{FF2B5EF4-FFF2-40B4-BE49-F238E27FC236}">
                <a16:creationId xmlns:a16="http://schemas.microsoft.com/office/drawing/2014/main" id="{AF4085BB-1674-447C-A352-C9FD79A282FA}"/>
              </a:ext>
            </a:extLst>
          </p:cNvPr>
          <p:cNvSpPr>
            <a:spLocks xmlns:a="http://schemas.openxmlformats.org/drawingml/2006/main" noGrp="1"/>
          </p:cNvSpPr>
          <p:nvPr/>
        </p:nvSpPr>
        <p:spPr>
          <a:xfrm xmlns:a="http://schemas.openxmlformats.org/drawingml/2006/main">
            <a:off x="9963150" y="333375"/>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DEMO 1/3</a:t>
            </a:r>
          </a:p>
        </p:txBody>
      </p:sp>
      <p:sp>
        <p:nvSpPr>
          <p:cNvPr id="7" name="text">
            <a:extLst xmlns:a="http://schemas.openxmlformats.org/drawingml/2006/main">
              <a:ext uri="{FF2B5EF4-FFF2-40B4-BE49-F238E27FC236}">
                <a16:creationId xmlns:a16="http://schemas.microsoft.com/office/drawing/2014/main" id="{6CAC863A-B7CD-4DD4-BF74-9D97AB151072}"/>
              </a:ext>
            </a:extLst>
          </p:cNvPr>
          <p:cNvSpPr>
            <a:spLocks xmlns:a="http://schemas.openxmlformats.org/drawingml/2006/main" noGrp="1"/>
          </p:cNvSpPr>
          <p:nvPr/>
        </p:nvSpPr>
        <p:spPr>
          <a:xfrm xmlns:a="http://schemas.openxmlformats.org/drawingml/2006/main">
            <a:off x="9685020" y="6115050"/>
            <a:ext cx="15544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3D8DFF"/>
                </a:solidFill>
                <a:latin typeface="Arial"/>
                <a:ea typeface="Arial"/>
                <a:cs typeface="Arial"/>
              </a:defRPr>
            </a:pPr>
            <a:r>
              <a:rPr sz="975" b="1" i="0">
                <a:solidFill>
                  <a:srgbClr val="3D8DFF"/>
                </a:solidFill>
                <a:latin typeface="Arial"/>
                <a:ea typeface="Arial"/>
                <a:cs typeface="Arial"/>
              </a:rPr>
              <a:t>Press right arrow</a:t>
            </a:r>
          </a:p>
        </p:txBody>
      </p:sp>
      <p:graphicFrame>
        <p:nvGraphicFramePr>
          <p:cNvPr id="25" name=""/>
          <p:cNvGraphicFramePr/>
          <p:nvPr/>
        </p:nvGraphicFramePr>
        <p:xfrm>
          <a:off xmlns:a="http://schemas.openxmlformats.org/drawingml/2006/main" x="666750" y="1828800"/>
          <a:ext xmlns:a="http://schemas.openxmlformats.org/drawingml/2006/main" cx="6667500" cy="2952750"/>
        </p:xfrm>
        <a:graphic xmlns:a="http://schemas.openxmlformats.org/drawingml/2006/main">
          <a:graphicData uri="http://schemas.openxmlformats.org/drawingml/2006/table">
            <a:tbl>
              <a:tblPr/>
              <a:tblGrid>
                <a:gridCol w="838200"/>
                <a:gridCol w="971550"/>
                <a:gridCol w="971550"/>
                <a:gridCol w="971550"/>
                <a:gridCol w="971550"/>
                <a:gridCol w="971550"/>
                <a:gridCol w="971550"/>
              </a:tblGrid>
              <a:tr h="590550">
                <a:tc>
                  <a:txBody>
                    <a:bodyPr/>
                    <a:lstStyle/>
                    <a:p>
                      <a:r>
                        <a:rPr sz="1350" b="1">
                          <a:solidFill>
                            <a:srgbClr val="FFFFFF"/>
                          </a:solidFill>
                        </a:rPr>
                        <a:t/>
                      </a:r>
                    </a:p>
                  </a:txBody>
                  <a:tcPr marL="91440" marR="91440" marT="45720" marB="45720" anchor="ctr">
                    <a:solidFill>
                      <a:srgbClr val="0B0F14"/>
                    </a:solidFill>
                  </a:tcPr>
                </a:tc>
                <a:tc>
                  <a:txBody>
                    <a:bodyPr/>
                    <a:lstStyle/>
                    <a:p>
                      <a:r>
                        <a:rPr sz="1350" b="1">
                          <a:solidFill>
                            <a:srgbClr val="FFFFFF"/>
                          </a:solidFill>
                        </a:rPr>
                        <a:t>e1</a:t>
                      </a:r>
                    </a:p>
                  </a:txBody>
                  <a:tcPr marL="91440" marR="91440" marT="45720" marB="45720" anchor="ctr">
                    <a:solidFill>
                      <a:srgbClr val="0B0F14"/>
                    </a:solidFill>
                  </a:tcPr>
                </a:tc>
                <a:tc>
                  <a:txBody>
                    <a:bodyPr/>
                    <a:lstStyle/>
                    <a:p>
                      <a:r>
                        <a:rPr sz="1350" b="1">
                          <a:solidFill>
                            <a:srgbClr val="FFFFFF"/>
                          </a:solidFill>
                        </a:rPr>
                        <a:t>e2</a:t>
                      </a:r>
                    </a:p>
                  </a:txBody>
                  <a:tcPr marL="91440" marR="91440" marT="45720" marB="45720" anchor="ctr">
                    <a:solidFill>
                      <a:srgbClr val="0B0F14"/>
                    </a:solidFill>
                  </a:tcPr>
                </a:tc>
                <a:tc>
                  <a:txBody>
                    <a:bodyPr/>
                    <a:lstStyle/>
                    <a:p>
                      <a:r>
                        <a:rPr sz="1350" b="1">
                          <a:solidFill>
                            <a:srgbClr val="FFFFFF"/>
                          </a:solidFill>
                        </a:rPr>
                        <a:t>e3</a:t>
                      </a:r>
                    </a:p>
                  </a:txBody>
                  <a:tcPr marL="91440" marR="91440" marT="45720" marB="45720" anchor="ctr">
                    <a:solidFill>
                      <a:srgbClr val="0B0F14"/>
                    </a:solidFill>
                  </a:tcPr>
                </a:tc>
                <a:tc>
                  <a:txBody>
                    <a:bodyPr/>
                    <a:lstStyle/>
                    <a:p>
                      <a:r>
                        <a:rPr sz="1350" b="1">
                          <a:solidFill>
                            <a:srgbClr val="FFFFFF"/>
                          </a:solidFill>
                        </a:rPr>
                        <a:t>e4</a:t>
                      </a:r>
                    </a:p>
                  </a:txBody>
                  <a:tcPr marL="91440" marR="91440" marT="45720" marB="45720" anchor="ctr">
                    <a:solidFill>
                      <a:srgbClr val="0B0F14"/>
                    </a:solidFill>
                  </a:tcPr>
                </a:tc>
                <a:tc>
                  <a:txBody>
                    <a:bodyPr/>
                    <a:lstStyle/>
                    <a:p>
                      <a:r>
                        <a:rPr sz="1350" b="1">
                          <a:solidFill>
                            <a:srgbClr val="FFFFFF"/>
                          </a:solidFill>
                        </a:rPr>
                        <a:t>e5</a:t>
                      </a:r>
                    </a:p>
                  </a:txBody>
                  <a:tcPr marL="91440" marR="91440" marT="45720" marB="45720" anchor="ctr">
                    <a:solidFill>
                      <a:srgbClr val="0B0F14"/>
                    </a:solidFill>
                  </a:tcPr>
                </a:tc>
                <a:tc>
                  <a:txBody>
                    <a:bodyPr/>
                    <a:lstStyle/>
                    <a:p>
                      <a:r>
                        <a:rPr sz="1350" b="1">
                          <a:solidFill>
                            <a:srgbClr val="FFFFFF"/>
                          </a:solidFill>
                        </a:rPr>
                        <a:t>e6</a:t>
                      </a:r>
                    </a:p>
                  </a:txBody>
                  <a:tcPr marL="91440" marR="91440" marT="45720" marB="45720" anchor="ctr">
                    <a:solidFill>
                      <a:srgbClr val="0B0F14"/>
                    </a:solidFill>
                  </a:tcPr>
                </a:tc>
              </a:tr>
              <a:tr h="590550">
                <a:tc>
                  <a:txBody>
                    <a:bodyPr/>
                    <a:lstStyle/>
                    <a:p>
                      <a:r>
                        <a:rPr sz="1350" b="1">
                          <a:solidFill>
                            <a:srgbClr val="0B0F14"/>
                          </a:solidFill>
                        </a:rPr>
                        <a:t>h1</a:t>
                      </a:r>
                    </a:p>
                  </a:txBody>
                  <a:tcPr marL="91440" marR="91440" marT="45720" marB="45720" anchor="ctr">
                    <a:solidFill>
                      <a:srgbClr val="EFF1F3"/>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r>
              <a:tr h="590550">
                <a:tc>
                  <a:txBody>
                    <a:bodyPr/>
                    <a:lstStyle/>
                    <a:p>
                      <a:r>
                        <a:rPr sz="1350" b="1">
                          <a:solidFill>
                            <a:srgbClr val="0B0F14"/>
                          </a:solidFill>
                        </a:rPr>
                        <a:t>h2</a:t>
                      </a:r>
                    </a:p>
                  </a:txBody>
                  <a:tcPr marL="91440" marR="91440" marT="45720" marB="45720" anchor="ctr">
                    <a:solidFill>
                      <a:srgbClr val="EFF1F3"/>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r>
              <a:tr h="590550">
                <a:tc>
                  <a:txBody>
                    <a:bodyPr/>
                    <a:lstStyle/>
                    <a:p>
                      <a:r>
                        <a:rPr sz="1350" b="1">
                          <a:solidFill>
                            <a:srgbClr val="0B0F14"/>
                          </a:solidFill>
                        </a:rPr>
                        <a:t>h3</a:t>
                      </a:r>
                    </a:p>
                  </a:txBody>
                  <a:tcPr marL="91440" marR="91440" marT="45720" marB="45720" anchor="ctr">
                    <a:solidFill>
                      <a:srgbClr val="EFF1F3"/>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r>
              <a:tr h="590550">
                <a:tc>
                  <a:txBody>
                    <a:bodyPr/>
                    <a:lstStyle/>
                    <a:p>
                      <a:r>
                        <a:rPr sz="1350" b="1">
                          <a:solidFill>
                            <a:srgbClr val="0B0F14"/>
                          </a:solidFill>
                        </a:rPr>
                        <a:t>L</a:t>
                      </a:r>
                    </a:p>
                  </a:txBody>
                  <a:tcPr marL="91440" marR="91440" marT="45720" marB="45720" anchor="ctr">
                    <a:solidFill>
                      <a:srgbClr val="EFF1F3"/>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E73956E-6D9C-4B54-ACD8-CBDBDA937492}"/>
              </a:ext>
            </a:extLst>
          </p:cNvPr>
          <p:cNvSpPr>
            <a:spLocks xmlns:a="http://schemas.openxmlformats.org/drawingml/2006/main" noGrp="1"/>
          </p:cNvSpPr>
          <p:nvPr/>
        </p:nvSpPr>
        <p:spPr>
          <a:xfrm xmlns:a="http://schemas.openxmlformats.org/drawingml/2006/main">
            <a:off x="7848600" y="1828800"/>
            <a:ext cx="3638550" cy="29527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10" name="text">
            <a:extLst xmlns:a="http://schemas.openxmlformats.org/drawingml/2006/main">
              <a:ext uri="{FF2B5EF4-FFF2-40B4-BE49-F238E27FC236}">
                <a16:creationId xmlns:a16="http://schemas.microsoft.com/office/drawing/2014/main" id="{C318D871-F7C5-48F3-8DD9-A6863D154C82}"/>
              </a:ext>
            </a:extLst>
          </p:cNvPr>
          <p:cNvSpPr>
            <a:spLocks xmlns:a="http://schemas.openxmlformats.org/drawingml/2006/main" noGrp="1"/>
          </p:cNvSpPr>
          <p:nvPr/>
        </p:nvSpPr>
        <p:spPr>
          <a:xfrm xmlns:a="http://schemas.openxmlformats.org/drawingml/2006/main">
            <a:off x="8115300" y="2076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Objective</a:t>
            </a:r>
          </a:p>
        </p:txBody>
      </p:sp>
      <p:sp>
        <p:nvSpPr>
          <p:cNvPr id="11" name="text">
            <a:extLst xmlns:a="http://schemas.openxmlformats.org/drawingml/2006/main">
              <a:ext uri="{FF2B5EF4-FFF2-40B4-BE49-F238E27FC236}">
                <a16:creationId xmlns:a16="http://schemas.microsoft.com/office/drawing/2014/main" id="{7B7B09B6-FB2A-4450-96BC-EFC075A4018C}"/>
              </a:ext>
            </a:extLst>
          </p:cNvPr>
          <p:cNvSpPr>
            <a:spLocks xmlns:a="http://schemas.openxmlformats.org/drawingml/2006/main" noGrp="1"/>
          </p:cNvSpPr>
          <p:nvPr/>
        </p:nvSpPr>
        <p:spPr>
          <a:xfrm xmlns:a="http://schemas.openxmlformats.org/drawingml/2006/main">
            <a:off x="8115300" y="2571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56"/>
          </a:bodyPr>
          <a:lstStyle xmlns:a="http://schemas.openxmlformats.org/drawingml/2006/main"/>
          <a:p xmlns:a="http://schemas.openxmlformats.org/drawingml/2006/main">
            <a:pPr algn="l">
              <a:defRPr sz="2250" b="1" i="0">
                <a:solidFill>
                  <a:srgbClr val="0B0F14"/>
                </a:solidFill>
                <a:latin typeface="Arial"/>
                <a:ea typeface="Arial"/>
                <a:cs typeface="Arial"/>
              </a:defRPr>
            </a:pPr>
            <a:r>
              <a:rPr sz="2250" b="1" i="0">
                <a:solidFill>
                  <a:srgbClr val="0B0F14"/>
                </a:solidFill>
                <a:latin typeface="Arial"/>
                <a:ea typeface="Arial"/>
                <a:cs typeface="Arial"/>
              </a:rPr>
              <a:t>min  weight(x)</a:t>
            </a:r>
          </a:p>
        </p:txBody>
      </p:sp>
      <p:sp>
        <p:nvSpPr>
          <p:cNvPr id="12" name="text">
            <a:extLst xmlns:a="http://schemas.openxmlformats.org/drawingml/2006/main">
              <a:ext uri="{FF2B5EF4-FFF2-40B4-BE49-F238E27FC236}">
                <a16:creationId xmlns:a16="http://schemas.microsoft.com/office/drawing/2014/main" id="{BDC6A9BC-B544-4EC3-BEBE-C88CBED25162}"/>
              </a:ext>
            </a:extLst>
          </p:cNvPr>
          <p:cNvSpPr>
            <a:spLocks xmlns:a="http://schemas.openxmlformats.org/drawingml/2006/main" noGrp="1"/>
          </p:cNvSpPr>
          <p:nvPr/>
        </p:nvSpPr>
        <p:spPr>
          <a:xfrm xmlns:a="http://schemas.openxmlformats.org/drawingml/2006/main">
            <a:off x="8115300" y="31432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subject to</a:t>
            </a:r>
          </a:p>
        </p:txBody>
      </p:sp>
      <p:sp>
        <p:nvSpPr>
          <p:cNvPr id="13" name="text">
            <a:extLst xmlns:a="http://schemas.openxmlformats.org/drawingml/2006/main">
              <a:ext uri="{FF2B5EF4-FFF2-40B4-BE49-F238E27FC236}">
                <a16:creationId xmlns:a16="http://schemas.microsoft.com/office/drawing/2014/main" id="{3070D828-B1A3-4489-A60C-41E5ECD4F50C}"/>
              </a:ext>
            </a:extLst>
          </p:cNvPr>
          <p:cNvSpPr>
            <a:spLocks xmlns:a="http://schemas.openxmlformats.org/drawingml/2006/main" noGrp="1"/>
          </p:cNvSpPr>
          <p:nvPr/>
        </p:nvSpPr>
        <p:spPr>
          <a:xfrm xmlns:a="http://schemas.openxmlformats.org/drawingml/2006/main">
            <a:off x="8115300" y="35242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54"/>
          </a:bodyPr>
          <a:lstStyle xmlns:a="http://schemas.openxmlformats.org/drawingml/2006/main"/>
          <a:p xmlns:a="http://schemas.openxmlformats.org/drawingml/2006/main">
            <a:pPr algn="l">
              <a:defRPr sz="2025" b="1" i="0">
                <a:solidFill>
                  <a:srgbClr val="0B0F14"/>
                </a:solidFill>
                <a:latin typeface="Arial"/>
                <a:ea typeface="Arial"/>
                <a:cs typeface="Arial"/>
              </a:defRPr>
            </a:pPr>
            <a:r>
              <a:rPr sz="2025" b="1" i="0">
                <a:solidFill>
                  <a:srgbClr val="0B0F14"/>
                </a:solidFill>
                <a:latin typeface="Arial"/>
                <a:ea typeface="Arial"/>
                <a:cs typeface="Arial"/>
              </a:rPr>
              <a:t>Hx = 0</a:t>
            </a:r>
          </a:p>
        </p:txBody>
      </p:sp>
      <p:sp>
        <p:nvSpPr>
          <p:cNvPr id="14" name="text">
            <a:extLst xmlns:a="http://schemas.openxmlformats.org/drawingml/2006/main">
              <a:ext uri="{FF2B5EF4-FFF2-40B4-BE49-F238E27FC236}">
                <a16:creationId xmlns:a16="http://schemas.microsoft.com/office/drawing/2014/main" id="{BA98602C-3FDF-4814-B1C1-8975573E2D52}"/>
              </a:ext>
            </a:extLst>
          </p:cNvPr>
          <p:cNvSpPr>
            <a:spLocks xmlns:a="http://schemas.openxmlformats.org/drawingml/2006/main" noGrp="1"/>
          </p:cNvSpPr>
          <p:nvPr/>
        </p:nvSpPr>
        <p:spPr>
          <a:xfrm xmlns:a="http://schemas.openxmlformats.org/drawingml/2006/main">
            <a:off x="8115300" y="40005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54"/>
          </a:bodyPr>
          <a:lstStyle xmlns:a="http://schemas.openxmlformats.org/drawingml/2006/main"/>
          <a:p xmlns:a="http://schemas.openxmlformats.org/drawingml/2006/main">
            <a:pPr algn="l">
              <a:defRPr sz="2025" b="1" i="0">
                <a:solidFill>
                  <a:srgbClr val="3D8DFF"/>
                </a:solidFill>
                <a:latin typeface="Arial"/>
                <a:ea typeface="Arial"/>
                <a:cs typeface="Arial"/>
              </a:defRPr>
            </a:pPr>
            <a:r>
              <a:rPr sz="2025" b="1" i="0">
                <a:solidFill>
                  <a:srgbClr val="3D8DFF"/>
                </a:solidFill>
                <a:latin typeface="Arial"/>
                <a:ea typeface="Arial"/>
                <a:cs typeface="Arial"/>
              </a:rPr>
              <a:t>Lx = 1</a:t>
            </a:r>
          </a:p>
        </p:txBody>
      </p:sp>
      <p:sp>
        <p:nvSpPr>
          <p:cNvPr id="15" name="text">
            <a:extLst xmlns:a="http://schemas.openxmlformats.org/drawingml/2006/main">
              <a:ext uri="{FF2B5EF4-FFF2-40B4-BE49-F238E27FC236}">
                <a16:creationId xmlns:a16="http://schemas.microsoft.com/office/drawing/2014/main" id="{2894B036-3816-4169-94B6-D4CE97891E56}"/>
              </a:ext>
            </a:extLst>
          </p:cNvPr>
          <p:cNvSpPr>
            <a:spLocks xmlns:a="http://schemas.openxmlformats.org/drawingml/2006/main" noGrp="1"/>
          </p:cNvSpPr>
          <p:nvPr/>
        </p:nvSpPr>
        <p:spPr>
          <a:xfrm xmlns:a="http://schemas.openxmlformats.org/drawingml/2006/main">
            <a:off x="666750" y="525780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0B0F14"/>
                </a:solidFill>
                <a:latin typeface="Arial"/>
                <a:ea typeface="Arial"/>
                <a:cs typeface="Arial"/>
              </a:defRPr>
            </a:pPr>
            <a:r>
              <a:rPr sz="1650" b="1" i="0">
                <a:solidFill>
                  <a:srgbClr val="0B0F14"/>
                </a:solidFill>
                <a:latin typeface="Arial"/>
                <a:ea typeface="Arial"/>
                <a:cs typeface="Arial"/>
              </a:rPr>
              <a:t>Each detector column is different and not zero.</a:t>
            </a:r>
          </a:p>
        </p:txBody>
      </p:sp>
      <p:sp>
        <p:nvSpPr>
          <p:cNvPr id="16" name="text">
            <a:extLst xmlns:a="http://schemas.openxmlformats.org/drawingml/2006/main">
              <a:ext uri="{FF2B5EF4-FFF2-40B4-BE49-F238E27FC236}">
                <a16:creationId xmlns:a16="http://schemas.microsoft.com/office/drawing/2014/main" id="{837D8E80-417F-4A33-B0E1-5E0FF3F81070}"/>
              </a:ext>
            </a:extLst>
          </p:cNvPr>
          <p:cNvSpPr>
            <a:spLocks xmlns:a="http://schemas.openxmlformats.org/drawingml/2006/main" noGrp="1"/>
          </p:cNvSpPr>
          <p:nvPr/>
        </p:nvSpPr>
        <p:spPr>
          <a:xfrm xmlns:a="http://schemas.openxmlformats.org/drawingml/2006/main">
            <a:off x="7848600" y="5257800"/>
            <a:ext cx="3638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D6673"/>
                </a:solidFill>
                <a:latin typeface="Arial"/>
                <a:ea typeface="Arial"/>
                <a:cs typeface="Arial"/>
              </a:defRPr>
            </a:pPr>
            <a:r>
              <a:rPr sz="1650" b="0" i="0">
                <a:solidFill>
                  <a:srgbClr val="5D6673"/>
                </a:solidFill>
                <a:latin typeface="Arial"/>
                <a:ea typeface="Arial"/>
                <a:cs typeface="Arial"/>
              </a:rPr>
              <a:t>This fact closes weights 1 and 2.</a:t>
            </a:r>
          </a:p>
        </p:txBody>
      </p:sp>
      <p:sp>
        <p:nvSpPr>
          <p:cNvPr id="17" name="visible-source">
            <a:extLst xmlns:a="http://schemas.openxmlformats.org/drawingml/2006/main">
              <a:ext uri="{FF2B5EF4-FFF2-40B4-BE49-F238E27FC236}">
                <a16:creationId xmlns:a16="http://schemas.microsoft.com/office/drawing/2014/main" id="{FBA2A126-6B8E-4F0A-B4F1-F3C7F6236AE7}"/>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Demo source: this slide shows the full matrix</a:t>
            </a:r>
          </a:p>
        </p:txBody>
      </p:sp>
    </p:spTree>
    <p:extLst>
      <p:ext uri="{BB962C8B-B14F-4D97-AF65-F5344CB8AC3E}">
        <p14:creationId xmlns:p14="http://schemas.microsoft.com/office/powerpoint/2010/main" val="13330266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74491D15-121B-45AA-A1D6-D7D0006AB5D8}"/>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LIVE EXACTNESS DEMO</a:t>
            </a:r>
          </a:p>
        </p:txBody>
      </p:sp>
      <p:sp>
        <p:nvSpPr>
          <p:cNvPr id="2" name="slide-title">
            <a:extLst xmlns:a="http://schemas.openxmlformats.org/drawingml/2006/main">
              <a:ext uri="{FF2B5EF4-FFF2-40B4-BE49-F238E27FC236}">
                <a16:creationId xmlns:a16="http://schemas.microsoft.com/office/drawing/2014/main" id="{1B0D4C47-4953-478B-9561-CB233E34EED9}"/>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A weight-3 witness gives only the upper bound</a:t>
            </a:r>
          </a:p>
        </p:txBody>
      </p:sp>
      <p:sp>
        <p:nvSpPr>
          <p:cNvPr id="3" name="">
            <a:extLst xmlns:a="http://schemas.openxmlformats.org/drawingml/2006/main">
              <a:ext uri="{FF2B5EF4-FFF2-40B4-BE49-F238E27FC236}">
                <a16:creationId xmlns:a16="http://schemas.microsoft.com/office/drawing/2014/main" id="{EFAD9B66-2374-4F4C-84F0-097AF63E4D94}"/>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0D3E0437-7A03-40C7-9DD3-F2ACF8E97EB7}"/>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74E62C5B-C7BA-414E-9E54-F73A84F46AF4}"/>
              </a:ext>
            </a:extLst>
          </p:cNvPr>
          <p:cNvSpPr>
            <a:spLocks xmlns:a="http://schemas.openxmlformats.org/drawingml/2006/main" noGrp="1"/>
          </p:cNvSpPr>
          <p:nvPr/>
        </p:nvSpPr>
        <p:spPr>
          <a:xfrm xmlns:a="http://schemas.openxmlformats.org/drawingml/2006/main">
            <a:off x="9886950" y="285750"/>
            <a:ext cx="1333500" cy="2667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6" name="text">
            <a:extLst xmlns:a="http://schemas.openxmlformats.org/drawingml/2006/main">
              <a:ext uri="{FF2B5EF4-FFF2-40B4-BE49-F238E27FC236}">
                <a16:creationId xmlns:a16="http://schemas.microsoft.com/office/drawing/2014/main" id="{1765AE35-4E62-4235-A551-739CB508BB4E}"/>
              </a:ext>
            </a:extLst>
          </p:cNvPr>
          <p:cNvSpPr>
            <a:spLocks xmlns:a="http://schemas.openxmlformats.org/drawingml/2006/main" noGrp="1"/>
          </p:cNvSpPr>
          <p:nvPr/>
        </p:nvSpPr>
        <p:spPr>
          <a:xfrm xmlns:a="http://schemas.openxmlformats.org/drawingml/2006/main">
            <a:off x="9963150" y="333375"/>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DEMO 2/3</a:t>
            </a:r>
          </a:p>
        </p:txBody>
      </p:sp>
      <p:sp>
        <p:nvSpPr>
          <p:cNvPr id="7" name="text">
            <a:extLst xmlns:a="http://schemas.openxmlformats.org/drawingml/2006/main">
              <a:ext uri="{FF2B5EF4-FFF2-40B4-BE49-F238E27FC236}">
                <a16:creationId xmlns:a16="http://schemas.microsoft.com/office/drawing/2014/main" id="{E6E50DED-B952-4943-ABC7-678E0B9FAD6A}"/>
              </a:ext>
            </a:extLst>
          </p:cNvPr>
          <p:cNvSpPr>
            <a:spLocks xmlns:a="http://schemas.openxmlformats.org/drawingml/2006/main" noGrp="1"/>
          </p:cNvSpPr>
          <p:nvPr/>
        </p:nvSpPr>
        <p:spPr>
          <a:xfrm xmlns:a="http://schemas.openxmlformats.org/drawingml/2006/main">
            <a:off x="9685020" y="6115050"/>
            <a:ext cx="15544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3D8DFF"/>
                </a:solidFill>
                <a:latin typeface="Arial"/>
                <a:ea typeface="Arial"/>
                <a:cs typeface="Arial"/>
              </a:defRPr>
            </a:pPr>
            <a:r>
              <a:rPr sz="975" b="1" i="0">
                <a:solidFill>
                  <a:srgbClr val="3D8DFF"/>
                </a:solidFill>
                <a:latin typeface="Arial"/>
                <a:ea typeface="Arial"/>
                <a:cs typeface="Arial"/>
              </a:rPr>
              <a:t>Press right arrow</a:t>
            </a:r>
          </a:p>
        </p:txBody>
      </p:sp>
      <p:graphicFrame>
        <p:nvGraphicFramePr>
          <p:cNvPr id="27" name=""/>
          <p:cNvGraphicFramePr/>
          <p:nvPr/>
        </p:nvGraphicFramePr>
        <p:xfrm>
          <a:off xmlns:a="http://schemas.openxmlformats.org/drawingml/2006/main" x="666750" y="1828800"/>
          <a:ext xmlns:a="http://schemas.openxmlformats.org/drawingml/2006/main" cx="6667500" cy="2952750"/>
        </p:xfrm>
        <a:graphic xmlns:a="http://schemas.openxmlformats.org/drawingml/2006/main">
          <a:graphicData uri="http://schemas.openxmlformats.org/drawingml/2006/table">
            <a:tbl>
              <a:tblPr/>
              <a:tblGrid>
                <a:gridCol w="838200"/>
                <a:gridCol w="971550"/>
                <a:gridCol w="971550"/>
                <a:gridCol w="971550"/>
                <a:gridCol w="971550"/>
                <a:gridCol w="971550"/>
                <a:gridCol w="971550"/>
              </a:tblGrid>
              <a:tr h="590550">
                <a:tc>
                  <a:txBody>
                    <a:bodyPr/>
                    <a:lstStyle/>
                    <a:p>
                      <a:r>
                        <a:rPr sz="1350" b="1">
                          <a:solidFill>
                            <a:srgbClr val="FFFFFF"/>
                          </a:solidFill>
                        </a:rPr>
                        <a:t/>
                      </a:r>
                    </a:p>
                  </a:txBody>
                  <a:tcPr marL="91440" marR="91440" marT="45720" marB="45720" anchor="ctr">
                    <a:solidFill>
                      <a:srgbClr val="0B0F14"/>
                    </a:solidFill>
                  </a:tcPr>
                </a:tc>
                <a:tc>
                  <a:txBody>
                    <a:bodyPr/>
                    <a:lstStyle/>
                    <a:p>
                      <a:r>
                        <a:rPr sz="1350" b="1">
                          <a:solidFill>
                            <a:srgbClr val="FFFFFF"/>
                          </a:solidFill>
                        </a:rPr>
                        <a:t>e1</a:t>
                      </a:r>
                    </a:p>
                  </a:txBody>
                  <a:tcPr marL="91440" marR="91440" marT="45720" marB="45720" anchor="ctr">
                    <a:solidFill>
                      <a:srgbClr val="3D8DFF"/>
                    </a:solidFill>
                  </a:tcPr>
                </a:tc>
                <a:tc>
                  <a:txBody>
                    <a:bodyPr/>
                    <a:lstStyle/>
                    <a:p>
                      <a:r>
                        <a:rPr sz="1350" b="1">
                          <a:solidFill>
                            <a:srgbClr val="FFFFFF"/>
                          </a:solidFill>
                        </a:rPr>
                        <a:t>e2</a:t>
                      </a:r>
                    </a:p>
                  </a:txBody>
                  <a:tcPr marL="91440" marR="91440" marT="45720" marB="45720" anchor="ctr">
                    <a:solidFill>
                      <a:srgbClr val="3D8DFF"/>
                    </a:solidFill>
                  </a:tcPr>
                </a:tc>
                <a:tc>
                  <a:txBody>
                    <a:bodyPr/>
                    <a:lstStyle/>
                    <a:p>
                      <a:r>
                        <a:rPr sz="1350" b="1">
                          <a:solidFill>
                            <a:srgbClr val="FFFFFF"/>
                          </a:solidFill>
                        </a:rPr>
                        <a:t>e3</a:t>
                      </a:r>
                    </a:p>
                  </a:txBody>
                  <a:tcPr marL="91440" marR="91440" marT="45720" marB="45720" anchor="ctr">
                    <a:solidFill>
                      <a:srgbClr val="3D8DFF"/>
                    </a:solidFill>
                  </a:tcPr>
                </a:tc>
                <a:tc>
                  <a:txBody>
                    <a:bodyPr/>
                    <a:lstStyle/>
                    <a:p>
                      <a:r>
                        <a:rPr sz="1350" b="1">
                          <a:solidFill>
                            <a:srgbClr val="FFFFFF"/>
                          </a:solidFill>
                        </a:rPr>
                        <a:t>e4</a:t>
                      </a:r>
                    </a:p>
                  </a:txBody>
                  <a:tcPr marL="91440" marR="91440" marT="45720" marB="45720" anchor="ctr">
                    <a:solidFill>
                      <a:srgbClr val="0B0F14"/>
                    </a:solidFill>
                  </a:tcPr>
                </a:tc>
                <a:tc>
                  <a:txBody>
                    <a:bodyPr/>
                    <a:lstStyle/>
                    <a:p>
                      <a:r>
                        <a:rPr sz="1350" b="1">
                          <a:solidFill>
                            <a:srgbClr val="FFFFFF"/>
                          </a:solidFill>
                        </a:rPr>
                        <a:t>e5</a:t>
                      </a:r>
                    </a:p>
                  </a:txBody>
                  <a:tcPr marL="91440" marR="91440" marT="45720" marB="45720" anchor="ctr">
                    <a:solidFill>
                      <a:srgbClr val="0B0F14"/>
                    </a:solidFill>
                  </a:tcPr>
                </a:tc>
                <a:tc>
                  <a:txBody>
                    <a:bodyPr/>
                    <a:lstStyle/>
                    <a:p>
                      <a:r>
                        <a:rPr sz="1350" b="1">
                          <a:solidFill>
                            <a:srgbClr val="FFFFFF"/>
                          </a:solidFill>
                        </a:rPr>
                        <a:t>e6</a:t>
                      </a:r>
                    </a:p>
                  </a:txBody>
                  <a:tcPr marL="91440" marR="91440" marT="45720" marB="45720" anchor="ctr">
                    <a:solidFill>
                      <a:srgbClr val="0B0F14"/>
                    </a:solidFill>
                  </a:tcPr>
                </a:tc>
              </a:tr>
              <a:tr h="590550">
                <a:tc>
                  <a:txBody>
                    <a:bodyPr/>
                    <a:lstStyle/>
                    <a:p>
                      <a:r>
                        <a:rPr sz="1350" b="1">
                          <a:solidFill>
                            <a:srgbClr val="0B0F14"/>
                          </a:solidFill>
                        </a:rPr>
                        <a:t>h1</a:t>
                      </a:r>
                    </a:p>
                  </a:txBody>
                  <a:tcPr marL="91440" marR="91440" marT="45720" marB="45720" anchor="ctr">
                    <a:solidFill>
                      <a:srgbClr val="EFF1F3"/>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r>
              <a:tr h="590550">
                <a:tc>
                  <a:txBody>
                    <a:bodyPr/>
                    <a:lstStyle/>
                    <a:p>
                      <a:r>
                        <a:rPr sz="1350" b="1">
                          <a:solidFill>
                            <a:srgbClr val="0B0F14"/>
                          </a:solidFill>
                        </a:rPr>
                        <a:t>h2</a:t>
                      </a:r>
                    </a:p>
                  </a:txBody>
                  <a:tcPr marL="91440" marR="91440" marT="45720" marB="45720" anchor="ctr">
                    <a:solidFill>
                      <a:srgbClr val="EFF1F3"/>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425" b="1">
                          <a:solidFill>
                            <a:srgbClr val="0B0F14"/>
                          </a:solidFill>
                        </a:rPr>
                        <a:t>1</a:t>
                      </a:r>
                    </a:p>
                  </a:txBody>
                  <a:tcPr marL="91440" marR="91440" marT="45720" marB="45720" anchor="ctr">
                    <a:solidFill>
                      <a:srgbClr val="DCEBFF"/>
                    </a:solidFill>
                  </a:tcPr>
                </a:tc>
                <a:tc>
                  <a:txBody>
                    <a:bodyPr/>
                    <a:lstStyle/>
                    <a:p>
                      <a:r>
                        <a:rPr sz="1425" b="1">
                          <a:solidFill>
                            <a:srgbClr val="0B0F14"/>
                          </a:solidFill>
                        </a:rPr>
                        <a:t>1</a:t>
                      </a:r>
                    </a:p>
                  </a:txBody>
                  <a:tcPr marL="91440" marR="91440" marT="45720" marB="45720" anchor="ctr">
                    <a:solidFill>
                      <a:srgbClr val="DCEB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r>
              <a:tr h="590550">
                <a:tc>
                  <a:txBody>
                    <a:bodyPr/>
                    <a:lstStyle/>
                    <a:p>
                      <a:r>
                        <a:rPr sz="1350" b="1">
                          <a:solidFill>
                            <a:srgbClr val="0B0F14"/>
                          </a:solidFill>
                        </a:rPr>
                        <a:t>h3</a:t>
                      </a:r>
                    </a:p>
                  </a:txBody>
                  <a:tcPr marL="91440" marR="91440" marT="45720" marB="45720" anchor="ctr">
                    <a:solidFill>
                      <a:srgbClr val="EFF1F3"/>
                    </a:solidFill>
                  </a:tcPr>
                </a:tc>
                <a:tc>
                  <a:txBody>
                    <a:bodyPr/>
                    <a:lstStyle/>
                    <a:p>
                      <a:r>
                        <a:rPr sz="1425" b="1">
                          <a:solidFill>
                            <a:srgbClr val="0B0F14"/>
                          </a:solidFill>
                        </a:rPr>
                        <a:t>1</a:t>
                      </a:r>
                    </a:p>
                  </a:txBody>
                  <a:tcPr marL="91440" marR="91440" marT="45720" marB="45720" anchor="ctr">
                    <a:solidFill>
                      <a:srgbClr val="DCEBFF"/>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425" b="1">
                          <a:solidFill>
                            <a:srgbClr val="0B0F14"/>
                          </a:solidFill>
                        </a:rPr>
                        <a:t>1</a:t>
                      </a:r>
                    </a:p>
                  </a:txBody>
                  <a:tcPr marL="91440" marR="91440" marT="45720" marB="45720" anchor="ctr">
                    <a:solidFill>
                      <a:srgbClr val="DCEB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1</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r>
              <a:tr h="590550">
                <a:tc>
                  <a:txBody>
                    <a:bodyPr/>
                    <a:lstStyle/>
                    <a:p>
                      <a:r>
                        <a:rPr sz="1350" b="1">
                          <a:solidFill>
                            <a:srgbClr val="0B0F14"/>
                          </a:solidFill>
                        </a:rPr>
                        <a:t>L</a:t>
                      </a:r>
                    </a:p>
                  </a:txBody>
                  <a:tcPr marL="91440" marR="91440" marT="45720" marB="45720" anchor="ctr">
                    <a:solidFill>
                      <a:srgbClr val="EFF1F3"/>
                    </a:solidFill>
                  </a:tcPr>
                </a:tc>
                <a:tc>
                  <a:txBody>
                    <a:bodyPr/>
                    <a:lstStyle/>
                    <a:p>
                      <a:r>
                        <a:rPr sz="1425" b="1">
                          <a:solidFill>
                            <a:srgbClr val="0B0F14"/>
                          </a:solidFill>
                        </a:rPr>
                        <a:t>1</a:t>
                      </a:r>
                    </a:p>
                  </a:txBody>
                  <a:tcPr marL="91440" marR="91440" marT="45720" marB="45720" anchor="ctr">
                    <a:solidFill>
                      <a:srgbClr val="DCEBFF"/>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425" b="1">
                          <a:solidFill>
                            <a:srgbClr val="0B0F14"/>
                          </a:solidFill>
                        </a:rPr>
                        <a:t>0</a:t>
                      </a:r>
                    </a:p>
                  </a:txBody>
                  <a:tcPr marL="91440" marR="91440" marT="45720" marB="45720" anchor="ctr">
                    <a:solidFill>
                      <a:srgbClr val="DCEB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c>
                  <a:txBody>
                    <a:bodyPr/>
                    <a:lstStyle/>
                    <a:p>
                      <a:r>
                        <a:rPr sz="1575" b="0">
                          <a:solidFill>
                            <a:srgbClr val="0B0F14"/>
                          </a:solidFill>
                        </a:rPr>
                        <a:t>0</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D4E8229-5307-4B49-B475-013B1E8C9906}"/>
              </a:ext>
            </a:extLst>
          </p:cNvPr>
          <p:cNvSpPr>
            <a:spLocks xmlns:a="http://schemas.openxmlformats.org/drawingml/2006/main" noGrp="1"/>
          </p:cNvSpPr>
          <p:nvPr/>
        </p:nvSpPr>
        <p:spPr>
          <a:xfrm xmlns:a="http://schemas.openxmlformats.org/drawingml/2006/main">
            <a:off x="7848600" y="1828800"/>
            <a:ext cx="3638550" cy="295275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10" name="text">
            <a:extLst xmlns:a="http://schemas.openxmlformats.org/drawingml/2006/main">
              <a:ext uri="{FF2B5EF4-FFF2-40B4-BE49-F238E27FC236}">
                <a16:creationId xmlns:a16="http://schemas.microsoft.com/office/drawing/2014/main" id="{57ECD839-2D18-4F4A-BB56-20EA18712C59}"/>
              </a:ext>
            </a:extLst>
          </p:cNvPr>
          <p:cNvSpPr>
            <a:spLocks xmlns:a="http://schemas.openxmlformats.org/drawingml/2006/main" noGrp="1"/>
          </p:cNvSpPr>
          <p:nvPr/>
        </p:nvSpPr>
        <p:spPr>
          <a:xfrm xmlns:a="http://schemas.openxmlformats.org/drawingml/2006/main">
            <a:off x="8096250" y="20574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800" b="1" i="0">
                <a:solidFill>
                  <a:srgbClr val="3D8DFF"/>
                </a:solidFill>
                <a:latin typeface="Arial"/>
                <a:ea typeface="Arial"/>
                <a:cs typeface="Arial"/>
              </a:defRPr>
            </a:pPr>
            <a:r>
              <a:rPr sz="1800" b="1" i="0">
                <a:solidFill>
                  <a:srgbClr val="3D8DFF"/>
                </a:solidFill>
                <a:latin typeface="Arial"/>
                <a:ea typeface="Arial"/>
                <a:cs typeface="Arial"/>
              </a:rPr>
              <a:t>Select e1, e2, e3</a:t>
            </a:r>
          </a:p>
        </p:txBody>
      </p:sp>
      <p:sp>
        <p:nvSpPr>
          <p:cNvPr id="11" name="text">
            <a:extLst xmlns:a="http://schemas.openxmlformats.org/drawingml/2006/main">
              <a:ext uri="{FF2B5EF4-FFF2-40B4-BE49-F238E27FC236}">
                <a16:creationId xmlns:a16="http://schemas.microsoft.com/office/drawing/2014/main" id="{C21A3733-9233-40DA-9525-130EF82D12F6}"/>
              </a:ext>
            </a:extLst>
          </p:cNvPr>
          <p:cNvSpPr>
            <a:spLocks xmlns:a="http://schemas.openxmlformats.org/drawingml/2006/main" noGrp="1"/>
          </p:cNvSpPr>
          <p:nvPr/>
        </p:nvSpPr>
        <p:spPr>
          <a:xfrm xmlns:a="http://schemas.openxmlformats.org/drawingml/2006/main">
            <a:off x="8096250" y="26670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l">
              <a:defRPr sz="2025" b="1" i="0">
                <a:solidFill>
                  <a:srgbClr val="0B0F14"/>
                </a:solidFill>
                <a:latin typeface="Arial"/>
                <a:ea typeface="Arial"/>
                <a:cs typeface="Arial"/>
              </a:defRPr>
            </a:pPr>
            <a:r>
              <a:rPr sz="2025" b="1" i="0">
                <a:solidFill>
                  <a:srgbClr val="0B0F14"/>
                </a:solidFill>
                <a:latin typeface="Arial"/>
                <a:ea typeface="Arial"/>
                <a:cs typeface="Arial"/>
              </a:rPr>
              <a:t>001 ⊕ 010 ⊕ 011</a:t>
            </a:r>
          </a:p>
        </p:txBody>
      </p:sp>
      <p:sp>
        <p:nvSpPr>
          <p:cNvPr id="12" name="text">
            <a:extLst xmlns:a="http://schemas.openxmlformats.org/drawingml/2006/main">
              <a:ext uri="{FF2B5EF4-FFF2-40B4-BE49-F238E27FC236}">
                <a16:creationId xmlns:a16="http://schemas.microsoft.com/office/drawing/2014/main" id="{CB4DCE50-667F-4567-A24C-CAC703EF3AAB}"/>
              </a:ext>
            </a:extLst>
          </p:cNvPr>
          <p:cNvSpPr>
            <a:spLocks xmlns:a="http://schemas.openxmlformats.org/drawingml/2006/main" noGrp="1"/>
          </p:cNvSpPr>
          <p:nvPr/>
        </p:nvSpPr>
        <p:spPr>
          <a:xfrm xmlns:a="http://schemas.openxmlformats.org/drawingml/2006/main">
            <a:off x="8096250" y="31432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919"/>
          </a:bodyPr>
          <a:lstStyle xmlns:a="http://schemas.openxmlformats.org/drawingml/2006/main"/>
          <a:p xmlns:a="http://schemas.openxmlformats.org/drawingml/2006/main">
            <a:pPr algn="l">
              <a:defRPr sz="2475" b="1" i="0">
                <a:solidFill>
                  <a:srgbClr val="18794E"/>
                </a:solidFill>
                <a:latin typeface="Arial"/>
                <a:ea typeface="Arial"/>
                <a:cs typeface="Arial"/>
              </a:defRPr>
            </a:pPr>
            <a:r>
              <a:rPr sz="2475" b="1" i="0">
                <a:solidFill>
                  <a:srgbClr val="18794E"/>
                </a:solidFill>
                <a:latin typeface="Arial"/>
                <a:ea typeface="Arial"/>
                <a:cs typeface="Arial"/>
              </a:rPr>
              <a:t>= 000</a:t>
            </a:r>
          </a:p>
        </p:txBody>
      </p:sp>
      <p:sp>
        <p:nvSpPr>
          <p:cNvPr id="13" name="">
            <a:extLst xmlns:a="http://schemas.openxmlformats.org/drawingml/2006/main">
              <a:ext uri="{FF2B5EF4-FFF2-40B4-BE49-F238E27FC236}">
                <a16:creationId xmlns:a16="http://schemas.microsoft.com/office/drawing/2014/main" id="{E7B10723-1F54-4EE4-B095-E34C954D82D6}"/>
              </a:ext>
            </a:extLst>
          </p:cNvPr>
          <p:cNvSpPr>
            <a:spLocks xmlns:a="http://schemas.openxmlformats.org/drawingml/2006/main" noGrp="1"/>
          </p:cNvSpPr>
          <p:nvPr/>
        </p:nvSpPr>
        <p:spPr>
          <a:xfrm xmlns:a="http://schemas.openxmlformats.org/drawingml/2006/main">
            <a:off x="8096250" y="3733800"/>
            <a:ext cx="3124200" cy="95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14" name="text">
            <a:extLst xmlns:a="http://schemas.openxmlformats.org/drawingml/2006/main">
              <a:ext uri="{FF2B5EF4-FFF2-40B4-BE49-F238E27FC236}">
                <a16:creationId xmlns:a16="http://schemas.microsoft.com/office/drawing/2014/main" id="{BFE234FA-FC65-442D-88B6-6E8CEA9019B1}"/>
              </a:ext>
            </a:extLst>
          </p:cNvPr>
          <p:cNvSpPr>
            <a:spLocks xmlns:a="http://schemas.openxmlformats.org/drawingml/2006/main" noGrp="1"/>
          </p:cNvSpPr>
          <p:nvPr/>
        </p:nvSpPr>
        <p:spPr>
          <a:xfrm xmlns:a="http://schemas.openxmlformats.org/drawingml/2006/main">
            <a:off x="8096250" y="39814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0B0F14"/>
                </a:solidFill>
                <a:latin typeface="Arial"/>
                <a:ea typeface="Arial"/>
                <a:cs typeface="Arial"/>
              </a:defRPr>
            </a:pPr>
            <a:r>
              <a:rPr sz="2025" b="1" i="0">
                <a:solidFill>
                  <a:srgbClr val="0B0F14"/>
                </a:solidFill>
                <a:latin typeface="Arial"/>
                <a:ea typeface="Arial"/>
                <a:cs typeface="Arial"/>
              </a:rPr>
              <a:t>1 ⊕ 0 ⊕ 0 = 1</a:t>
            </a:r>
          </a:p>
        </p:txBody>
      </p:sp>
      <p:sp>
        <p:nvSpPr>
          <p:cNvPr id="15" name="text">
            <a:extLst xmlns:a="http://schemas.openxmlformats.org/drawingml/2006/main">
              <a:ext uri="{FF2B5EF4-FFF2-40B4-BE49-F238E27FC236}">
                <a16:creationId xmlns:a16="http://schemas.microsoft.com/office/drawing/2014/main" id="{1AD2824B-8D70-4AD0-9C4A-C324BA7A65F1}"/>
              </a:ext>
            </a:extLst>
          </p:cNvPr>
          <p:cNvSpPr>
            <a:spLocks xmlns:a="http://schemas.openxmlformats.org/drawingml/2006/main" noGrp="1"/>
          </p:cNvSpPr>
          <p:nvPr/>
        </p:nvSpPr>
        <p:spPr>
          <a:xfrm xmlns:a="http://schemas.openxmlformats.org/drawingml/2006/main">
            <a:off x="8096250" y="44386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3"/>
                </a:solidFill>
                <a:latin typeface="Arial"/>
                <a:ea typeface="Arial"/>
                <a:cs typeface="Arial"/>
              </a:defRPr>
            </a:pPr>
            <a:r>
              <a:rPr sz="1200" b="0" i="0">
                <a:solidFill>
                  <a:srgbClr val="5D6673"/>
                </a:solidFill>
                <a:latin typeface="Arial"/>
                <a:ea typeface="Arial"/>
                <a:cs typeface="Arial"/>
              </a:rPr>
              <a:t>a logical fault</a:t>
            </a:r>
          </a:p>
        </p:txBody>
      </p:sp>
      <p:sp>
        <p:nvSpPr>
          <p:cNvPr id="16" name="text">
            <a:extLst xmlns:a="http://schemas.openxmlformats.org/drawingml/2006/main">
              <a:ext uri="{FF2B5EF4-FFF2-40B4-BE49-F238E27FC236}">
                <a16:creationId xmlns:a16="http://schemas.microsoft.com/office/drawing/2014/main" id="{00EFF8CB-5D35-41F7-8428-3B75B9A427FA}"/>
              </a:ext>
            </a:extLst>
          </p:cNvPr>
          <p:cNvSpPr>
            <a:spLocks xmlns:a="http://schemas.openxmlformats.org/drawingml/2006/main" noGrp="1"/>
          </p:cNvSpPr>
          <p:nvPr/>
        </p:nvSpPr>
        <p:spPr>
          <a:xfrm xmlns:a="http://schemas.openxmlformats.org/drawingml/2006/main">
            <a:off x="666750" y="52578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i="0">
                <a:solidFill>
                  <a:srgbClr val="5D6673"/>
                </a:solidFill>
                <a:latin typeface="Arial"/>
                <a:ea typeface="Arial"/>
                <a:cs typeface="Arial"/>
              </a:defRPr>
            </a:pPr>
            <a:r>
              <a:rPr sz="1125" b="1" i="0">
                <a:solidFill>
                  <a:srgbClr val="5D6673"/>
                </a:solidFill>
                <a:latin typeface="Arial"/>
                <a:ea typeface="Arial"/>
                <a:cs typeface="Arial"/>
              </a:rPr>
              <a:t>Result so far</a:t>
            </a:r>
          </a:p>
        </p:txBody>
      </p:sp>
      <p:sp>
        <p:nvSpPr>
          <p:cNvPr id="17" name="text">
            <a:extLst xmlns:a="http://schemas.openxmlformats.org/drawingml/2006/main">
              <a:ext uri="{FF2B5EF4-FFF2-40B4-BE49-F238E27FC236}">
                <a16:creationId xmlns:a16="http://schemas.microsoft.com/office/drawing/2014/main" id="{2A7D26B4-B9C6-4FEA-8341-38EE14D801EF}"/>
              </a:ext>
            </a:extLst>
          </p:cNvPr>
          <p:cNvSpPr>
            <a:spLocks xmlns:a="http://schemas.openxmlformats.org/drawingml/2006/main" noGrp="1"/>
          </p:cNvSpPr>
          <p:nvPr/>
        </p:nvSpPr>
        <p:spPr>
          <a:xfrm xmlns:a="http://schemas.openxmlformats.org/drawingml/2006/main">
            <a:off x="3276600" y="499110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200" b="1" i="0">
                <a:solidFill>
                  <a:srgbClr val="3D8DFF"/>
                </a:solidFill>
                <a:latin typeface="Arial"/>
                <a:ea typeface="Arial"/>
                <a:cs typeface="Arial"/>
              </a:defRPr>
            </a:pPr>
            <a:r>
              <a:rPr sz="4200" b="1" i="0">
                <a:solidFill>
                  <a:srgbClr val="3D8DFF"/>
                </a:solidFill>
                <a:latin typeface="Arial"/>
                <a:ea typeface="Arial"/>
                <a:cs typeface="Arial"/>
              </a:rPr>
              <a:t>d ≤ 3</a:t>
            </a:r>
          </a:p>
        </p:txBody>
      </p:sp>
      <p:sp>
        <p:nvSpPr>
          <p:cNvPr id="18" name="text">
            <a:extLst xmlns:a="http://schemas.openxmlformats.org/drawingml/2006/main">
              <a:ext uri="{FF2B5EF4-FFF2-40B4-BE49-F238E27FC236}">
                <a16:creationId xmlns:a16="http://schemas.microsoft.com/office/drawing/2014/main" id="{3C842B32-7767-4BB8-B755-E85CD83153B3}"/>
              </a:ext>
            </a:extLst>
          </p:cNvPr>
          <p:cNvSpPr>
            <a:spLocks xmlns:a="http://schemas.openxmlformats.org/drawingml/2006/main" noGrp="1"/>
          </p:cNvSpPr>
          <p:nvPr/>
        </p:nvSpPr>
        <p:spPr>
          <a:xfrm xmlns:a="http://schemas.openxmlformats.org/drawingml/2006/main">
            <a:off x="6191250" y="5200650"/>
            <a:ext cx="529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1575" b="1" i="0">
                <a:solidFill>
                  <a:srgbClr val="0B0F14"/>
                </a:solidFill>
                <a:latin typeface="Arial"/>
                <a:ea typeface="Arial"/>
                <a:cs typeface="Arial"/>
              </a:defRPr>
            </a:pPr>
            <a:r>
              <a:rPr sz="1575" b="1" i="0">
                <a:solidFill>
                  <a:srgbClr val="0B0F14"/>
                </a:solidFill>
                <a:latin typeface="Arial"/>
                <a:ea typeface="Arial"/>
                <a:cs typeface="Arial"/>
              </a:rPr>
              <a:t>We have a witness. Weight 1 and weight 2 are still possible.</a:t>
            </a:r>
          </a:p>
        </p:txBody>
      </p:sp>
      <p:sp>
        <p:nvSpPr>
          <p:cNvPr id="19" name="visible-source">
            <a:extLst xmlns:a="http://schemas.openxmlformats.org/drawingml/2006/main">
              <a:ext uri="{FF2B5EF4-FFF2-40B4-BE49-F238E27FC236}">
                <a16:creationId xmlns:a16="http://schemas.microsoft.com/office/drawing/2014/main" id="{9FB42C26-5861-4804-9C75-D2C3E742A46D}"/>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Demo source: an XOR check of the selected columns</a:t>
            </a:r>
          </a:p>
        </p:txBody>
      </p:sp>
    </p:spTree>
    <p:extLst>
      <p:ext uri="{BB962C8B-B14F-4D97-AF65-F5344CB8AC3E}">
        <p14:creationId xmlns:p14="http://schemas.microsoft.com/office/powerpoint/2010/main" val="12378698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ection">
            <a:extLst xmlns:a="http://schemas.openxmlformats.org/drawingml/2006/main">
              <a:ext uri="{FF2B5EF4-FFF2-40B4-BE49-F238E27FC236}">
                <a16:creationId xmlns:a16="http://schemas.microsoft.com/office/drawing/2014/main" id="{0BE1A753-2D8A-41AA-ADB7-3740D9C98760}"/>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LIVE EXACTNESS DEMO</a:t>
            </a:r>
          </a:p>
        </p:txBody>
      </p:sp>
      <p:sp>
        <p:nvSpPr>
          <p:cNvPr id="2" name="slide-title">
            <a:extLst xmlns:a="http://schemas.openxmlformats.org/drawingml/2006/main">
              <a:ext uri="{FF2B5EF4-FFF2-40B4-BE49-F238E27FC236}">
                <a16:creationId xmlns:a16="http://schemas.microsoft.com/office/drawing/2014/main" id="{BC4B2125-79E6-4B11-9E5C-FE2AF83D869D}"/>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Weight 1 and weight 2 are not possible</a:t>
            </a:r>
          </a:p>
        </p:txBody>
      </p:sp>
      <p:sp>
        <p:nvSpPr>
          <p:cNvPr id="3" name="">
            <a:extLst xmlns:a="http://schemas.openxmlformats.org/drawingml/2006/main">
              <a:ext uri="{FF2B5EF4-FFF2-40B4-BE49-F238E27FC236}">
                <a16:creationId xmlns:a16="http://schemas.microsoft.com/office/drawing/2014/main" id="{7832F1DF-DC19-4525-A120-FE8313DDABB4}"/>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262F13D5-1218-42F8-94BA-D6CC9FCDB430}"/>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8522FBDA-1292-4918-A2F9-BD258C460ED9}"/>
              </a:ext>
            </a:extLst>
          </p:cNvPr>
          <p:cNvSpPr>
            <a:spLocks xmlns:a="http://schemas.openxmlformats.org/drawingml/2006/main" noGrp="1"/>
          </p:cNvSpPr>
          <p:nvPr/>
        </p:nvSpPr>
        <p:spPr>
          <a:xfrm xmlns:a="http://schemas.openxmlformats.org/drawingml/2006/main">
            <a:off x="9886950" y="285750"/>
            <a:ext cx="1333500" cy="2667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6" name="text">
            <a:extLst xmlns:a="http://schemas.openxmlformats.org/drawingml/2006/main">
              <a:ext uri="{FF2B5EF4-FFF2-40B4-BE49-F238E27FC236}">
                <a16:creationId xmlns:a16="http://schemas.microsoft.com/office/drawing/2014/main" id="{ACDEBA32-220B-47E0-A260-94A182C649B4}"/>
              </a:ext>
            </a:extLst>
          </p:cNvPr>
          <p:cNvSpPr>
            <a:spLocks xmlns:a="http://schemas.openxmlformats.org/drawingml/2006/main" noGrp="1"/>
          </p:cNvSpPr>
          <p:nvPr/>
        </p:nvSpPr>
        <p:spPr>
          <a:xfrm xmlns:a="http://schemas.openxmlformats.org/drawingml/2006/main">
            <a:off x="9963150" y="333375"/>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DEMO 3/3</a:t>
            </a:r>
          </a:p>
        </p:txBody>
      </p:sp>
      <p:sp>
        <p:nvSpPr>
          <p:cNvPr id="7" name="text">
            <a:extLst xmlns:a="http://schemas.openxmlformats.org/drawingml/2006/main">
              <a:ext uri="{FF2B5EF4-FFF2-40B4-BE49-F238E27FC236}">
                <a16:creationId xmlns:a16="http://schemas.microsoft.com/office/drawing/2014/main" id="{E9E00F6E-3A08-40AE-8C9A-42609D5A8D27}"/>
              </a:ext>
            </a:extLst>
          </p:cNvPr>
          <p:cNvSpPr>
            <a:spLocks xmlns:a="http://schemas.openxmlformats.org/drawingml/2006/main" noGrp="1"/>
          </p:cNvSpPr>
          <p:nvPr/>
        </p:nvSpPr>
        <p:spPr>
          <a:xfrm xmlns:a="http://schemas.openxmlformats.org/drawingml/2006/main">
            <a:off x="9685020" y="6115050"/>
            <a:ext cx="15544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3D8DFF"/>
                </a:solidFill>
                <a:latin typeface="Arial"/>
                <a:ea typeface="Arial"/>
                <a:cs typeface="Arial"/>
              </a:defRPr>
            </a:pPr>
            <a:r>
              <a:rPr sz="975" b="1" i="0">
                <a:solidFill>
                  <a:srgbClr val="3D8DFF"/>
                </a:solidFill>
                <a:latin typeface="Arial"/>
                <a:ea typeface="Arial"/>
                <a:cs typeface="Arial"/>
              </a:rPr>
              <a:t>Press right arrow</a:t>
            </a:r>
          </a:p>
        </p:txBody>
      </p:sp>
      <p:sp>
        <p:nvSpPr>
          <p:cNvPr id="8" name="">
            <a:extLst xmlns:a="http://schemas.openxmlformats.org/drawingml/2006/main">
              <a:ext uri="{FF2B5EF4-FFF2-40B4-BE49-F238E27FC236}">
                <a16:creationId xmlns:a16="http://schemas.microsoft.com/office/drawing/2014/main" id="{AD7EA667-42BB-4B69-85AF-4D3BD1E2A7BB}"/>
              </a:ext>
            </a:extLst>
          </p:cNvPr>
          <p:cNvSpPr>
            <a:spLocks xmlns:a="http://schemas.openxmlformats.org/drawingml/2006/main" noGrp="1"/>
          </p:cNvSpPr>
          <p:nvPr/>
        </p:nvSpPr>
        <p:spPr>
          <a:xfrm xmlns:a="http://schemas.openxmlformats.org/drawingml/2006/main">
            <a:off x="685800" y="1790700"/>
            <a:ext cx="3143250" cy="31623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9" name="text">
            <a:extLst xmlns:a="http://schemas.openxmlformats.org/drawingml/2006/main">
              <a:ext uri="{FF2B5EF4-FFF2-40B4-BE49-F238E27FC236}">
                <a16:creationId xmlns:a16="http://schemas.microsoft.com/office/drawing/2014/main" id="{D25329F9-9B36-456C-B560-9BB73F95DAE2}"/>
              </a:ext>
            </a:extLst>
          </p:cNvPr>
          <p:cNvSpPr>
            <a:spLocks xmlns:a="http://schemas.openxmlformats.org/drawingml/2006/main" noGrp="1"/>
          </p:cNvSpPr>
          <p:nvPr/>
        </p:nvSpPr>
        <p:spPr>
          <a:xfrm xmlns:a="http://schemas.openxmlformats.org/drawingml/2006/main">
            <a:off x="914400" y="20383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i="0">
                <a:solidFill>
                  <a:srgbClr val="5D6673"/>
                </a:solidFill>
                <a:latin typeface="Arial"/>
                <a:ea typeface="Arial"/>
                <a:cs typeface="Arial"/>
              </a:defRPr>
            </a:pPr>
            <a:r>
              <a:rPr sz="1050" b="1" i="0">
                <a:solidFill>
                  <a:srgbClr val="5D6673"/>
                </a:solidFill>
                <a:latin typeface="Arial"/>
                <a:ea typeface="Arial"/>
                <a:cs typeface="Arial"/>
              </a:rPr>
              <a:t>WEIGHT 1</a:t>
            </a:r>
          </a:p>
        </p:txBody>
      </p:sp>
      <p:sp>
        <p:nvSpPr>
          <p:cNvPr id="10" name="text">
            <a:extLst xmlns:a="http://schemas.openxmlformats.org/drawingml/2006/main">
              <a:ext uri="{FF2B5EF4-FFF2-40B4-BE49-F238E27FC236}">
                <a16:creationId xmlns:a16="http://schemas.microsoft.com/office/drawing/2014/main" id="{AB7A7588-632C-4464-9EA9-479720D3AA6E}"/>
              </a:ext>
            </a:extLst>
          </p:cNvPr>
          <p:cNvSpPr>
            <a:spLocks xmlns:a="http://schemas.openxmlformats.org/drawingml/2006/main" noGrp="1"/>
          </p:cNvSpPr>
          <p:nvPr/>
        </p:nvSpPr>
        <p:spPr>
          <a:xfrm xmlns:a="http://schemas.openxmlformats.org/drawingml/2006/main">
            <a:off x="914400" y="2571750"/>
            <a:ext cx="2686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i="0">
                <a:solidFill>
                  <a:srgbClr val="0B0F14"/>
                </a:solidFill>
                <a:latin typeface="Arial"/>
                <a:ea typeface="Arial"/>
                <a:cs typeface="Arial"/>
              </a:defRPr>
            </a:pPr>
            <a:r>
              <a:rPr sz="1575" b="1" i="0">
                <a:solidFill>
                  <a:srgbClr val="0B0F14"/>
                </a:solidFill>
                <a:latin typeface="Arial"/>
                <a:ea typeface="Arial"/>
                <a:cs typeface="Arial"/>
              </a:rPr>
              <a:t>One column must have H = 000.</a:t>
            </a:r>
          </a:p>
        </p:txBody>
      </p:sp>
      <p:sp>
        <p:nvSpPr>
          <p:cNvPr id="11" name="">
            <a:extLst xmlns:a="http://schemas.openxmlformats.org/drawingml/2006/main">
              <a:ext uri="{FF2B5EF4-FFF2-40B4-BE49-F238E27FC236}">
                <a16:creationId xmlns:a16="http://schemas.microsoft.com/office/drawing/2014/main" id="{FBDA8C1F-B287-4B72-967E-03FB9BCAD644}"/>
              </a:ext>
            </a:extLst>
          </p:cNvPr>
          <p:cNvSpPr>
            <a:spLocks xmlns:a="http://schemas.openxmlformats.org/drawingml/2006/main" noGrp="1"/>
          </p:cNvSpPr>
          <p:nvPr/>
        </p:nvSpPr>
        <p:spPr>
          <a:xfrm xmlns:a="http://schemas.openxmlformats.org/drawingml/2006/main">
            <a:off x="914400" y="3790950"/>
            <a:ext cx="26860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2" name="text">
            <a:extLst xmlns:a="http://schemas.openxmlformats.org/drawingml/2006/main">
              <a:ext uri="{FF2B5EF4-FFF2-40B4-BE49-F238E27FC236}">
                <a16:creationId xmlns:a16="http://schemas.microsoft.com/office/drawing/2014/main" id="{CDB48EA3-AD2E-4277-8999-F871E12DC71F}"/>
              </a:ext>
            </a:extLst>
          </p:cNvPr>
          <p:cNvSpPr>
            <a:spLocks xmlns:a="http://schemas.openxmlformats.org/drawingml/2006/main" noGrp="1"/>
          </p:cNvSpPr>
          <p:nvPr/>
        </p:nvSpPr>
        <p:spPr>
          <a:xfrm xmlns:a="http://schemas.openxmlformats.org/drawingml/2006/main">
            <a:off x="914400" y="400050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No zero column</a:t>
            </a:r>
          </a:p>
        </p:txBody>
      </p:sp>
      <p:sp>
        <p:nvSpPr>
          <p:cNvPr id="13" name="text">
            <a:extLst xmlns:a="http://schemas.openxmlformats.org/drawingml/2006/main">
              <a:ext uri="{FF2B5EF4-FFF2-40B4-BE49-F238E27FC236}">
                <a16:creationId xmlns:a16="http://schemas.microsoft.com/office/drawing/2014/main" id="{EA4C5F3C-908E-458D-AA3C-F5B107B03C04}"/>
              </a:ext>
            </a:extLst>
          </p:cNvPr>
          <p:cNvSpPr>
            <a:spLocks xmlns:a="http://schemas.openxmlformats.org/drawingml/2006/main" noGrp="1"/>
          </p:cNvSpPr>
          <p:nvPr/>
        </p:nvSpPr>
        <p:spPr>
          <a:xfrm xmlns:a="http://schemas.openxmlformats.org/drawingml/2006/main">
            <a:off x="914400" y="449580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0B0F14"/>
                </a:solidFill>
                <a:latin typeface="Arial"/>
                <a:ea typeface="Arial"/>
                <a:cs typeface="Arial"/>
              </a:defRPr>
            </a:pPr>
            <a:r>
              <a:rPr sz="1200" b="1" i="0">
                <a:solidFill>
                  <a:srgbClr val="0B0F14"/>
                </a:solidFill>
                <a:latin typeface="Arial"/>
                <a:ea typeface="Arial"/>
                <a:cs typeface="Arial"/>
              </a:rPr>
              <a:t>NOT POSSIBLE</a:t>
            </a:r>
          </a:p>
        </p:txBody>
      </p:sp>
      <p:sp>
        <p:nvSpPr>
          <p:cNvPr id="14" name="">
            <a:extLst xmlns:a="http://schemas.openxmlformats.org/drawingml/2006/main">
              <a:ext uri="{FF2B5EF4-FFF2-40B4-BE49-F238E27FC236}">
                <a16:creationId xmlns:a16="http://schemas.microsoft.com/office/drawing/2014/main" id="{FE4EA7F8-7D50-460A-8924-A02F8F2422BA}"/>
              </a:ext>
            </a:extLst>
          </p:cNvPr>
          <p:cNvSpPr>
            <a:spLocks xmlns:a="http://schemas.openxmlformats.org/drawingml/2006/main" noGrp="1"/>
          </p:cNvSpPr>
          <p:nvPr/>
        </p:nvSpPr>
        <p:spPr>
          <a:xfrm xmlns:a="http://schemas.openxmlformats.org/drawingml/2006/main">
            <a:off x="4286250" y="1790700"/>
            <a:ext cx="3143250" cy="31623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15" name="text">
            <a:extLst xmlns:a="http://schemas.openxmlformats.org/drawingml/2006/main">
              <a:ext uri="{FF2B5EF4-FFF2-40B4-BE49-F238E27FC236}">
                <a16:creationId xmlns:a16="http://schemas.microsoft.com/office/drawing/2014/main" id="{38493C66-8C63-470F-9DAD-800955E5A290}"/>
              </a:ext>
            </a:extLst>
          </p:cNvPr>
          <p:cNvSpPr>
            <a:spLocks xmlns:a="http://schemas.openxmlformats.org/drawingml/2006/main" noGrp="1"/>
          </p:cNvSpPr>
          <p:nvPr/>
        </p:nvSpPr>
        <p:spPr>
          <a:xfrm xmlns:a="http://schemas.openxmlformats.org/drawingml/2006/main">
            <a:off x="4514850" y="20383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i="0">
                <a:solidFill>
                  <a:srgbClr val="5D6673"/>
                </a:solidFill>
                <a:latin typeface="Arial"/>
                <a:ea typeface="Arial"/>
                <a:cs typeface="Arial"/>
              </a:defRPr>
            </a:pPr>
            <a:r>
              <a:rPr sz="1050" b="1" i="0">
                <a:solidFill>
                  <a:srgbClr val="5D6673"/>
                </a:solidFill>
                <a:latin typeface="Arial"/>
                <a:ea typeface="Arial"/>
                <a:cs typeface="Arial"/>
              </a:rPr>
              <a:t>WEIGHT 2</a:t>
            </a:r>
          </a:p>
        </p:txBody>
      </p:sp>
      <p:sp>
        <p:nvSpPr>
          <p:cNvPr id="16" name="text">
            <a:extLst xmlns:a="http://schemas.openxmlformats.org/drawingml/2006/main">
              <a:ext uri="{FF2B5EF4-FFF2-40B4-BE49-F238E27FC236}">
                <a16:creationId xmlns:a16="http://schemas.microsoft.com/office/drawing/2014/main" id="{71CD9970-9DA8-4EDA-A431-6EA904F0259D}"/>
              </a:ext>
            </a:extLst>
          </p:cNvPr>
          <p:cNvSpPr>
            <a:spLocks xmlns:a="http://schemas.openxmlformats.org/drawingml/2006/main" noGrp="1"/>
          </p:cNvSpPr>
          <p:nvPr/>
        </p:nvSpPr>
        <p:spPr>
          <a:xfrm xmlns:a="http://schemas.openxmlformats.org/drawingml/2006/main">
            <a:off x="4514850" y="2571750"/>
            <a:ext cx="2686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i="0">
                <a:solidFill>
                  <a:srgbClr val="0B0F14"/>
                </a:solidFill>
                <a:latin typeface="Arial"/>
                <a:ea typeface="Arial"/>
                <a:cs typeface="Arial"/>
              </a:defRPr>
            </a:pPr>
            <a:r>
              <a:rPr sz="1575" b="1" i="0">
                <a:solidFill>
                  <a:srgbClr val="0B0F14"/>
                </a:solidFill>
                <a:latin typeface="Arial"/>
                <a:ea typeface="Arial"/>
                <a:cs typeface="Arial"/>
              </a:rPr>
              <a:t>Two columns give zero only if they are equal.</a:t>
            </a:r>
          </a:p>
        </p:txBody>
      </p:sp>
      <p:sp>
        <p:nvSpPr>
          <p:cNvPr id="17" name="">
            <a:extLst xmlns:a="http://schemas.openxmlformats.org/drawingml/2006/main">
              <a:ext uri="{FF2B5EF4-FFF2-40B4-BE49-F238E27FC236}">
                <a16:creationId xmlns:a16="http://schemas.microsoft.com/office/drawing/2014/main" id="{933DF8BF-AF46-472E-9407-ECE965CA5192}"/>
              </a:ext>
            </a:extLst>
          </p:cNvPr>
          <p:cNvSpPr>
            <a:spLocks xmlns:a="http://schemas.openxmlformats.org/drawingml/2006/main" noGrp="1"/>
          </p:cNvSpPr>
          <p:nvPr/>
        </p:nvSpPr>
        <p:spPr>
          <a:xfrm xmlns:a="http://schemas.openxmlformats.org/drawingml/2006/main">
            <a:off x="4514850" y="3790950"/>
            <a:ext cx="26860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8" name="text">
            <a:extLst xmlns:a="http://schemas.openxmlformats.org/drawingml/2006/main">
              <a:ext uri="{FF2B5EF4-FFF2-40B4-BE49-F238E27FC236}">
                <a16:creationId xmlns:a16="http://schemas.microsoft.com/office/drawing/2014/main" id="{0F355B3A-3B8D-4EB7-A92D-FC27A4BA66C9}"/>
              </a:ext>
            </a:extLst>
          </p:cNvPr>
          <p:cNvSpPr>
            <a:spLocks xmlns:a="http://schemas.openxmlformats.org/drawingml/2006/main" noGrp="1"/>
          </p:cNvSpPr>
          <p:nvPr/>
        </p:nvSpPr>
        <p:spPr>
          <a:xfrm xmlns:a="http://schemas.openxmlformats.org/drawingml/2006/main">
            <a:off x="4514850" y="400050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All six are different</a:t>
            </a:r>
          </a:p>
        </p:txBody>
      </p:sp>
      <p:sp>
        <p:nvSpPr>
          <p:cNvPr id="19" name="text">
            <a:extLst xmlns:a="http://schemas.openxmlformats.org/drawingml/2006/main">
              <a:ext uri="{FF2B5EF4-FFF2-40B4-BE49-F238E27FC236}">
                <a16:creationId xmlns:a16="http://schemas.microsoft.com/office/drawing/2014/main" id="{A4A063F8-FB20-4674-BC7E-93C93EF49155}"/>
              </a:ext>
            </a:extLst>
          </p:cNvPr>
          <p:cNvSpPr>
            <a:spLocks xmlns:a="http://schemas.openxmlformats.org/drawingml/2006/main" noGrp="1"/>
          </p:cNvSpPr>
          <p:nvPr/>
        </p:nvSpPr>
        <p:spPr>
          <a:xfrm xmlns:a="http://schemas.openxmlformats.org/drawingml/2006/main">
            <a:off x="4514850" y="449580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0B0F14"/>
                </a:solidFill>
                <a:latin typeface="Arial"/>
                <a:ea typeface="Arial"/>
                <a:cs typeface="Arial"/>
              </a:defRPr>
            </a:pPr>
            <a:r>
              <a:rPr sz="1200" b="1" i="0">
                <a:solidFill>
                  <a:srgbClr val="0B0F14"/>
                </a:solidFill>
                <a:latin typeface="Arial"/>
                <a:ea typeface="Arial"/>
                <a:cs typeface="Arial"/>
              </a:rPr>
              <a:t>NOT POSSIBLE</a:t>
            </a:r>
          </a:p>
        </p:txBody>
      </p:sp>
      <p:sp>
        <p:nvSpPr>
          <p:cNvPr id="20" name="">
            <a:extLst xmlns:a="http://schemas.openxmlformats.org/drawingml/2006/main">
              <a:ext uri="{FF2B5EF4-FFF2-40B4-BE49-F238E27FC236}">
                <a16:creationId xmlns:a16="http://schemas.microsoft.com/office/drawing/2014/main" id="{89B74AB5-3870-49CD-B36B-F4CB46ED54A0}"/>
              </a:ext>
            </a:extLst>
          </p:cNvPr>
          <p:cNvSpPr>
            <a:spLocks xmlns:a="http://schemas.openxmlformats.org/drawingml/2006/main" noGrp="1"/>
          </p:cNvSpPr>
          <p:nvPr/>
        </p:nvSpPr>
        <p:spPr>
          <a:xfrm xmlns:a="http://schemas.openxmlformats.org/drawingml/2006/main">
            <a:off x="7886700" y="1790700"/>
            <a:ext cx="3143250" cy="316230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21" name="text">
            <a:extLst xmlns:a="http://schemas.openxmlformats.org/drawingml/2006/main">
              <a:ext uri="{FF2B5EF4-FFF2-40B4-BE49-F238E27FC236}">
                <a16:creationId xmlns:a16="http://schemas.microsoft.com/office/drawing/2014/main" id="{957CBEBB-E238-468B-9039-13D6183C18FE}"/>
              </a:ext>
            </a:extLst>
          </p:cNvPr>
          <p:cNvSpPr>
            <a:spLocks xmlns:a="http://schemas.openxmlformats.org/drawingml/2006/main" noGrp="1"/>
          </p:cNvSpPr>
          <p:nvPr/>
        </p:nvSpPr>
        <p:spPr>
          <a:xfrm xmlns:a="http://schemas.openxmlformats.org/drawingml/2006/main">
            <a:off x="8115300" y="20383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i="0">
                <a:solidFill>
                  <a:srgbClr val="3D8DFF"/>
                </a:solidFill>
                <a:latin typeface="Arial"/>
                <a:ea typeface="Arial"/>
                <a:cs typeface="Arial"/>
              </a:defRPr>
            </a:pPr>
            <a:r>
              <a:rPr sz="1050" b="1" i="0">
                <a:solidFill>
                  <a:srgbClr val="3D8DFF"/>
                </a:solidFill>
                <a:latin typeface="Arial"/>
                <a:ea typeface="Arial"/>
                <a:cs typeface="Arial"/>
              </a:rPr>
              <a:t>WEIGHT 3</a:t>
            </a:r>
          </a:p>
        </p:txBody>
      </p:sp>
      <p:sp>
        <p:nvSpPr>
          <p:cNvPr id="22" name="text">
            <a:extLst xmlns:a="http://schemas.openxmlformats.org/drawingml/2006/main">
              <a:ext uri="{FF2B5EF4-FFF2-40B4-BE49-F238E27FC236}">
                <a16:creationId xmlns:a16="http://schemas.microsoft.com/office/drawing/2014/main" id="{12E2EECC-90EC-4F2A-94CA-481B92394CDC}"/>
              </a:ext>
            </a:extLst>
          </p:cNvPr>
          <p:cNvSpPr>
            <a:spLocks xmlns:a="http://schemas.openxmlformats.org/drawingml/2006/main" noGrp="1"/>
          </p:cNvSpPr>
          <p:nvPr/>
        </p:nvSpPr>
        <p:spPr>
          <a:xfrm xmlns:a="http://schemas.openxmlformats.org/drawingml/2006/main">
            <a:off x="8115300" y="2571750"/>
            <a:ext cx="2686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i="0">
                <a:solidFill>
                  <a:srgbClr val="0B0F14"/>
                </a:solidFill>
                <a:latin typeface="Arial"/>
                <a:ea typeface="Arial"/>
                <a:cs typeface="Arial"/>
              </a:defRPr>
            </a:pPr>
            <a:r>
              <a:rPr sz="1575" b="1" i="0">
                <a:solidFill>
                  <a:srgbClr val="0B0F14"/>
                </a:solidFill>
                <a:latin typeface="Arial"/>
                <a:ea typeface="Arial"/>
                <a:cs typeface="Arial"/>
              </a:rPr>
              <a:t>e1 ⊕ e2 ⊕ e3 gives syndrome 0 and logical action 1.</a:t>
            </a:r>
          </a:p>
        </p:txBody>
      </p:sp>
      <p:sp>
        <p:nvSpPr>
          <p:cNvPr id="23" name="">
            <a:extLst xmlns:a="http://schemas.openxmlformats.org/drawingml/2006/main">
              <a:ext uri="{FF2B5EF4-FFF2-40B4-BE49-F238E27FC236}">
                <a16:creationId xmlns:a16="http://schemas.microsoft.com/office/drawing/2014/main" id="{309D8124-28CB-47EC-BB7D-B77EA20B78C5}"/>
              </a:ext>
            </a:extLst>
          </p:cNvPr>
          <p:cNvSpPr>
            <a:spLocks xmlns:a="http://schemas.openxmlformats.org/drawingml/2006/main" noGrp="1"/>
          </p:cNvSpPr>
          <p:nvPr/>
        </p:nvSpPr>
        <p:spPr>
          <a:xfrm xmlns:a="http://schemas.openxmlformats.org/drawingml/2006/main">
            <a:off x="8115300" y="3790950"/>
            <a:ext cx="2686050" cy="95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24" name="text">
            <a:extLst xmlns:a="http://schemas.openxmlformats.org/drawingml/2006/main">
              <a:ext uri="{FF2B5EF4-FFF2-40B4-BE49-F238E27FC236}">
                <a16:creationId xmlns:a16="http://schemas.microsoft.com/office/drawing/2014/main" id="{64E1B959-1C12-4172-887E-44402E70E05F}"/>
              </a:ext>
            </a:extLst>
          </p:cNvPr>
          <p:cNvSpPr>
            <a:spLocks xmlns:a="http://schemas.openxmlformats.org/drawingml/2006/main" noGrp="1"/>
          </p:cNvSpPr>
          <p:nvPr/>
        </p:nvSpPr>
        <p:spPr>
          <a:xfrm xmlns:a="http://schemas.openxmlformats.org/drawingml/2006/main">
            <a:off x="8115300" y="400050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A witness exists</a:t>
            </a:r>
          </a:p>
        </p:txBody>
      </p:sp>
      <p:sp>
        <p:nvSpPr>
          <p:cNvPr id="25" name="text">
            <a:extLst xmlns:a="http://schemas.openxmlformats.org/drawingml/2006/main">
              <a:ext uri="{FF2B5EF4-FFF2-40B4-BE49-F238E27FC236}">
                <a16:creationId xmlns:a16="http://schemas.microsoft.com/office/drawing/2014/main" id="{F894FC0D-0C86-4437-B0CC-AD7645E4E85C}"/>
              </a:ext>
            </a:extLst>
          </p:cNvPr>
          <p:cNvSpPr>
            <a:spLocks xmlns:a="http://schemas.openxmlformats.org/drawingml/2006/main" noGrp="1"/>
          </p:cNvSpPr>
          <p:nvPr/>
        </p:nvSpPr>
        <p:spPr>
          <a:xfrm xmlns:a="http://schemas.openxmlformats.org/drawingml/2006/main">
            <a:off x="8115300" y="449580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18794E"/>
                </a:solidFill>
                <a:latin typeface="Arial"/>
                <a:ea typeface="Arial"/>
                <a:cs typeface="Arial"/>
              </a:defRPr>
            </a:pPr>
            <a:r>
              <a:rPr sz="1200" b="1" i="0">
                <a:solidFill>
                  <a:srgbClr val="18794E"/>
                </a:solidFill>
                <a:latin typeface="Arial"/>
                <a:ea typeface="Arial"/>
                <a:cs typeface="Arial"/>
              </a:rPr>
              <a:t>POSSIBLE</a:t>
            </a:r>
          </a:p>
        </p:txBody>
      </p:sp>
      <p:sp>
        <p:nvSpPr>
          <p:cNvPr id="26" name="text">
            <a:extLst xmlns:a="http://schemas.openxmlformats.org/drawingml/2006/main">
              <a:ext uri="{FF2B5EF4-FFF2-40B4-BE49-F238E27FC236}">
                <a16:creationId xmlns:a16="http://schemas.microsoft.com/office/drawing/2014/main" id="{70442A79-748F-4FD1-AB50-77E14F7A5E66}"/>
              </a:ext>
            </a:extLst>
          </p:cNvPr>
          <p:cNvSpPr>
            <a:spLocks xmlns:a="http://schemas.openxmlformats.org/drawingml/2006/main" noGrp="1"/>
          </p:cNvSpPr>
          <p:nvPr/>
        </p:nvSpPr>
        <p:spPr>
          <a:xfrm xmlns:a="http://schemas.openxmlformats.org/drawingml/2006/main">
            <a:off x="1695450" y="5429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ctr">
              <a:defRPr sz="1875" b="1" i="0">
                <a:solidFill>
                  <a:srgbClr val="0B0F14"/>
                </a:solidFill>
                <a:latin typeface="Arial"/>
                <a:ea typeface="Arial"/>
                <a:cs typeface="Arial"/>
              </a:defRPr>
            </a:pPr>
            <a:r>
              <a:rPr sz="1875" b="1" i="0">
                <a:solidFill>
                  <a:srgbClr val="0B0F14"/>
                </a:solidFill>
                <a:latin typeface="Arial"/>
                <a:ea typeface="Arial"/>
                <a:cs typeface="Arial"/>
              </a:rPr>
              <a:t>No solution below weight 3</a:t>
            </a:r>
          </a:p>
        </p:txBody>
      </p:sp>
      <p:sp>
        <p:nvSpPr>
          <p:cNvPr id="27" name="text">
            <a:extLst xmlns:a="http://schemas.openxmlformats.org/drawingml/2006/main">
              <a:ext uri="{FF2B5EF4-FFF2-40B4-BE49-F238E27FC236}">
                <a16:creationId xmlns:a16="http://schemas.microsoft.com/office/drawing/2014/main" id="{9C734219-8FF7-43A8-BAF9-9031F02BA785}"/>
              </a:ext>
            </a:extLst>
          </p:cNvPr>
          <p:cNvSpPr>
            <a:spLocks xmlns:a="http://schemas.openxmlformats.org/drawingml/2006/main" noGrp="1"/>
          </p:cNvSpPr>
          <p:nvPr/>
        </p:nvSpPr>
        <p:spPr>
          <a:xfrm xmlns:a="http://schemas.openxmlformats.org/drawingml/2006/main">
            <a:off x="5772150" y="5334000"/>
            <a:ext cx="57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700" b="1" i="0">
                <a:solidFill>
                  <a:srgbClr val="3D8DFF"/>
                </a:solidFill>
                <a:latin typeface="Arial"/>
                <a:ea typeface="Arial"/>
                <a:cs typeface="Arial"/>
              </a:defRPr>
            </a:pPr>
            <a:r>
              <a:rPr sz="2700" b="1" i="0">
                <a:solidFill>
                  <a:srgbClr val="3D8DFF"/>
                </a:solidFill>
                <a:latin typeface="Arial"/>
                <a:ea typeface="Arial"/>
                <a:cs typeface="Arial"/>
              </a:rPr>
              <a:t>+</a:t>
            </a:r>
          </a:p>
        </p:txBody>
      </p:sp>
      <p:sp>
        <p:nvSpPr>
          <p:cNvPr id="28" name="text">
            <a:extLst xmlns:a="http://schemas.openxmlformats.org/drawingml/2006/main">
              <a:ext uri="{FF2B5EF4-FFF2-40B4-BE49-F238E27FC236}">
                <a16:creationId xmlns:a16="http://schemas.microsoft.com/office/drawing/2014/main" id="{6933EF1B-A9E6-4CA1-A41E-558BB3C47574}"/>
              </a:ext>
            </a:extLst>
          </p:cNvPr>
          <p:cNvSpPr>
            <a:spLocks xmlns:a="http://schemas.openxmlformats.org/drawingml/2006/main" noGrp="1"/>
          </p:cNvSpPr>
          <p:nvPr/>
        </p:nvSpPr>
        <p:spPr>
          <a:xfrm xmlns:a="http://schemas.openxmlformats.org/drawingml/2006/main">
            <a:off x="6400800" y="5429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ctr">
              <a:defRPr sz="1875" b="1" i="0">
                <a:solidFill>
                  <a:srgbClr val="0B0F14"/>
                </a:solidFill>
                <a:latin typeface="Arial"/>
                <a:ea typeface="Arial"/>
                <a:cs typeface="Arial"/>
              </a:defRPr>
            </a:pPr>
            <a:r>
              <a:rPr sz="1875" b="1" i="0">
                <a:solidFill>
                  <a:srgbClr val="0B0F14"/>
                </a:solidFill>
                <a:latin typeface="Arial"/>
                <a:ea typeface="Arial"/>
                <a:cs typeface="Arial"/>
              </a:rPr>
              <a:t>weight-3 witness</a:t>
            </a:r>
          </a:p>
        </p:txBody>
      </p:sp>
      <p:sp>
        <p:nvSpPr>
          <p:cNvPr id="29" name="text">
            <a:extLst xmlns:a="http://schemas.openxmlformats.org/drawingml/2006/main">
              <a:ext uri="{FF2B5EF4-FFF2-40B4-BE49-F238E27FC236}">
                <a16:creationId xmlns:a16="http://schemas.microsoft.com/office/drawing/2014/main" id="{607755A6-B056-45B3-AD1C-8DA4EC9D2B3F}"/>
              </a:ext>
            </a:extLst>
          </p:cNvPr>
          <p:cNvSpPr>
            <a:spLocks xmlns:a="http://schemas.openxmlformats.org/drawingml/2006/main" noGrp="1"/>
          </p:cNvSpPr>
          <p:nvPr/>
        </p:nvSpPr>
        <p:spPr>
          <a:xfrm xmlns:a="http://schemas.openxmlformats.org/drawingml/2006/main">
            <a:off x="8915400" y="529590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3150" b="1" i="0">
                <a:solidFill>
                  <a:srgbClr val="3D8DFF"/>
                </a:solidFill>
                <a:latin typeface="Arial"/>
                <a:ea typeface="Arial"/>
                <a:cs typeface="Arial"/>
              </a:defRPr>
            </a:pPr>
            <a:r>
              <a:rPr sz="3150" b="1" i="0">
                <a:solidFill>
                  <a:srgbClr val="3D8DFF"/>
                </a:solidFill>
                <a:latin typeface="Arial"/>
                <a:ea typeface="Arial"/>
                <a:cs typeface="Arial"/>
              </a:rPr>
              <a:t>⇒  d = 3</a:t>
            </a:r>
          </a:p>
        </p:txBody>
      </p:sp>
      <p:sp>
        <p:nvSpPr>
          <p:cNvPr id="30" name="visible-source">
            <a:extLst xmlns:a="http://schemas.openxmlformats.org/drawingml/2006/main">
              <a:ext uri="{FF2B5EF4-FFF2-40B4-BE49-F238E27FC236}">
                <a16:creationId xmlns:a16="http://schemas.microsoft.com/office/drawing/2014/main" id="{BDE3CA56-D8DC-430F-BFF9-FD88D6687ECD}"/>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Demo result: no solution at weight 1 or weight 2, and a witness at weight 3</a:t>
            </a:r>
          </a:p>
        </p:txBody>
      </p:sp>
    </p:spTree>
    <p:extLst>
      <p:ext uri="{BB962C8B-B14F-4D97-AF65-F5344CB8AC3E}">
        <p14:creationId xmlns:p14="http://schemas.microsoft.com/office/powerpoint/2010/main" val="14490111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
            <a:extLst xmlns:a="http://schemas.openxmlformats.org/drawingml/2006/main">
              <a:ext uri="{FF2B5EF4-FFF2-40B4-BE49-F238E27FC236}">
                <a16:creationId xmlns:a16="http://schemas.microsoft.com/office/drawing/2014/main" id="{F60B6FF1-742A-4F57-995F-DD6EA72AFE45}"/>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FROM DEMO TO BENCHMARK</a:t>
            </a:r>
          </a:p>
        </p:txBody>
      </p:sp>
      <p:sp>
        <p:nvSpPr>
          <p:cNvPr id="2" name="slide-title">
            <a:extLst xmlns:a="http://schemas.openxmlformats.org/drawingml/2006/main">
              <a:ext uri="{FF2B5EF4-FFF2-40B4-BE49-F238E27FC236}">
                <a16:creationId xmlns:a16="http://schemas.microsoft.com/office/drawing/2014/main" id="{84442942-0130-452A-9DAE-00549094C5C8}"/>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q288 needs the same two proofs at a larger scale</a:t>
            </a:r>
          </a:p>
        </p:txBody>
      </p:sp>
      <p:sp>
        <p:nvSpPr>
          <p:cNvPr id="3" name="">
            <a:extLst xmlns:a="http://schemas.openxmlformats.org/drawingml/2006/main">
              <a:ext uri="{FF2B5EF4-FFF2-40B4-BE49-F238E27FC236}">
                <a16:creationId xmlns:a16="http://schemas.microsoft.com/office/drawing/2014/main" id="{9926E52A-9C16-4CAB-98D3-7CBFB6FE4F7E}"/>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F8BF7760-B8D1-44AE-B79A-463599A0264F}"/>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A45B34D6-84AB-4E6D-95DD-11F952E3D136}"/>
              </a:ext>
            </a:extLst>
          </p:cNvPr>
          <p:cNvSpPr>
            <a:spLocks xmlns:a="http://schemas.openxmlformats.org/drawingml/2006/main" noGrp="1"/>
          </p:cNvSpPr>
          <p:nvPr/>
        </p:nvSpPr>
        <p:spPr>
          <a:xfrm xmlns:a="http://schemas.openxmlformats.org/drawingml/2006/main">
            <a:off x="9677400" y="285750"/>
            <a:ext cx="1543050" cy="266700"/>
          </a:xfrm>
          <a:prstGeom xmlns:a="http://schemas.openxmlformats.org/drawingml/2006/main" prst="rect">
            <a:avLst/>
          </a:prstGeom>
          <a:solidFill xmlns:a="http://schemas.openxmlformats.org/drawingml/2006/main">
            <a:srgbClr val="EFF1F3"/>
          </a:solidFill>
          <a:ln xmlns:a="http://schemas.openxmlformats.org/drawingml/2006/main" w="9525">
            <a:solidFill>
              <a:srgbClr val="EFF1F3"/>
            </a:solidFill>
            <a:prstDash val="solid"/>
          </a:ln>
        </p:spPr>
        <p:txBody xmlns:a="http://schemas.openxmlformats.org/drawingml/2006/main">
          <a:bodyPr/>
          <a:p/>
        </p:txBody>
      </p:sp>
      <p:sp>
        <p:nvSpPr>
          <p:cNvPr id="6" name="text">
            <a:extLst xmlns:a="http://schemas.openxmlformats.org/drawingml/2006/main">
              <a:ext uri="{FF2B5EF4-FFF2-40B4-BE49-F238E27FC236}">
                <a16:creationId xmlns:a16="http://schemas.microsoft.com/office/drawing/2014/main" id="{88201CBB-6194-4F0A-8B42-3E5C1296EE14}"/>
              </a:ext>
            </a:extLst>
          </p:cNvPr>
          <p:cNvSpPr>
            <a:spLocks xmlns:a="http://schemas.openxmlformats.org/drawingml/2006/main" noGrp="1"/>
          </p:cNvSpPr>
          <p:nvPr/>
        </p:nvSpPr>
        <p:spPr>
          <a:xfrm xmlns:a="http://schemas.openxmlformats.org/drawingml/2006/main">
            <a:off x="9753600" y="333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0B0F14"/>
                </a:solidFill>
                <a:latin typeface="Arial"/>
                <a:ea typeface="Arial"/>
                <a:cs typeface="Arial"/>
              </a:defRPr>
            </a:pPr>
            <a:r>
              <a:rPr sz="900" b="1" i="0">
                <a:solidFill>
                  <a:srgbClr val="0B0F14"/>
                </a:solidFill>
                <a:latin typeface="Arial"/>
                <a:ea typeface="Arial"/>
                <a:cs typeface="Arial"/>
              </a:rPr>
              <a:t>DEMO COMPLETE</a:t>
            </a:r>
          </a:p>
        </p:txBody>
      </p:sp>
      <p:sp>
        <p:nvSpPr>
          <p:cNvPr id="7" name="text">
            <a:extLst xmlns:a="http://schemas.openxmlformats.org/drawingml/2006/main">
              <a:ext uri="{FF2B5EF4-FFF2-40B4-BE49-F238E27FC236}">
                <a16:creationId xmlns:a16="http://schemas.microsoft.com/office/drawing/2014/main" id="{3C5074CA-A164-459A-A560-3828DAEEE02F}"/>
              </a:ext>
            </a:extLst>
          </p:cNvPr>
          <p:cNvSpPr>
            <a:spLocks xmlns:a="http://schemas.openxmlformats.org/drawingml/2006/main" noGrp="1"/>
          </p:cNvSpPr>
          <p:nvPr/>
        </p:nvSpPr>
        <p:spPr>
          <a:xfrm xmlns:a="http://schemas.openxmlformats.org/drawingml/2006/main">
            <a:off x="3905250" y="1638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5D6673"/>
                </a:solidFill>
                <a:latin typeface="Arial"/>
                <a:ea typeface="Arial"/>
                <a:cs typeface="Arial"/>
              </a:defRPr>
            </a:pPr>
            <a:r>
              <a:rPr sz="1125" b="1" i="0">
                <a:solidFill>
                  <a:srgbClr val="5D6673"/>
                </a:solidFill>
                <a:latin typeface="Arial"/>
                <a:ea typeface="Arial"/>
                <a:cs typeface="Arial"/>
              </a:rPr>
              <a:t>TOY</a:t>
            </a:r>
          </a:p>
        </p:txBody>
      </p:sp>
      <p:sp>
        <p:nvSpPr>
          <p:cNvPr id="8" name="text">
            <a:extLst xmlns:a="http://schemas.openxmlformats.org/drawingml/2006/main">
              <a:ext uri="{FF2B5EF4-FFF2-40B4-BE49-F238E27FC236}">
                <a16:creationId xmlns:a16="http://schemas.microsoft.com/office/drawing/2014/main" id="{73887864-12FA-49A9-A45F-77408D06BCED}"/>
              </a:ext>
            </a:extLst>
          </p:cNvPr>
          <p:cNvSpPr>
            <a:spLocks xmlns:a="http://schemas.openxmlformats.org/drawingml/2006/main" noGrp="1"/>
          </p:cNvSpPr>
          <p:nvPr/>
        </p:nvSpPr>
        <p:spPr>
          <a:xfrm xmlns:a="http://schemas.openxmlformats.org/drawingml/2006/main">
            <a:off x="8001000" y="1638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3D8DFF"/>
                </a:solidFill>
                <a:latin typeface="Arial"/>
                <a:ea typeface="Arial"/>
                <a:cs typeface="Arial"/>
              </a:defRPr>
            </a:pPr>
            <a:r>
              <a:rPr sz="1125" b="1" i="0">
                <a:solidFill>
                  <a:srgbClr val="3D8DFF"/>
                </a:solidFill>
                <a:latin typeface="Arial"/>
                <a:ea typeface="Arial"/>
                <a:cs typeface="Arial"/>
              </a:rPr>
              <a:t>Q288</a:t>
            </a:r>
          </a:p>
        </p:txBody>
      </p:sp>
      <p:sp>
        <p:nvSpPr>
          <p:cNvPr id="9" name="text">
            <a:extLst xmlns:a="http://schemas.openxmlformats.org/drawingml/2006/main">
              <a:ext uri="{FF2B5EF4-FFF2-40B4-BE49-F238E27FC236}">
                <a16:creationId xmlns:a16="http://schemas.microsoft.com/office/drawing/2014/main" id="{AF47E7C5-49F0-42F3-8BED-5DE23A8E6534}"/>
              </a:ext>
            </a:extLst>
          </p:cNvPr>
          <p:cNvSpPr>
            <a:spLocks xmlns:a="http://schemas.openxmlformats.org/drawingml/2006/main" noGrp="1"/>
          </p:cNvSpPr>
          <p:nvPr/>
        </p:nvSpPr>
        <p:spPr>
          <a:xfrm xmlns:a="http://schemas.openxmlformats.org/drawingml/2006/main">
            <a:off x="742950" y="22098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5D6673"/>
                </a:solidFill>
                <a:latin typeface="Arial"/>
                <a:ea typeface="Arial"/>
                <a:cs typeface="Arial"/>
              </a:defRPr>
            </a:pPr>
            <a:r>
              <a:rPr sz="1425" b="1" i="0">
                <a:solidFill>
                  <a:srgbClr val="5D6673"/>
                </a:solidFill>
                <a:latin typeface="Arial"/>
                <a:ea typeface="Arial"/>
                <a:cs typeface="Arial"/>
              </a:rPr>
              <a:t>Columns</a:t>
            </a:r>
          </a:p>
        </p:txBody>
      </p:sp>
      <p:sp>
        <p:nvSpPr>
          <p:cNvPr id="10" name="text">
            <a:extLst xmlns:a="http://schemas.openxmlformats.org/drawingml/2006/main">
              <a:ext uri="{FF2B5EF4-FFF2-40B4-BE49-F238E27FC236}">
                <a16:creationId xmlns:a16="http://schemas.microsoft.com/office/drawing/2014/main" id="{621E9D4E-0C93-4780-B0B3-534EF8FB3BD2}"/>
              </a:ext>
            </a:extLst>
          </p:cNvPr>
          <p:cNvSpPr>
            <a:spLocks xmlns:a="http://schemas.openxmlformats.org/drawingml/2006/main" noGrp="1"/>
          </p:cNvSpPr>
          <p:nvPr/>
        </p:nvSpPr>
        <p:spPr>
          <a:xfrm xmlns:a="http://schemas.openxmlformats.org/drawingml/2006/main">
            <a:off x="3333750" y="21336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i="0">
                <a:solidFill>
                  <a:srgbClr val="0B0F14"/>
                </a:solidFill>
                <a:latin typeface="Arial"/>
                <a:ea typeface="Arial"/>
                <a:cs typeface="Arial"/>
              </a:defRPr>
            </a:pPr>
            <a:r>
              <a:rPr sz="2025" b="1" i="0">
                <a:solidFill>
                  <a:srgbClr val="0B0F14"/>
                </a:solidFill>
                <a:latin typeface="Arial"/>
                <a:ea typeface="Arial"/>
                <a:cs typeface="Arial"/>
              </a:rPr>
              <a:t>6</a:t>
            </a:r>
          </a:p>
        </p:txBody>
      </p:sp>
      <p:sp>
        <p:nvSpPr>
          <p:cNvPr id="11" name="text">
            <a:extLst xmlns:a="http://schemas.openxmlformats.org/drawingml/2006/main">
              <a:ext uri="{FF2B5EF4-FFF2-40B4-BE49-F238E27FC236}">
                <a16:creationId xmlns:a16="http://schemas.microsoft.com/office/drawing/2014/main" id="{38B3AD57-A71F-454D-AEDF-2BF56D5F0A13}"/>
              </a:ext>
            </a:extLst>
          </p:cNvPr>
          <p:cNvSpPr>
            <a:spLocks xmlns:a="http://schemas.openxmlformats.org/drawingml/2006/main" noGrp="1"/>
          </p:cNvSpPr>
          <p:nvPr/>
        </p:nvSpPr>
        <p:spPr>
          <a:xfrm xmlns:a="http://schemas.openxmlformats.org/drawingml/2006/main">
            <a:off x="6477000" y="21145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70"/>
          </a:bodyPr>
          <a:lstStyle xmlns:a="http://schemas.openxmlformats.org/drawingml/2006/main"/>
          <a:p xmlns:a="http://schemas.openxmlformats.org/drawingml/2006/main">
            <a:pPr algn="ctr">
              <a:defRPr sz="2475" b="1" i="0">
                <a:solidFill>
                  <a:srgbClr val="3D8DFF"/>
                </a:solidFill>
                <a:latin typeface="Arial"/>
                <a:ea typeface="Arial"/>
                <a:cs typeface="Arial"/>
              </a:defRPr>
            </a:pPr>
            <a:r>
              <a:rPr sz="2475" b="1" i="0">
                <a:solidFill>
                  <a:srgbClr val="3D8DFF"/>
                </a:solidFill>
                <a:latin typeface="Arial"/>
                <a:ea typeface="Arial"/>
                <a:cs typeface="Arial"/>
              </a:rPr>
              <a:t>→</a:t>
            </a:r>
          </a:p>
        </p:txBody>
      </p:sp>
      <p:sp>
        <p:nvSpPr>
          <p:cNvPr id="12" name="text">
            <a:extLst xmlns:a="http://schemas.openxmlformats.org/drawingml/2006/main">
              <a:ext uri="{FF2B5EF4-FFF2-40B4-BE49-F238E27FC236}">
                <a16:creationId xmlns:a16="http://schemas.microsoft.com/office/drawing/2014/main" id="{0AF2864B-DD75-4DC2-87FE-4A8A5A43E9A0}"/>
              </a:ext>
            </a:extLst>
          </p:cNvPr>
          <p:cNvSpPr>
            <a:spLocks xmlns:a="http://schemas.openxmlformats.org/drawingml/2006/main" noGrp="1"/>
          </p:cNvSpPr>
          <p:nvPr/>
        </p:nvSpPr>
        <p:spPr>
          <a:xfrm xmlns:a="http://schemas.openxmlformats.org/drawingml/2006/main">
            <a:off x="7524750" y="21336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75" b="1" i="0">
                <a:solidFill>
                  <a:srgbClr val="0B0F14"/>
                </a:solidFill>
                <a:latin typeface="Arial"/>
                <a:ea typeface="Arial"/>
                <a:cs typeface="Arial"/>
              </a:defRPr>
            </a:pPr>
            <a:r>
              <a:rPr sz="1875" b="1" i="0">
                <a:solidFill>
                  <a:srgbClr val="0B0F14"/>
                </a:solidFill>
                <a:latin typeface="Arial"/>
                <a:ea typeface="Arial"/>
                <a:cs typeface="Arial"/>
              </a:rPr>
              <a:t>8,784 unique signatures</a:t>
            </a:r>
          </a:p>
        </p:txBody>
      </p:sp>
      <p:sp>
        <p:nvSpPr>
          <p:cNvPr id="13" name="">
            <a:extLst xmlns:a="http://schemas.openxmlformats.org/drawingml/2006/main">
              <a:ext uri="{FF2B5EF4-FFF2-40B4-BE49-F238E27FC236}">
                <a16:creationId xmlns:a16="http://schemas.microsoft.com/office/drawing/2014/main" id="{99FEC1AB-616E-4873-B24F-3A3651437EE5}"/>
              </a:ext>
            </a:extLst>
          </p:cNvPr>
          <p:cNvSpPr>
            <a:spLocks xmlns:a="http://schemas.openxmlformats.org/drawingml/2006/main" noGrp="1"/>
          </p:cNvSpPr>
          <p:nvPr/>
        </p:nvSpPr>
        <p:spPr>
          <a:xfrm xmlns:a="http://schemas.openxmlformats.org/drawingml/2006/main">
            <a:off x="742950" y="2762250"/>
            <a:ext cx="104965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4" name="text">
            <a:extLst xmlns:a="http://schemas.openxmlformats.org/drawingml/2006/main">
              <a:ext uri="{FF2B5EF4-FFF2-40B4-BE49-F238E27FC236}">
                <a16:creationId xmlns:a16="http://schemas.microsoft.com/office/drawing/2014/main" id="{4809A7CE-886A-405F-BA9F-C01EA1A37917}"/>
              </a:ext>
            </a:extLst>
          </p:cNvPr>
          <p:cNvSpPr>
            <a:spLocks xmlns:a="http://schemas.openxmlformats.org/drawingml/2006/main" noGrp="1"/>
          </p:cNvSpPr>
          <p:nvPr/>
        </p:nvSpPr>
        <p:spPr>
          <a:xfrm xmlns:a="http://schemas.openxmlformats.org/drawingml/2006/main">
            <a:off x="742950" y="3086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5D6673"/>
                </a:solidFill>
                <a:latin typeface="Arial"/>
                <a:ea typeface="Arial"/>
                <a:cs typeface="Arial"/>
              </a:defRPr>
            </a:pPr>
            <a:r>
              <a:rPr sz="1425" b="1" i="0">
                <a:solidFill>
                  <a:srgbClr val="5D6673"/>
                </a:solidFill>
                <a:latin typeface="Arial"/>
                <a:ea typeface="Arial"/>
                <a:cs typeface="Arial"/>
              </a:rPr>
              <a:t>Target</a:t>
            </a:r>
          </a:p>
        </p:txBody>
      </p:sp>
      <p:sp>
        <p:nvSpPr>
          <p:cNvPr id="15" name="text">
            <a:extLst xmlns:a="http://schemas.openxmlformats.org/drawingml/2006/main">
              <a:ext uri="{FF2B5EF4-FFF2-40B4-BE49-F238E27FC236}">
                <a16:creationId xmlns:a16="http://schemas.microsoft.com/office/drawing/2014/main" id="{A16E410C-A7EE-4DB2-BB1D-4C9086AA5F02}"/>
              </a:ext>
            </a:extLst>
          </p:cNvPr>
          <p:cNvSpPr>
            <a:spLocks xmlns:a="http://schemas.openxmlformats.org/drawingml/2006/main" noGrp="1"/>
          </p:cNvSpPr>
          <p:nvPr/>
        </p:nvSpPr>
        <p:spPr>
          <a:xfrm xmlns:a="http://schemas.openxmlformats.org/drawingml/2006/main">
            <a:off x="3333750" y="30099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i="0">
                <a:solidFill>
                  <a:srgbClr val="0B0F14"/>
                </a:solidFill>
                <a:latin typeface="Arial"/>
                <a:ea typeface="Arial"/>
                <a:cs typeface="Arial"/>
              </a:defRPr>
            </a:pPr>
            <a:r>
              <a:rPr sz="2025" b="1" i="0">
                <a:solidFill>
                  <a:srgbClr val="0B0F14"/>
                </a:solidFill>
                <a:latin typeface="Arial"/>
                <a:ea typeface="Arial"/>
                <a:cs typeface="Arial"/>
              </a:rPr>
              <a:t>d = 3</a:t>
            </a:r>
          </a:p>
        </p:txBody>
      </p:sp>
      <p:sp>
        <p:nvSpPr>
          <p:cNvPr id="16" name="text">
            <a:extLst xmlns:a="http://schemas.openxmlformats.org/drawingml/2006/main">
              <a:ext uri="{FF2B5EF4-FFF2-40B4-BE49-F238E27FC236}">
                <a16:creationId xmlns:a16="http://schemas.microsoft.com/office/drawing/2014/main" id="{AD4AF728-63B1-4E7C-9E83-1ECB3B0FB5C0}"/>
              </a:ext>
            </a:extLst>
          </p:cNvPr>
          <p:cNvSpPr>
            <a:spLocks xmlns:a="http://schemas.openxmlformats.org/drawingml/2006/main" noGrp="1"/>
          </p:cNvSpPr>
          <p:nvPr/>
        </p:nvSpPr>
        <p:spPr>
          <a:xfrm xmlns:a="http://schemas.openxmlformats.org/drawingml/2006/main">
            <a:off x="6477000" y="29908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70"/>
          </a:bodyPr>
          <a:lstStyle xmlns:a="http://schemas.openxmlformats.org/drawingml/2006/main"/>
          <a:p xmlns:a="http://schemas.openxmlformats.org/drawingml/2006/main">
            <a:pPr algn="ctr">
              <a:defRPr sz="2475" b="1" i="0">
                <a:solidFill>
                  <a:srgbClr val="3D8DFF"/>
                </a:solidFill>
                <a:latin typeface="Arial"/>
                <a:ea typeface="Arial"/>
                <a:cs typeface="Arial"/>
              </a:defRPr>
            </a:pPr>
            <a:r>
              <a:rPr sz="2475" b="1" i="0">
                <a:solidFill>
                  <a:srgbClr val="3D8DFF"/>
                </a:solidFill>
                <a:latin typeface="Arial"/>
                <a:ea typeface="Arial"/>
                <a:cs typeface="Arial"/>
              </a:rPr>
              <a:t>→</a:t>
            </a:r>
          </a:p>
        </p:txBody>
      </p:sp>
      <p:sp>
        <p:nvSpPr>
          <p:cNvPr id="17" name="text">
            <a:extLst xmlns:a="http://schemas.openxmlformats.org/drawingml/2006/main">
              <a:ext uri="{FF2B5EF4-FFF2-40B4-BE49-F238E27FC236}">
                <a16:creationId xmlns:a16="http://schemas.microsoft.com/office/drawing/2014/main" id="{8463A048-217D-48F2-A5AA-B0476F41003C}"/>
              </a:ext>
            </a:extLst>
          </p:cNvPr>
          <p:cNvSpPr>
            <a:spLocks xmlns:a="http://schemas.openxmlformats.org/drawingml/2006/main" noGrp="1"/>
          </p:cNvSpPr>
          <p:nvPr/>
        </p:nvSpPr>
        <p:spPr>
          <a:xfrm xmlns:a="http://schemas.openxmlformats.org/drawingml/2006/main">
            <a:off x="7524750" y="30099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75" b="1" i="0">
                <a:solidFill>
                  <a:srgbClr val="3D8DFF"/>
                </a:solidFill>
                <a:latin typeface="Arial"/>
                <a:ea typeface="Arial"/>
                <a:cs typeface="Arial"/>
              </a:defRPr>
            </a:pPr>
            <a:r>
              <a:rPr sz="1875" b="1" i="0">
                <a:solidFill>
                  <a:srgbClr val="3D8DFF"/>
                </a:solidFill>
                <a:latin typeface="Arial"/>
                <a:ea typeface="Arial"/>
                <a:cs typeface="Arial"/>
              </a:rPr>
              <a:t>claimed d = 10</a:t>
            </a:r>
          </a:p>
        </p:txBody>
      </p:sp>
      <p:sp>
        <p:nvSpPr>
          <p:cNvPr id="18" name="">
            <a:extLst xmlns:a="http://schemas.openxmlformats.org/drawingml/2006/main">
              <a:ext uri="{FF2B5EF4-FFF2-40B4-BE49-F238E27FC236}">
                <a16:creationId xmlns:a16="http://schemas.microsoft.com/office/drawing/2014/main" id="{B8225AC8-F16B-4C8F-8198-240EB8AA9DC9}"/>
              </a:ext>
            </a:extLst>
          </p:cNvPr>
          <p:cNvSpPr>
            <a:spLocks xmlns:a="http://schemas.openxmlformats.org/drawingml/2006/main" noGrp="1"/>
          </p:cNvSpPr>
          <p:nvPr/>
        </p:nvSpPr>
        <p:spPr>
          <a:xfrm xmlns:a="http://schemas.openxmlformats.org/drawingml/2006/main">
            <a:off x="742950" y="3638550"/>
            <a:ext cx="104965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9" name="text">
            <a:extLst xmlns:a="http://schemas.openxmlformats.org/drawingml/2006/main">
              <a:ext uri="{FF2B5EF4-FFF2-40B4-BE49-F238E27FC236}">
                <a16:creationId xmlns:a16="http://schemas.microsoft.com/office/drawing/2014/main" id="{35F23A2D-9231-4976-9F58-D5BF4FDF2B41}"/>
              </a:ext>
            </a:extLst>
          </p:cNvPr>
          <p:cNvSpPr>
            <a:spLocks xmlns:a="http://schemas.openxmlformats.org/drawingml/2006/main" noGrp="1"/>
          </p:cNvSpPr>
          <p:nvPr/>
        </p:nvSpPr>
        <p:spPr>
          <a:xfrm xmlns:a="http://schemas.openxmlformats.org/drawingml/2006/main">
            <a:off x="742950" y="39624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5D6673"/>
                </a:solidFill>
                <a:latin typeface="Arial"/>
                <a:ea typeface="Arial"/>
                <a:cs typeface="Arial"/>
              </a:defRPr>
            </a:pPr>
            <a:r>
              <a:rPr sz="1425" b="1" i="0">
                <a:solidFill>
                  <a:srgbClr val="5D6673"/>
                </a:solidFill>
                <a:latin typeface="Arial"/>
                <a:ea typeface="Arial"/>
                <a:cs typeface="Arial"/>
              </a:rPr>
              <a:t>Lower bound</a:t>
            </a:r>
          </a:p>
        </p:txBody>
      </p:sp>
      <p:sp>
        <p:nvSpPr>
          <p:cNvPr id="20" name="text">
            <a:extLst xmlns:a="http://schemas.openxmlformats.org/drawingml/2006/main">
              <a:ext uri="{FF2B5EF4-FFF2-40B4-BE49-F238E27FC236}">
                <a16:creationId xmlns:a16="http://schemas.microsoft.com/office/drawing/2014/main" id="{596B1512-E185-466E-A7B9-B30F52FF08EC}"/>
              </a:ext>
            </a:extLst>
          </p:cNvPr>
          <p:cNvSpPr>
            <a:spLocks xmlns:a="http://schemas.openxmlformats.org/drawingml/2006/main" noGrp="1"/>
          </p:cNvSpPr>
          <p:nvPr/>
        </p:nvSpPr>
        <p:spPr>
          <a:xfrm xmlns:a="http://schemas.openxmlformats.org/drawingml/2006/main">
            <a:off x="3333750" y="38862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i="0">
                <a:solidFill>
                  <a:srgbClr val="0B0F14"/>
                </a:solidFill>
                <a:latin typeface="Arial"/>
                <a:ea typeface="Arial"/>
                <a:cs typeface="Arial"/>
              </a:defRPr>
            </a:pPr>
            <a:r>
              <a:rPr sz="2025" b="1" i="0">
                <a:solidFill>
                  <a:srgbClr val="0B0F14"/>
                </a:solidFill>
                <a:latin typeface="Arial"/>
                <a:ea typeface="Arial"/>
                <a:cs typeface="Arial"/>
              </a:rPr>
              <a:t>two short arguments</a:t>
            </a:r>
          </a:p>
        </p:txBody>
      </p:sp>
      <p:sp>
        <p:nvSpPr>
          <p:cNvPr id="21" name="text">
            <a:extLst xmlns:a="http://schemas.openxmlformats.org/drawingml/2006/main">
              <a:ext uri="{FF2B5EF4-FFF2-40B4-BE49-F238E27FC236}">
                <a16:creationId xmlns:a16="http://schemas.microsoft.com/office/drawing/2014/main" id="{85FC6805-3696-4A0D-B09D-5B95447E8C01}"/>
              </a:ext>
            </a:extLst>
          </p:cNvPr>
          <p:cNvSpPr>
            <a:spLocks xmlns:a="http://schemas.openxmlformats.org/drawingml/2006/main" noGrp="1"/>
          </p:cNvSpPr>
          <p:nvPr/>
        </p:nvSpPr>
        <p:spPr>
          <a:xfrm xmlns:a="http://schemas.openxmlformats.org/drawingml/2006/main">
            <a:off x="6477000" y="38671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70"/>
          </a:bodyPr>
          <a:lstStyle xmlns:a="http://schemas.openxmlformats.org/drawingml/2006/main"/>
          <a:p xmlns:a="http://schemas.openxmlformats.org/drawingml/2006/main">
            <a:pPr algn="ctr">
              <a:defRPr sz="2475" b="1" i="0">
                <a:solidFill>
                  <a:srgbClr val="3D8DFF"/>
                </a:solidFill>
                <a:latin typeface="Arial"/>
                <a:ea typeface="Arial"/>
                <a:cs typeface="Arial"/>
              </a:defRPr>
            </a:pPr>
            <a:r>
              <a:rPr sz="2475" b="1" i="0">
                <a:solidFill>
                  <a:srgbClr val="3D8DFF"/>
                </a:solidFill>
                <a:latin typeface="Arial"/>
                <a:ea typeface="Arial"/>
                <a:cs typeface="Arial"/>
              </a:rPr>
              <a:t>→</a:t>
            </a:r>
          </a:p>
        </p:txBody>
      </p:sp>
      <p:sp>
        <p:nvSpPr>
          <p:cNvPr id="22" name="text">
            <a:extLst xmlns:a="http://schemas.openxmlformats.org/drawingml/2006/main">
              <a:ext uri="{FF2B5EF4-FFF2-40B4-BE49-F238E27FC236}">
                <a16:creationId xmlns:a16="http://schemas.microsoft.com/office/drawing/2014/main" id="{5F032BC7-CAA5-4DE0-85C9-EBE561A203A8}"/>
              </a:ext>
            </a:extLst>
          </p:cNvPr>
          <p:cNvSpPr>
            <a:spLocks xmlns:a="http://schemas.openxmlformats.org/drawingml/2006/main" noGrp="1"/>
          </p:cNvSpPr>
          <p:nvPr/>
        </p:nvSpPr>
        <p:spPr>
          <a:xfrm xmlns:a="http://schemas.openxmlformats.org/drawingml/2006/main">
            <a:off x="7524750" y="38862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75" b="1" i="0">
                <a:solidFill>
                  <a:srgbClr val="0B0F14"/>
                </a:solidFill>
                <a:latin typeface="Arial"/>
                <a:ea typeface="Arial"/>
                <a:cs typeface="Arial"/>
              </a:defRPr>
            </a:pPr>
            <a:r>
              <a:rPr sz="1875" b="1" i="0">
                <a:solidFill>
                  <a:srgbClr val="0B0F14"/>
                </a:solidFill>
                <a:latin typeface="Arial"/>
                <a:ea typeface="Arial"/>
                <a:cs typeface="Arial"/>
              </a:rPr>
              <a:t>2.789B reported search states</a:t>
            </a:r>
          </a:p>
        </p:txBody>
      </p:sp>
      <p:sp>
        <p:nvSpPr>
          <p:cNvPr id="23" name="">
            <a:extLst xmlns:a="http://schemas.openxmlformats.org/drawingml/2006/main">
              <a:ext uri="{FF2B5EF4-FFF2-40B4-BE49-F238E27FC236}">
                <a16:creationId xmlns:a16="http://schemas.microsoft.com/office/drawing/2014/main" id="{DBE4FC6F-1DD3-4316-B809-00E2E133D331}"/>
              </a:ext>
            </a:extLst>
          </p:cNvPr>
          <p:cNvSpPr>
            <a:spLocks xmlns:a="http://schemas.openxmlformats.org/drawingml/2006/main" noGrp="1"/>
          </p:cNvSpPr>
          <p:nvPr/>
        </p:nvSpPr>
        <p:spPr>
          <a:xfrm xmlns:a="http://schemas.openxmlformats.org/drawingml/2006/main">
            <a:off x="742950" y="4514850"/>
            <a:ext cx="104965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24" name="text">
            <a:extLst xmlns:a="http://schemas.openxmlformats.org/drawingml/2006/main">
              <a:ext uri="{FF2B5EF4-FFF2-40B4-BE49-F238E27FC236}">
                <a16:creationId xmlns:a16="http://schemas.microsoft.com/office/drawing/2014/main" id="{44B265B0-619B-435A-BD33-76C995045088}"/>
              </a:ext>
            </a:extLst>
          </p:cNvPr>
          <p:cNvSpPr>
            <a:spLocks xmlns:a="http://schemas.openxmlformats.org/drawingml/2006/main" noGrp="1"/>
          </p:cNvSpPr>
          <p:nvPr/>
        </p:nvSpPr>
        <p:spPr>
          <a:xfrm xmlns:a="http://schemas.openxmlformats.org/drawingml/2006/main">
            <a:off x="742950" y="48387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5D6673"/>
                </a:solidFill>
                <a:latin typeface="Arial"/>
                <a:ea typeface="Arial"/>
                <a:cs typeface="Arial"/>
              </a:defRPr>
            </a:pPr>
            <a:r>
              <a:rPr sz="1425" b="1" i="0">
                <a:solidFill>
                  <a:srgbClr val="5D6673"/>
                </a:solidFill>
                <a:latin typeface="Arial"/>
                <a:ea typeface="Arial"/>
                <a:cs typeface="Arial"/>
              </a:rPr>
              <a:t>Symmetry</a:t>
            </a:r>
          </a:p>
        </p:txBody>
      </p:sp>
      <p:sp>
        <p:nvSpPr>
          <p:cNvPr id="25" name="text">
            <a:extLst xmlns:a="http://schemas.openxmlformats.org/drawingml/2006/main">
              <a:ext uri="{FF2B5EF4-FFF2-40B4-BE49-F238E27FC236}">
                <a16:creationId xmlns:a16="http://schemas.microsoft.com/office/drawing/2014/main" id="{B8F99AD9-17DC-4620-8BA7-C4DECB8BDE49}"/>
              </a:ext>
            </a:extLst>
          </p:cNvPr>
          <p:cNvSpPr>
            <a:spLocks xmlns:a="http://schemas.openxmlformats.org/drawingml/2006/main" noGrp="1"/>
          </p:cNvSpPr>
          <p:nvPr/>
        </p:nvSpPr>
        <p:spPr>
          <a:xfrm xmlns:a="http://schemas.openxmlformats.org/drawingml/2006/main">
            <a:off x="3333750" y="4762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i="0">
                <a:solidFill>
                  <a:srgbClr val="0B0F14"/>
                </a:solidFill>
                <a:latin typeface="Arial"/>
                <a:ea typeface="Arial"/>
                <a:cs typeface="Arial"/>
              </a:defRPr>
            </a:pPr>
            <a:r>
              <a:rPr sz="2025" b="1" i="0">
                <a:solidFill>
                  <a:srgbClr val="0B0F14"/>
                </a:solidFill>
                <a:latin typeface="Arial"/>
                <a:ea typeface="Arial"/>
                <a:cs typeface="Arial"/>
              </a:rPr>
              <a:t>none needed</a:t>
            </a:r>
          </a:p>
        </p:txBody>
      </p:sp>
      <p:sp>
        <p:nvSpPr>
          <p:cNvPr id="26" name="text">
            <a:extLst xmlns:a="http://schemas.openxmlformats.org/drawingml/2006/main">
              <a:ext uri="{FF2B5EF4-FFF2-40B4-BE49-F238E27FC236}">
                <a16:creationId xmlns:a16="http://schemas.microsoft.com/office/drawing/2014/main" id="{30794D68-959A-4A87-8477-AAFBF1813213}"/>
              </a:ext>
            </a:extLst>
          </p:cNvPr>
          <p:cNvSpPr>
            <a:spLocks xmlns:a="http://schemas.openxmlformats.org/drawingml/2006/main" noGrp="1"/>
          </p:cNvSpPr>
          <p:nvPr/>
        </p:nvSpPr>
        <p:spPr>
          <a:xfrm xmlns:a="http://schemas.openxmlformats.org/drawingml/2006/main">
            <a:off x="6477000" y="47434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70"/>
          </a:bodyPr>
          <a:lstStyle xmlns:a="http://schemas.openxmlformats.org/drawingml/2006/main"/>
          <a:p xmlns:a="http://schemas.openxmlformats.org/drawingml/2006/main">
            <a:pPr algn="ctr">
              <a:defRPr sz="2475" b="1" i="0">
                <a:solidFill>
                  <a:srgbClr val="3D8DFF"/>
                </a:solidFill>
                <a:latin typeface="Arial"/>
                <a:ea typeface="Arial"/>
                <a:cs typeface="Arial"/>
              </a:defRPr>
            </a:pPr>
            <a:r>
              <a:rPr sz="2475" b="1" i="0">
                <a:solidFill>
                  <a:srgbClr val="3D8DFF"/>
                </a:solidFill>
                <a:latin typeface="Arial"/>
                <a:ea typeface="Arial"/>
                <a:cs typeface="Arial"/>
              </a:rPr>
              <a:t>→</a:t>
            </a:r>
          </a:p>
        </p:txBody>
      </p:sp>
      <p:sp>
        <p:nvSpPr>
          <p:cNvPr id="27" name="text">
            <a:extLst xmlns:a="http://schemas.openxmlformats.org/drawingml/2006/main">
              <a:ext uri="{FF2B5EF4-FFF2-40B4-BE49-F238E27FC236}">
                <a16:creationId xmlns:a16="http://schemas.microsoft.com/office/drawing/2014/main" id="{84D335FD-3109-468D-A90C-7A74FADECE4B}"/>
              </a:ext>
            </a:extLst>
          </p:cNvPr>
          <p:cNvSpPr>
            <a:spLocks xmlns:a="http://schemas.openxmlformats.org/drawingml/2006/main" noGrp="1"/>
          </p:cNvSpPr>
          <p:nvPr/>
        </p:nvSpPr>
        <p:spPr>
          <a:xfrm xmlns:a="http://schemas.openxmlformats.org/drawingml/2006/main">
            <a:off x="7524750" y="47625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26"/>
          </a:bodyPr>
          <a:lstStyle xmlns:a="http://schemas.openxmlformats.org/drawingml/2006/main"/>
          <a:p xmlns:a="http://schemas.openxmlformats.org/drawingml/2006/main">
            <a:pPr algn="ctr">
              <a:defRPr sz="1875" b="1" i="0">
                <a:solidFill>
                  <a:srgbClr val="0B0F14"/>
                </a:solidFill>
                <a:latin typeface="Arial"/>
                <a:ea typeface="Arial"/>
                <a:cs typeface="Arial"/>
              </a:defRPr>
            </a:pPr>
            <a:r>
              <a:rPr sz="1875" b="1" i="0">
                <a:solidFill>
                  <a:srgbClr val="0B0F14"/>
                </a:solidFill>
                <a:latin typeface="Arial"/>
                <a:ea typeface="Arial"/>
                <a:cs typeface="Arial"/>
              </a:rPr>
              <a:t>24 translations give 366 roots</a:t>
            </a:r>
          </a:p>
        </p:txBody>
      </p:sp>
      <p:sp>
        <p:nvSpPr>
          <p:cNvPr id="28" name="">
            <a:extLst xmlns:a="http://schemas.openxmlformats.org/drawingml/2006/main">
              <a:ext uri="{FF2B5EF4-FFF2-40B4-BE49-F238E27FC236}">
                <a16:creationId xmlns:a16="http://schemas.microsoft.com/office/drawing/2014/main" id="{CFD847C0-42D9-40E8-83DC-E0ABD8C52481}"/>
              </a:ext>
            </a:extLst>
          </p:cNvPr>
          <p:cNvSpPr>
            <a:spLocks xmlns:a="http://schemas.openxmlformats.org/drawingml/2006/main" noGrp="1"/>
          </p:cNvSpPr>
          <p:nvPr/>
        </p:nvSpPr>
        <p:spPr>
          <a:xfrm xmlns:a="http://schemas.openxmlformats.org/drawingml/2006/main">
            <a:off x="742950" y="5391150"/>
            <a:ext cx="104965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5A91A345-CE97-4864-94F2-6EE49EBC423A}"/>
              </a:ext>
            </a:extLst>
          </p:cNvPr>
          <p:cNvSpPr>
            <a:spLocks xmlns:a="http://schemas.openxmlformats.org/drawingml/2006/main" noGrp="1"/>
          </p:cNvSpPr>
          <p:nvPr/>
        </p:nvSpPr>
        <p:spPr>
          <a:xfrm xmlns:a="http://schemas.openxmlformats.org/drawingml/2006/main">
            <a:off x="742950" y="5753100"/>
            <a:ext cx="10496550" cy="41910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30" name="text">
            <a:extLst xmlns:a="http://schemas.openxmlformats.org/drawingml/2006/main">
              <a:ext uri="{FF2B5EF4-FFF2-40B4-BE49-F238E27FC236}">
                <a16:creationId xmlns:a16="http://schemas.microsoft.com/office/drawing/2014/main" id="{1904528E-39E0-4ECF-AE2A-8E4EFCB84F3C}"/>
              </a:ext>
            </a:extLst>
          </p:cNvPr>
          <p:cNvSpPr>
            <a:spLocks xmlns:a="http://schemas.openxmlformats.org/drawingml/2006/main" noGrp="1"/>
          </p:cNvSpPr>
          <p:nvPr/>
        </p:nvSpPr>
        <p:spPr>
          <a:xfrm xmlns:a="http://schemas.openxmlformats.org/drawingml/2006/main">
            <a:off x="952500" y="5848350"/>
            <a:ext cx="1007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143"/>
          </a:bodyPr>
          <a:lstStyle xmlns:a="http://schemas.openxmlformats.org/drawingml/2006/main"/>
          <a:p xmlns:a="http://schemas.openxmlformats.org/drawingml/2006/main">
            <a:pPr algn="ctr">
              <a:defRPr sz="1575" b="1" i="0">
                <a:solidFill>
                  <a:srgbClr val="0B0F14"/>
                </a:solidFill>
                <a:latin typeface="Arial"/>
                <a:ea typeface="Arial"/>
                <a:cs typeface="Arial"/>
              </a:defRPr>
            </a:pPr>
            <a:r>
              <a:rPr sz="1575" b="1" i="0">
                <a:solidFill>
                  <a:srgbClr val="0B0F14"/>
                </a:solidFill>
                <a:latin typeface="Arial"/>
                <a:ea typeface="Arial"/>
                <a:cs typeface="Arial"/>
              </a:rPr>
              <a:t>Both proofs must meet the same standard of evidence.</a:t>
            </a:r>
          </a:p>
        </p:txBody>
      </p:sp>
      <p:sp>
        <p:nvSpPr>
          <p:cNvPr id="31" name="visible-source">
            <a:extLst xmlns:a="http://schemas.openxmlformats.org/drawingml/2006/main">
              <a:ext uri="{FF2B5EF4-FFF2-40B4-BE49-F238E27FC236}">
                <a16:creationId xmlns:a16="http://schemas.microsoft.com/office/drawing/2014/main" id="{8C548FCD-FE6B-4962-9D0F-1F46EEA4708D}"/>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q288 values from the project report. The demo is in this deck.</a:t>
            </a:r>
          </a:p>
        </p:txBody>
      </p:sp>
    </p:spTree>
    <p:extLst>
      <p:ext uri="{BB962C8B-B14F-4D97-AF65-F5344CB8AC3E}">
        <p14:creationId xmlns:p14="http://schemas.microsoft.com/office/powerpoint/2010/main" val="16700789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
            <a:extLst xmlns:a="http://schemas.openxmlformats.org/drawingml/2006/main">
              <a:ext uri="{FF2B5EF4-FFF2-40B4-BE49-F238E27FC236}">
                <a16:creationId xmlns:a16="http://schemas.microsoft.com/office/drawing/2014/main" id="{F978360E-B2CC-4E99-8B52-6D7B367991AA}"/>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RUN EVIDENCE</a:t>
            </a:r>
          </a:p>
        </p:txBody>
      </p:sp>
      <p:sp>
        <p:nvSpPr>
          <p:cNvPr id="2" name="slide-title">
            <a:extLst xmlns:a="http://schemas.openxmlformats.org/drawingml/2006/main">
              <a:ext uri="{FF2B5EF4-FFF2-40B4-BE49-F238E27FC236}">
                <a16:creationId xmlns:a16="http://schemas.microsoft.com/office/drawing/2014/main" id="{3910BA69-B8DF-4FA1-8CEE-D9A701D7C5AF}"/>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Trust in this result depends on the search code</a:t>
            </a:r>
          </a:p>
        </p:txBody>
      </p:sp>
      <p:sp>
        <p:nvSpPr>
          <p:cNvPr id="3" name="">
            <a:extLst xmlns:a="http://schemas.openxmlformats.org/drawingml/2006/main">
              <a:ext uri="{FF2B5EF4-FFF2-40B4-BE49-F238E27FC236}">
                <a16:creationId xmlns:a16="http://schemas.microsoft.com/office/drawing/2014/main" id="{DA5523F5-0F74-4148-9368-9D84B7257BB8}"/>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AACA40E6-E387-45C3-BE00-1A1CA3C5B5EA}"/>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15</a:t>
            </a:r>
          </a:p>
        </p:txBody>
      </p:sp>
      <p:sp>
        <p:nvSpPr>
          <p:cNvPr id="5" name="text">
            <a:extLst xmlns:a="http://schemas.openxmlformats.org/drawingml/2006/main">
              <a:ext uri="{FF2B5EF4-FFF2-40B4-BE49-F238E27FC236}">
                <a16:creationId xmlns:a16="http://schemas.microsoft.com/office/drawing/2014/main" id="{2D78A95B-CEDE-429C-85E6-95C0FF961EDF}"/>
              </a:ext>
            </a:extLst>
          </p:cNvPr>
          <p:cNvSpPr>
            <a:spLocks xmlns:a="http://schemas.openxmlformats.org/drawingml/2006/main" noGrp="1"/>
          </p:cNvSpPr>
          <p:nvPr/>
        </p:nvSpPr>
        <p:spPr>
          <a:xfrm xmlns:a="http://schemas.openxmlformats.org/drawingml/2006/main">
            <a:off x="685800" y="179070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050" b="1" i="0">
                <a:solidFill>
                  <a:srgbClr val="3D8DFF"/>
                </a:solidFill>
                <a:latin typeface="Arial"/>
                <a:ea typeface="Arial"/>
                <a:cs typeface="Arial"/>
              </a:defRPr>
            </a:pPr>
            <a:r>
              <a:rPr sz="4050" b="1" i="0">
                <a:solidFill>
                  <a:srgbClr val="3D8DFF"/>
                </a:solidFill>
                <a:latin typeface="Arial"/>
                <a:ea typeface="Arial"/>
                <a:cs typeface="Arial"/>
              </a:rPr>
              <a:t>2.789B</a:t>
            </a:r>
          </a:p>
        </p:txBody>
      </p:sp>
      <p:sp>
        <p:nvSpPr>
          <p:cNvPr id="6" name="">
            <a:extLst xmlns:a="http://schemas.openxmlformats.org/drawingml/2006/main">
              <a:ext uri="{FF2B5EF4-FFF2-40B4-BE49-F238E27FC236}">
                <a16:creationId xmlns:a16="http://schemas.microsoft.com/office/drawing/2014/main" id="{59F108EF-7938-42C9-AB6F-74236506FFC5}"/>
              </a:ext>
            </a:extLst>
          </p:cNvPr>
          <p:cNvSpPr>
            <a:spLocks xmlns:a="http://schemas.openxmlformats.org/drawingml/2006/main" noGrp="1"/>
          </p:cNvSpPr>
          <p:nvPr/>
        </p:nvSpPr>
        <p:spPr>
          <a:xfrm xmlns:a="http://schemas.openxmlformats.org/drawingml/2006/main">
            <a:off x="685800" y="2667000"/>
            <a:ext cx="2381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1FF5F240-F810-4BB4-A333-B506DD36AC4F}"/>
              </a:ext>
            </a:extLst>
          </p:cNvPr>
          <p:cNvSpPr>
            <a:spLocks xmlns:a="http://schemas.openxmlformats.org/drawingml/2006/main" noGrp="1"/>
          </p:cNvSpPr>
          <p:nvPr/>
        </p:nvSpPr>
        <p:spPr>
          <a:xfrm xmlns:a="http://schemas.openxmlformats.org/drawingml/2006/main">
            <a:off x="685800" y="28003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reported search states</a:t>
            </a:r>
          </a:p>
        </p:txBody>
      </p:sp>
      <p:sp>
        <p:nvSpPr>
          <p:cNvPr id="8" name="text">
            <a:extLst xmlns:a="http://schemas.openxmlformats.org/drawingml/2006/main">
              <a:ext uri="{FF2B5EF4-FFF2-40B4-BE49-F238E27FC236}">
                <a16:creationId xmlns:a16="http://schemas.microsoft.com/office/drawing/2014/main" id="{CBFF3A7B-8D82-4D41-ACE4-D37BC5F3C49D}"/>
              </a:ext>
            </a:extLst>
          </p:cNvPr>
          <p:cNvSpPr>
            <a:spLocks xmlns:a="http://schemas.openxmlformats.org/drawingml/2006/main" noGrp="1"/>
          </p:cNvSpPr>
          <p:nvPr/>
        </p:nvSpPr>
        <p:spPr>
          <a:xfrm xmlns:a="http://schemas.openxmlformats.org/drawingml/2006/main">
            <a:off x="3524250" y="179070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650" b="1" i="0">
                <a:solidFill>
                  <a:srgbClr val="0B0F14"/>
                </a:solidFill>
                <a:latin typeface="Arial"/>
                <a:ea typeface="Arial"/>
                <a:cs typeface="Arial"/>
              </a:defRPr>
            </a:pPr>
            <a:r>
              <a:rPr sz="4650" b="1" i="0">
                <a:solidFill>
                  <a:srgbClr val="0B0F14"/>
                </a:solidFill>
                <a:latin typeface="Arial"/>
                <a:ea typeface="Arial"/>
                <a:cs typeface="Arial"/>
              </a:rPr>
              <a:t>6</a:t>
            </a:r>
          </a:p>
        </p:txBody>
      </p:sp>
      <p:sp>
        <p:nvSpPr>
          <p:cNvPr id="9" name="">
            <a:extLst xmlns:a="http://schemas.openxmlformats.org/drawingml/2006/main">
              <a:ext uri="{FF2B5EF4-FFF2-40B4-BE49-F238E27FC236}">
                <a16:creationId xmlns:a16="http://schemas.microsoft.com/office/drawing/2014/main" id="{DA1DB804-82E1-4716-94FA-0BD04518E438}"/>
              </a:ext>
            </a:extLst>
          </p:cNvPr>
          <p:cNvSpPr>
            <a:spLocks xmlns:a="http://schemas.openxmlformats.org/drawingml/2006/main" noGrp="1"/>
          </p:cNvSpPr>
          <p:nvPr/>
        </p:nvSpPr>
        <p:spPr>
          <a:xfrm xmlns:a="http://schemas.openxmlformats.org/drawingml/2006/main">
            <a:off x="3524250" y="2667000"/>
            <a:ext cx="2381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0" name="text">
            <a:extLst xmlns:a="http://schemas.openxmlformats.org/drawingml/2006/main">
              <a:ext uri="{FF2B5EF4-FFF2-40B4-BE49-F238E27FC236}">
                <a16:creationId xmlns:a16="http://schemas.microsoft.com/office/drawing/2014/main" id="{EA005A88-43E8-4F5A-B691-B1EB9ED079B4}"/>
              </a:ext>
            </a:extLst>
          </p:cNvPr>
          <p:cNvSpPr>
            <a:spLocks xmlns:a="http://schemas.openxmlformats.org/drawingml/2006/main" noGrp="1"/>
          </p:cNvSpPr>
          <p:nvPr/>
        </p:nvSpPr>
        <p:spPr>
          <a:xfrm xmlns:a="http://schemas.openxmlformats.org/drawingml/2006/main">
            <a:off x="3524250" y="28003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reported shards with no gaps</a:t>
            </a:r>
          </a:p>
        </p:txBody>
      </p:sp>
      <p:sp>
        <p:nvSpPr>
          <p:cNvPr id="11" name="text">
            <a:extLst xmlns:a="http://schemas.openxmlformats.org/drawingml/2006/main">
              <a:ext uri="{FF2B5EF4-FFF2-40B4-BE49-F238E27FC236}">
                <a16:creationId xmlns:a16="http://schemas.microsoft.com/office/drawing/2014/main" id="{745F3890-BD06-448E-9EE5-A49560E05C93}"/>
              </a:ext>
            </a:extLst>
          </p:cNvPr>
          <p:cNvSpPr>
            <a:spLocks xmlns:a="http://schemas.openxmlformats.org/drawingml/2006/main" noGrp="1"/>
          </p:cNvSpPr>
          <p:nvPr/>
        </p:nvSpPr>
        <p:spPr>
          <a:xfrm xmlns:a="http://schemas.openxmlformats.org/drawingml/2006/main">
            <a:off x="6362700" y="179070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3600" b="1" i="0">
                <a:solidFill>
                  <a:srgbClr val="0B0F14"/>
                </a:solidFill>
                <a:latin typeface="Arial"/>
                <a:ea typeface="Arial"/>
                <a:cs typeface="Arial"/>
              </a:defRPr>
            </a:pPr>
            <a:r>
              <a:rPr sz="3600" b="1" i="0">
                <a:solidFill>
                  <a:srgbClr val="0B0F14"/>
                </a:solidFill>
                <a:latin typeface="Arial"/>
                <a:ea typeface="Arial"/>
                <a:cs typeface="Arial"/>
              </a:rPr>
              <a:t>531.5 s</a:t>
            </a:r>
          </a:p>
        </p:txBody>
      </p:sp>
      <p:sp>
        <p:nvSpPr>
          <p:cNvPr id="12" name="">
            <a:extLst xmlns:a="http://schemas.openxmlformats.org/drawingml/2006/main">
              <a:ext uri="{FF2B5EF4-FFF2-40B4-BE49-F238E27FC236}">
                <a16:creationId xmlns:a16="http://schemas.microsoft.com/office/drawing/2014/main" id="{87F802F8-F956-479C-A82F-011FFBC1CB2A}"/>
              </a:ext>
            </a:extLst>
          </p:cNvPr>
          <p:cNvSpPr>
            <a:spLocks xmlns:a="http://schemas.openxmlformats.org/drawingml/2006/main" noGrp="1"/>
          </p:cNvSpPr>
          <p:nvPr/>
        </p:nvSpPr>
        <p:spPr>
          <a:xfrm xmlns:a="http://schemas.openxmlformats.org/drawingml/2006/main">
            <a:off x="6362700" y="2667000"/>
            <a:ext cx="2381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3" name="text">
            <a:extLst xmlns:a="http://schemas.openxmlformats.org/drawingml/2006/main">
              <a:ext uri="{FF2B5EF4-FFF2-40B4-BE49-F238E27FC236}">
                <a16:creationId xmlns:a16="http://schemas.microsoft.com/office/drawing/2014/main" id="{31E54F24-A4EE-4337-8FE1-9806F523E4D0}"/>
              </a:ext>
            </a:extLst>
          </p:cNvPr>
          <p:cNvSpPr>
            <a:spLocks xmlns:a="http://schemas.openxmlformats.org/drawingml/2006/main" noGrp="1"/>
          </p:cNvSpPr>
          <p:nvPr/>
        </p:nvSpPr>
        <p:spPr>
          <a:xfrm xmlns:a="http://schemas.openxmlformats.org/drawingml/2006/main">
            <a:off x="6362700" y="28003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longest reported shard time</a:t>
            </a:r>
          </a:p>
        </p:txBody>
      </p:sp>
      <p:sp>
        <p:nvSpPr>
          <p:cNvPr id="14" name="text">
            <a:extLst xmlns:a="http://schemas.openxmlformats.org/drawingml/2006/main">
              <a:ext uri="{FF2B5EF4-FFF2-40B4-BE49-F238E27FC236}">
                <a16:creationId xmlns:a16="http://schemas.microsoft.com/office/drawing/2014/main" id="{C0440168-F175-4EEF-B13A-C60B8BB69561}"/>
              </a:ext>
            </a:extLst>
          </p:cNvPr>
          <p:cNvSpPr>
            <a:spLocks xmlns:a="http://schemas.openxmlformats.org/drawingml/2006/main" noGrp="1"/>
          </p:cNvSpPr>
          <p:nvPr/>
        </p:nvSpPr>
        <p:spPr>
          <a:xfrm xmlns:a="http://schemas.openxmlformats.org/drawingml/2006/main">
            <a:off x="9201150" y="179070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650" b="1" i="0">
                <a:solidFill>
                  <a:srgbClr val="0B0F14"/>
                </a:solidFill>
                <a:latin typeface="Arial"/>
                <a:ea typeface="Arial"/>
                <a:cs typeface="Arial"/>
              </a:defRPr>
            </a:pPr>
            <a:r>
              <a:rPr sz="4650" b="1" i="0">
                <a:solidFill>
                  <a:srgbClr val="0B0F14"/>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689CDAAF-CC07-493B-AD10-CEE500855C8D}"/>
              </a:ext>
            </a:extLst>
          </p:cNvPr>
          <p:cNvSpPr>
            <a:spLocks xmlns:a="http://schemas.openxmlformats.org/drawingml/2006/main" noGrp="1"/>
          </p:cNvSpPr>
          <p:nvPr/>
        </p:nvSpPr>
        <p:spPr>
          <a:xfrm xmlns:a="http://schemas.openxmlformats.org/drawingml/2006/main">
            <a:off x="9201150" y="2667000"/>
            <a:ext cx="2381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16" name="text">
            <a:extLst xmlns:a="http://schemas.openxmlformats.org/drawingml/2006/main">
              <a:ext uri="{FF2B5EF4-FFF2-40B4-BE49-F238E27FC236}">
                <a16:creationId xmlns:a16="http://schemas.microsoft.com/office/drawing/2014/main" id="{03886ED9-B143-46D9-BD89-81CC024ED3E3}"/>
              </a:ext>
            </a:extLst>
          </p:cNvPr>
          <p:cNvSpPr>
            <a:spLocks xmlns:a="http://schemas.openxmlformats.org/drawingml/2006/main" noGrp="1"/>
          </p:cNvSpPr>
          <p:nvPr/>
        </p:nvSpPr>
        <p:spPr>
          <a:xfrm xmlns:a="http://schemas.openxmlformats.org/drawingml/2006/main">
            <a:off x="9201150" y="28003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reported weight-10 witnesses</a:t>
            </a:r>
          </a:p>
        </p:txBody>
      </p:sp>
      <p:sp>
        <p:nvSpPr>
          <p:cNvPr id="17" name="">
            <a:extLst xmlns:a="http://schemas.openxmlformats.org/drawingml/2006/main">
              <a:ext uri="{FF2B5EF4-FFF2-40B4-BE49-F238E27FC236}">
                <a16:creationId xmlns:a16="http://schemas.microsoft.com/office/drawing/2014/main" id="{EA331AF6-987B-4D3C-B241-078A46F7F382}"/>
              </a:ext>
            </a:extLst>
          </p:cNvPr>
          <p:cNvSpPr>
            <a:spLocks xmlns:a="http://schemas.openxmlformats.org/drawingml/2006/main" noGrp="1"/>
          </p:cNvSpPr>
          <p:nvPr/>
        </p:nvSpPr>
        <p:spPr>
          <a:xfrm xmlns:a="http://schemas.openxmlformats.org/drawingml/2006/main">
            <a:off x="685800" y="4095750"/>
            <a:ext cx="10896600" cy="140970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18" name="text">
            <a:extLst xmlns:a="http://schemas.openxmlformats.org/drawingml/2006/main">
              <a:ext uri="{FF2B5EF4-FFF2-40B4-BE49-F238E27FC236}">
                <a16:creationId xmlns:a16="http://schemas.microsoft.com/office/drawing/2014/main" id="{8A6BB186-22F0-42E0-BF97-16A47FCCD434}"/>
              </a:ext>
            </a:extLst>
          </p:cNvPr>
          <p:cNvSpPr>
            <a:spLocks xmlns:a="http://schemas.openxmlformats.org/drawingml/2006/main" noGrp="1"/>
          </p:cNvSpPr>
          <p:nvPr/>
        </p:nvSpPr>
        <p:spPr>
          <a:xfrm xmlns:a="http://schemas.openxmlformats.org/drawingml/2006/main">
            <a:off x="91440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TRUST BOUNDARY</a:t>
            </a:r>
          </a:p>
        </p:txBody>
      </p:sp>
      <p:sp>
        <p:nvSpPr>
          <p:cNvPr id="19" name="text">
            <a:extLst xmlns:a="http://schemas.openxmlformats.org/drawingml/2006/main">
              <a:ext uri="{FF2B5EF4-FFF2-40B4-BE49-F238E27FC236}">
                <a16:creationId xmlns:a16="http://schemas.microsoft.com/office/drawing/2014/main" id="{D2803884-57EB-4CB3-BC52-AEB6C2E832D4}"/>
              </a:ext>
            </a:extLst>
          </p:cNvPr>
          <p:cNvSpPr>
            <a:spLocks xmlns:a="http://schemas.openxmlformats.org/drawingml/2006/main" noGrp="1"/>
          </p:cNvSpPr>
          <p:nvPr/>
        </p:nvSpPr>
        <p:spPr>
          <a:xfrm xmlns:a="http://schemas.openxmlformats.org/drawingml/2006/main">
            <a:off x="914400" y="470535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72"/>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A check of the hashes, the counters and the witnesses does not show that the C++ search examined all necessary branches.</a:t>
            </a:r>
          </a:p>
        </p:txBody>
      </p:sp>
      <p:sp>
        <p:nvSpPr>
          <p:cNvPr id="20" name="text">
            <a:extLst xmlns:a="http://schemas.openxmlformats.org/drawingml/2006/main">
              <a:ext uri="{FF2B5EF4-FFF2-40B4-BE49-F238E27FC236}">
                <a16:creationId xmlns:a16="http://schemas.microsoft.com/office/drawing/2014/main" id="{B46408F9-05B5-4E66-8B65-456DA39BFF65}"/>
              </a:ext>
            </a:extLst>
          </p:cNvPr>
          <p:cNvSpPr>
            <a:spLocks xmlns:a="http://schemas.openxmlformats.org/drawingml/2006/main" noGrp="1"/>
          </p:cNvSpPr>
          <p:nvPr/>
        </p:nvSpPr>
        <p:spPr>
          <a:xfrm xmlns:a="http://schemas.openxmlformats.org/drawingml/2006/main">
            <a:off x="914400" y="56578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D6673"/>
                </a:solidFill>
                <a:latin typeface="Arial"/>
                <a:ea typeface="Arial"/>
                <a:cs typeface="Arial"/>
              </a:defRPr>
            </a:pPr>
            <a:r>
              <a:rPr sz="1350" b="0" i="0">
                <a:solidFill>
                  <a:srgbClr val="5D6673"/>
                </a:solidFill>
                <a:latin typeface="Arial"/>
                <a:ea typeface="Arial"/>
                <a:cs typeface="Arial"/>
              </a:rPr>
              <a:t>The dossier for this briefing does not contain the solver, the shards, the witnesses or the audit ZIP file.</a:t>
            </a:r>
          </a:p>
        </p:txBody>
      </p:sp>
      <p:sp>
        <p:nvSpPr>
          <p:cNvPr id="21" name="visible-source">
            <a:extLst xmlns:a="http://schemas.openxmlformats.org/drawingml/2006/main">
              <a:ext uri="{FF2B5EF4-FFF2-40B4-BE49-F238E27FC236}">
                <a16:creationId xmlns:a16="http://schemas.microsoft.com/office/drawing/2014/main" id="{CDC24E74-6BF6-4442-8C0E-F736AAC951FA}"/>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claims from the private bundle. No other team did a replay.</a:t>
            </a:r>
          </a:p>
        </p:txBody>
      </p:sp>
    </p:spTree>
    <p:extLst>
      <p:ext uri="{BB962C8B-B14F-4D97-AF65-F5344CB8AC3E}">
        <p14:creationId xmlns:p14="http://schemas.microsoft.com/office/powerpoint/2010/main" val="2548798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ection">
            <a:extLst xmlns:a="http://schemas.openxmlformats.org/drawingml/2006/main">
              <a:ext uri="{FF2B5EF4-FFF2-40B4-BE49-F238E27FC236}">
                <a16:creationId xmlns:a16="http://schemas.microsoft.com/office/drawing/2014/main" id="{17FCF2AF-D931-48D7-9C63-8EA357C6AED0}"/>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EVIDENCE LEDGER</a:t>
            </a:r>
          </a:p>
        </p:txBody>
      </p:sp>
      <p:sp>
        <p:nvSpPr>
          <p:cNvPr id="2" name="slide-title">
            <a:extLst xmlns:a="http://schemas.openxmlformats.org/drawingml/2006/main">
              <a:ext uri="{FF2B5EF4-FFF2-40B4-BE49-F238E27FC236}">
                <a16:creationId xmlns:a16="http://schemas.microsoft.com/office/drawing/2014/main" id="{EFA0B9B9-268F-4434-875B-A41EF5757077}"/>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101"/>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This ledger keeps the public facts separate from the bundle claims</a:t>
            </a:r>
          </a:p>
        </p:txBody>
      </p:sp>
      <p:sp>
        <p:nvSpPr>
          <p:cNvPr id="3" name="">
            <a:extLst xmlns:a="http://schemas.openxmlformats.org/drawingml/2006/main">
              <a:ext uri="{FF2B5EF4-FFF2-40B4-BE49-F238E27FC236}">
                <a16:creationId xmlns:a16="http://schemas.microsoft.com/office/drawing/2014/main" id="{455B448E-502B-4627-932E-DF1D23542581}"/>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411A14AB-875E-4692-A5C4-C87C44F4E1DA}"/>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8AF3B42F-8298-44B4-A7EF-6AB41A1A7B3F}"/>
              </a:ext>
            </a:extLst>
          </p:cNvPr>
          <p:cNvSpPr>
            <a:spLocks xmlns:a="http://schemas.openxmlformats.org/drawingml/2006/main" noGrp="1"/>
          </p:cNvSpPr>
          <p:nvPr/>
        </p:nvSpPr>
        <p:spPr>
          <a:xfrm xmlns:a="http://schemas.openxmlformats.org/drawingml/2006/main">
            <a:off x="590550" y="1676400"/>
            <a:ext cx="5238750" cy="409575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54E1E282-1AD8-4F9B-BA1E-F8934279090C}"/>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ABB4C717-FB71-45EA-943C-FAF23F279702}"/>
              </a:ext>
            </a:extLst>
          </p:cNvPr>
          <p:cNvSpPr>
            <a:spLocks xmlns:a="http://schemas.openxmlformats.org/drawingml/2006/main" noGrp="1"/>
          </p:cNvSpPr>
          <p:nvPr/>
        </p:nvSpPr>
        <p:spPr>
          <a:xfrm xmlns:a="http://schemas.openxmlformats.org/drawingml/2006/main">
            <a:off x="914400" y="19335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CHECKED FROM PUBLIC DATA</a:t>
            </a:r>
          </a:p>
        </p:txBody>
      </p:sp>
      <p:sp>
        <p:nvSpPr>
          <p:cNvPr id="9" name="text">
            <a:extLst xmlns:a="http://schemas.openxmlformats.org/drawingml/2006/main">
              <a:ext uri="{FF2B5EF4-FFF2-40B4-BE49-F238E27FC236}">
                <a16:creationId xmlns:a16="http://schemas.microsoft.com/office/drawing/2014/main" id="{F94E34B2-4A5D-49EC-BFD9-E44117D1983D}"/>
              </a:ext>
            </a:extLst>
          </p:cNvPr>
          <p:cNvSpPr>
            <a:spLocks xmlns:a="http://schemas.openxmlformats.org/drawingml/2006/main" noGrp="1"/>
          </p:cNvSpPr>
          <p:nvPr/>
        </p:nvSpPr>
        <p:spPr>
          <a:xfrm xmlns:a="http://schemas.openxmlformats.org/drawingml/2006/main">
            <a:off x="873252" y="2495550"/>
            <a:ext cx="447979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Public q288 circuit identity</a:t>
            </a:r>
          </a:p>
        </p:txBody>
      </p:sp>
      <p:sp>
        <p:nvSpPr>
          <p:cNvPr id="11" name="text">
            <a:extLst xmlns:a="http://schemas.openxmlformats.org/drawingml/2006/main">
              <a:ext uri="{FF2B5EF4-FFF2-40B4-BE49-F238E27FC236}">
                <a16:creationId xmlns:a16="http://schemas.microsoft.com/office/drawing/2014/main" id="{9E6EACFA-CE8C-4F3F-B774-83B713B518A7}"/>
              </a:ext>
            </a:extLst>
          </p:cNvPr>
          <p:cNvSpPr>
            <a:spLocks xmlns:a="http://schemas.openxmlformats.org/drawingml/2006/main" noGrp="1"/>
          </p:cNvSpPr>
          <p:nvPr/>
        </p:nvSpPr>
        <p:spPr>
          <a:xfrm xmlns:a="http://schemas.openxmlformats.org/drawingml/2006/main">
            <a:off x="873252" y="3086100"/>
            <a:ext cx="447979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288 qubits, 1,728 detectors, 12 observables</a:t>
            </a:r>
          </a:p>
        </p:txBody>
      </p:sp>
      <p:sp>
        <p:nvSpPr>
          <p:cNvPr id="13" name="text">
            <a:extLst xmlns:a="http://schemas.openxmlformats.org/drawingml/2006/main">
              <a:ext uri="{FF2B5EF4-FFF2-40B4-BE49-F238E27FC236}">
                <a16:creationId xmlns:a16="http://schemas.microsoft.com/office/drawing/2014/main" id="{2458DDDA-3CD4-4971-870F-775D240E5527}"/>
              </a:ext>
            </a:extLst>
          </p:cNvPr>
          <p:cNvSpPr>
            <a:spLocks xmlns:a="http://schemas.openxmlformats.org/drawingml/2006/main" noGrp="1"/>
          </p:cNvSpPr>
          <p:nvPr/>
        </p:nvSpPr>
        <p:spPr>
          <a:xfrm xmlns:a="http://schemas.openxmlformats.org/drawingml/2006/main">
            <a:off x="873252" y="3676650"/>
            <a:ext cx="447979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10,368 Z-filtered raw mechanisms</a:t>
            </a:r>
          </a:p>
        </p:txBody>
      </p:sp>
      <p:sp>
        <p:nvSpPr>
          <p:cNvPr id="15" name="text">
            <a:extLst xmlns:a="http://schemas.openxmlformats.org/drawingml/2006/main">
              <a:ext uri="{FF2B5EF4-FFF2-40B4-BE49-F238E27FC236}">
                <a16:creationId xmlns:a16="http://schemas.microsoft.com/office/drawing/2014/main" id="{8F8FB726-A76F-48FB-A041-1AB84AC98484}"/>
              </a:ext>
            </a:extLst>
          </p:cNvPr>
          <p:cNvSpPr>
            <a:spLocks xmlns:a="http://schemas.openxmlformats.org/drawingml/2006/main" noGrp="1"/>
          </p:cNvSpPr>
          <p:nvPr/>
        </p:nvSpPr>
        <p:spPr>
          <a:xfrm xmlns:a="http://schemas.openxmlformats.org/drawingml/2006/main">
            <a:off x="873252" y="4267200"/>
            <a:ext cx="447979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8,784 unique (H,L) signatures</a:t>
            </a:r>
          </a:p>
        </p:txBody>
      </p:sp>
      <p:sp>
        <p:nvSpPr>
          <p:cNvPr id="17" name="text">
            <a:extLst xmlns:a="http://schemas.openxmlformats.org/drawingml/2006/main">
              <a:ext uri="{FF2B5EF4-FFF2-40B4-BE49-F238E27FC236}">
                <a16:creationId xmlns:a16="http://schemas.microsoft.com/office/drawing/2014/main" id="{A11A94BB-F428-4AC7-B62A-EDB54707D83A}"/>
              </a:ext>
            </a:extLst>
          </p:cNvPr>
          <p:cNvSpPr>
            <a:spLocks xmlns:a="http://schemas.openxmlformats.org/drawingml/2006/main" noGrp="1"/>
          </p:cNvSpPr>
          <p:nvPr/>
        </p:nvSpPr>
        <p:spPr>
          <a:xfrm xmlns:a="http://schemas.openxmlformats.org/drawingml/2006/main">
            <a:off x="873252" y="4857750"/>
            <a:ext cx="447979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0B0F14"/>
                </a:solidFill>
                <a:latin typeface="Arial"/>
                <a:ea typeface="Arial"/>
                <a:cs typeface="Arial"/>
              </a:defRPr>
            </a:pPr>
            <a:r>
              <a:rPr sz="1425" b="1" i="0">
                <a:solidFill>
                  <a:srgbClr val="0B0F14"/>
                </a:solidFill>
                <a:latin typeface="Arial"/>
                <a:ea typeface="Arial"/>
                <a:cs typeface="Arial"/>
              </a:rPr>
              <a:t>Public upper bound d ≤ 10</a:t>
            </a:r>
          </a:p>
        </p:txBody>
      </p:sp>
      <p:sp>
        <p:nvSpPr>
          <p:cNvPr id="18" name="">
            <a:extLst xmlns:a="http://schemas.openxmlformats.org/drawingml/2006/main">
              <a:ext uri="{FF2B5EF4-FFF2-40B4-BE49-F238E27FC236}">
                <a16:creationId xmlns:a16="http://schemas.microsoft.com/office/drawing/2014/main" id="{FC2C92AF-285D-42AB-9757-9C656549B3A4}"/>
              </a:ext>
            </a:extLst>
          </p:cNvPr>
          <p:cNvSpPr>
            <a:spLocks xmlns:a="http://schemas.openxmlformats.org/drawingml/2006/main" noGrp="1"/>
          </p:cNvSpPr>
          <p:nvPr/>
        </p:nvSpPr>
        <p:spPr>
          <a:xfrm xmlns:a="http://schemas.openxmlformats.org/drawingml/2006/main">
            <a:off x="6362700" y="1676400"/>
            <a:ext cx="5238750" cy="40957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168696E7-5E73-4858-9D84-EBE0DD5A8BE4}"/>
              </a:ext>
            </a:extLst>
          </p:cNvPr>
          <p:cNvSpPr>
            <a:spLocks xmlns:a="http://schemas.openxmlformats.org/drawingml/2006/main" noGrp="1"/>
          </p:cNvSpPr>
          <p:nvPr/>
        </p:nvSpPr>
        <p:spPr>
          <a:xfrm xmlns:a="http://schemas.openxmlformats.org/drawingml/2006/main">
            <a:off x="6610350" y="1885950"/>
            <a:ext cx="1828800" cy="266700"/>
          </a:xfrm>
          <a:prstGeom xmlns:a="http://schemas.openxmlformats.org/drawingml/2006/main" prst="rect">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20" name="text">
            <a:extLst xmlns:a="http://schemas.openxmlformats.org/drawingml/2006/main">
              <a:ext uri="{FF2B5EF4-FFF2-40B4-BE49-F238E27FC236}">
                <a16:creationId xmlns:a16="http://schemas.microsoft.com/office/drawing/2014/main" id="{A4D25F25-0D96-495C-9B63-7E04C18DCACB}"/>
              </a:ext>
            </a:extLst>
          </p:cNvPr>
          <p:cNvSpPr>
            <a:spLocks xmlns:a="http://schemas.openxmlformats.org/drawingml/2006/main" noGrp="1"/>
          </p:cNvSpPr>
          <p:nvPr/>
        </p:nvSpPr>
        <p:spPr>
          <a:xfrm xmlns:a="http://schemas.openxmlformats.org/drawingml/2006/main">
            <a:off x="6686550" y="1933575"/>
            <a:ext cx="167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PRIVATE BUNDLE ONLY</a:t>
            </a:r>
          </a:p>
        </p:txBody>
      </p:sp>
      <p:sp>
        <p:nvSpPr>
          <p:cNvPr id="22" name="text">
            <a:extLst xmlns:a="http://schemas.openxmlformats.org/drawingml/2006/main">
              <a:ext uri="{FF2B5EF4-FFF2-40B4-BE49-F238E27FC236}">
                <a16:creationId xmlns:a16="http://schemas.microsoft.com/office/drawing/2014/main" id="{4D6F94D6-BAD6-4380-A390-7C6102196126}"/>
              </a:ext>
            </a:extLst>
          </p:cNvPr>
          <p:cNvSpPr>
            <a:spLocks xmlns:a="http://schemas.openxmlformats.org/drawingml/2006/main" noGrp="1"/>
          </p:cNvSpPr>
          <p:nvPr/>
        </p:nvSpPr>
        <p:spPr>
          <a:xfrm xmlns:a="http://schemas.openxmlformats.org/drawingml/2006/main">
            <a:off x="6645402" y="2495550"/>
            <a:ext cx="447979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No fault of weight 1 to 9 exists</a:t>
            </a:r>
          </a:p>
        </p:txBody>
      </p:sp>
      <p:sp>
        <p:nvSpPr>
          <p:cNvPr id="24" name="text">
            <a:extLst xmlns:a="http://schemas.openxmlformats.org/drawingml/2006/main">
              <a:ext uri="{FF2B5EF4-FFF2-40B4-BE49-F238E27FC236}">
                <a16:creationId xmlns:a16="http://schemas.microsoft.com/office/drawing/2014/main" id="{64710091-B705-4FC9-BC0E-46A3FA11E867}"/>
              </a:ext>
            </a:extLst>
          </p:cNvPr>
          <p:cNvSpPr>
            <a:spLocks xmlns:a="http://schemas.openxmlformats.org/drawingml/2006/main" noGrp="1"/>
          </p:cNvSpPr>
          <p:nvPr/>
        </p:nvSpPr>
        <p:spPr>
          <a:xfrm xmlns:a="http://schemas.openxmlformats.org/drawingml/2006/main">
            <a:off x="6645402" y="3086100"/>
            <a:ext cx="447979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Two witness vectors on the pinned input</a:t>
            </a:r>
          </a:p>
        </p:txBody>
      </p:sp>
      <p:sp>
        <p:nvSpPr>
          <p:cNvPr id="26" name="text">
            <a:extLst xmlns:a="http://schemas.openxmlformats.org/drawingml/2006/main">
              <a:ext uri="{FF2B5EF4-FFF2-40B4-BE49-F238E27FC236}">
                <a16:creationId xmlns:a16="http://schemas.microsoft.com/office/drawing/2014/main" id="{F1411B07-EC55-4976-88ED-76EE61996327}"/>
              </a:ext>
            </a:extLst>
          </p:cNvPr>
          <p:cNvSpPr>
            <a:spLocks xmlns:a="http://schemas.openxmlformats.org/drawingml/2006/main" noGrp="1"/>
          </p:cNvSpPr>
          <p:nvPr/>
        </p:nvSpPr>
        <p:spPr>
          <a:xfrm xmlns:a="http://schemas.openxmlformats.org/drawingml/2006/main">
            <a:off x="6645402" y="3676650"/>
            <a:ext cx="447979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Six shards cover the domain without gaps</a:t>
            </a:r>
          </a:p>
        </p:txBody>
      </p:sp>
      <p:sp>
        <p:nvSpPr>
          <p:cNvPr id="28" name="text">
            <a:extLst xmlns:a="http://schemas.openxmlformats.org/drawingml/2006/main">
              <a:ext uri="{FF2B5EF4-FFF2-40B4-BE49-F238E27FC236}">
                <a16:creationId xmlns:a16="http://schemas.microsoft.com/office/drawing/2014/main" id="{3C5FAF06-F9FC-45F6-BF5D-3FC30E3C9C01}"/>
              </a:ext>
            </a:extLst>
          </p:cNvPr>
          <p:cNvSpPr>
            <a:spLocks xmlns:a="http://schemas.openxmlformats.org/drawingml/2006/main" noGrp="1"/>
          </p:cNvSpPr>
          <p:nvPr/>
        </p:nvSpPr>
        <p:spPr>
          <a:xfrm xmlns:a="http://schemas.openxmlformats.org/drawingml/2006/main">
            <a:off x="6645402" y="4267200"/>
            <a:ext cx="447979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0B0F14"/>
                </a:solidFill>
                <a:latin typeface="Arial"/>
                <a:ea typeface="Arial"/>
                <a:cs typeface="Arial"/>
              </a:defRPr>
            </a:pPr>
            <a:r>
              <a:rPr sz="1425" b="0" i="0">
                <a:solidFill>
                  <a:srgbClr val="0B0F14"/>
                </a:solidFill>
                <a:latin typeface="Arial"/>
                <a:ea typeface="Arial"/>
                <a:cs typeface="Arial"/>
              </a:rPr>
              <a:t>24 transformations obey both identities</a:t>
            </a:r>
          </a:p>
        </p:txBody>
      </p:sp>
      <p:sp>
        <p:nvSpPr>
          <p:cNvPr id="30" name="text">
            <a:extLst xmlns:a="http://schemas.openxmlformats.org/drawingml/2006/main">
              <a:ext uri="{FF2B5EF4-FFF2-40B4-BE49-F238E27FC236}">
                <a16:creationId xmlns:a16="http://schemas.microsoft.com/office/drawing/2014/main" id="{D2381B67-7B88-4D71-9BF4-229F70C7C17C}"/>
              </a:ext>
            </a:extLst>
          </p:cNvPr>
          <p:cNvSpPr>
            <a:spLocks xmlns:a="http://schemas.openxmlformats.org/drawingml/2006/main" noGrp="1"/>
          </p:cNvSpPr>
          <p:nvPr/>
        </p:nvSpPr>
        <p:spPr>
          <a:xfrm xmlns:a="http://schemas.openxmlformats.org/drawingml/2006/main">
            <a:off x="6645402" y="4857750"/>
            <a:ext cx="447979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0B0F14"/>
                </a:solidFill>
                <a:latin typeface="Arial"/>
                <a:ea typeface="Arial"/>
                <a:cs typeface="Arial"/>
              </a:defRPr>
            </a:pPr>
            <a:r>
              <a:rPr sz="1425" b="1" i="0">
                <a:solidFill>
                  <a:srgbClr val="0B0F14"/>
                </a:solidFill>
                <a:latin typeface="Arial"/>
                <a:ea typeface="Arial"/>
                <a:cs typeface="Arial"/>
              </a:rPr>
              <a:t>Exact value d = 10</a:t>
            </a:r>
          </a:p>
        </p:txBody>
      </p:sp>
      <p:sp>
        <p:nvSpPr>
          <p:cNvPr id="31" name="text">
            <a:extLst xmlns:a="http://schemas.openxmlformats.org/drawingml/2006/main">
              <a:ext uri="{FF2B5EF4-FFF2-40B4-BE49-F238E27FC236}">
                <a16:creationId xmlns:a16="http://schemas.microsoft.com/office/drawing/2014/main" id="{F503296C-ED39-4ECE-93E4-51185FE6943D}"/>
              </a:ext>
            </a:extLst>
          </p:cNvPr>
          <p:cNvSpPr>
            <a:spLocks xmlns:a="http://schemas.openxmlformats.org/drawingml/2006/main" noGrp="1"/>
          </p:cNvSpPr>
          <p:nvPr/>
        </p:nvSpPr>
        <p:spPr>
          <a:xfrm xmlns:a="http://schemas.openxmlformats.org/drawingml/2006/main">
            <a:off x="704850" y="5943600"/>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i="0">
                <a:solidFill>
                  <a:srgbClr val="0B0F14"/>
                </a:solidFill>
                <a:latin typeface="Arial"/>
                <a:ea typeface="Arial"/>
                <a:cs typeface="Arial"/>
              </a:defRPr>
            </a:pPr>
            <a:r>
              <a:rPr sz="1575" b="1" i="0">
                <a:solidFill>
                  <a:srgbClr val="0B0F14"/>
                </a:solidFill>
                <a:latin typeface="Arial"/>
                <a:ea typeface="Arial"/>
                <a:cs typeface="Arial"/>
              </a:rPr>
              <a:t>Another team can test each item in the right column.</a:t>
            </a:r>
          </a:p>
        </p:txBody>
      </p:sp>
      <p:sp>
        <p:nvSpPr>
          <p:cNvPr id="32" name="visible-source">
            <a:extLst xmlns:a="http://schemas.openxmlformats.org/drawingml/2006/main">
              <a:ext uri="{FF2B5EF4-FFF2-40B4-BE49-F238E27FC236}">
                <a16:creationId xmlns:a16="http://schemas.microsoft.com/office/drawing/2014/main" id="{F26D59C3-804E-4383-BD2E-5CEE7F3F8ACE}"/>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the evidence ledger, audit version 2.0</a:t>
            </a:r>
          </a:p>
        </p:txBody>
      </p:sp>
    </p:spTree>
    <p:extLst>
      <p:ext uri="{BB962C8B-B14F-4D97-AF65-F5344CB8AC3E}">
        <p14:creationId xmlns:p14="http://schemas.microsoft.com/office/powerpoint/2010/main" val="18575141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
            <a:extLst xmlns:a="http://schemas.openxmlformats.org/drawingml/2006/main">
              <a:ext uri="{FF2B5EF4-FFF2-40B4-BE49-F238E27FC236}">
                <a16:creationId xmlns:a16="http://schemas.microsoft.com/office/drawing/2014/main" id="{928239AD-CF60-4524-B3C4-42E5027B31AF}"/>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VALIDATION ROADMAP</a:t>
            </a:r>
          </a:p>
        </p:txBody>
      </p:sp>
      <p:sp>
        <p:nvSpPr>
          <p:cNvPr id="2" name="slide-title">
            <a:extLst xmlns:a="http://schemas.openxmlformats.org/drawingml/2006/main">
              <a:ext uri="{FF2B5EF4-FFF2-40B4-BE49-F238E27FC236}">
                <a16:creationId xmlns:a16="http://schemas.microsoft.com/office/drawing/2014/main" id="{56B80E82-95EF-4706-A563-A28045D592B0}"/>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56"/>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The next step is a replay by a second team</a:t>
            </a:r>
          </a:p>
        </p:txBody>
      </p:sp>
      <p:sp>
        <p:nvSpPr>
          <p:cNvPr id="3" name="">
            <a:extLst xmlns:a="http://schemas.openxmlformats.org/drawingml/2006/main">
              <a:ext uri="{FF2B5EF4-FFF2-40B4-BE49-F238E27FC236}">
                <a16:creationId xmlns:a16="http://schemas.microsoft.com/office/drawing/2014/main" id="{9772CC6D-1356-4833-8448-CE4DCC7F66AE}"/>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64984697-4E7D-4EBF-B65C-4A82525B86FA}"/>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35DDB900-8BAC-4240-853E-311F1C937E02}"/>
              </a:ext>
            </a:extLst>
          </p:cNvPr>
          <p:cNvSpPr>
            <a:spLocks xmlns:a="http://schemas.openxmlformats.org/drawingml/2006/main" noGrp="1"/>
          </p:cNvSpPr>
          <p:nvPr/>
        </p:nvSpPr>
        <p:spPr>
          <a:xfrm xmlns:a="http://schemas.openxmlformats.org/drawingml/2006/main">
            <a:off x="1047750" y="3276600"/>
            <a:ext cx="10096500" cy="19050"/>
          </a:xfrm>
          <a:prstGeom xmlns:a="http://schemas.openxmlformats.org/drawingml/2006/main" prst="rect">
            <a:avLst/>
          </a:prstGeom>
          <a:solidFill xmlns:a="http://schemas.openxmlformats.org/drawingml/2006/main">
            <a:srgbClr val="0B0F14"/>
          </a:solidFill>
          <a:ln xmlns:a="http://schemas.openxmlformats.org/drawingml/2006/main" w="0">
            <a:no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AC54297-3CC8-4036-886F-A214A9A64C81}"/>
              </a:ext>
            </a:extLst>
          </p:cNvPr>
          <p:cNvSpPr>
            <a:spLocks xmlns:a="http://schemas.openxmlformats.org/drawingml/2006/main" noGrp="1"/>
          </p:cNvSpPr>
          <p:nvPr/>
        </p:nvSpPr>
        <p:spPr>
          <a:xfrm xmlns:a="http://schemas.openxmlformats.org/drawingml/2006/main">
            <a:off x="781050" y="3209925"/>
            <a:ext cx="152400" cy="1524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7" name="text">
            <a:extLst xmlns:a="http://schemas.openxmlformats.org/drawingml/2006/main">
              <a:ext uri="{FF2B5EF4-FFF2-40B4-BE49-F238E27FC236}">
                <a16:creationId xmlns:a16="http://schemas.microsoft.com/office/drawing/2014/main" id="{FC0AE8E1-40E4-4298-B14B-2A2449C4BF59}"/>
              </a:ext>
            </a:extLst>
          </p:cNvPr>
          <p:cNvSpPr>
            <a:spLocks xmlns:a="http://schemas.openxmlformats.org/drawingml/2006/main" noGrp="1"/>
          </p:cNvSpPr>
          <p:nvPr/>
        </p:nvSpPr>
        <p:spPr>
          <a:xfrm xmlns:a="http://schemas.openxmlformats.org/drawingml/2006/main">
            <a:off x="685800" y="26479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5D6673"/>
                </a:solidFill>
                <a:latin typeface="Arial"/>
                <a:ea typeface="Arial"/>
                <a:cs typeface="Arial"/>
              </a:defRPr>
            </a:pPr>
            <a:r>
              <a:rPr sz="975" b="1" i="0">
                <a:solidFill>
                  <a:srgbClr val="5D6673"/>
                </a:solidFill>
                <a:latin typeface="Arial"/>
                <a:ea typeface="Arial"/>
                <a:cs typeface="Arial"/>
              </a:rPr>
              <a:t>GATE 1</a:t>
            </a:r>
          </a:p>
        </p:txBody>
      </p:sp>
      <p:sp>
        <p:nvSpPr>
          <p:cNvPr id="8" name="text">
            <a:extLst xmlns:a="http://schemas.openxmlformats.org/drawingml/2006/main">
              <a:ext uri="{FF2B5EF4-FFF2-40B4-BE49-F238E27FC236}">
                <a16:creationId xmlns:a16="http://schemas.microsoft.com/office/drawing/2014/main" id="{CE5B5CCB-ED04-40C7-A1FB-C4CE0777781E}"/>
              </a:ext>
            </a:extLst>
          </p:cNvPr>
          <p:cNvSpPr>
            <a:spLocks xmlns:a="http://schemas.openxmlformats.org/drawingml/2006/main" noGrp="1"/>
          </p:cNvSpPr>
          <p:nvPr/>
        </p:nvSpPr>
        <p:spPr>
          <a:xfrm xmlns:a="http://schemas.openxmlformats.org/drawingml/2006/main">
            <a:off x="685800" y="37338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Permanent release</a:t>
            </a:r>
          </a:p>
        </p:txBody>
      </p:sp>
      <p:sp>
        <p:nvSpPr>
          <p:cNvPr id="9" name="text">
            <a:extLst xmlns:a="http://schemas.openxmlformats.org/drawingml/2006/main">
              <a:ext uri="{FF2B5EF4-FFF2-40B4-BE49-F238E27FC236}">
                <a16:creationId xmlns:a16="http://schemas.microsoft.com/office/drawing/2014/main" id="{B0DEEBC5-DF9B-4CEE-9D0F-6106BDC82F28}"/>
              </a:ext>
            </a:extLst>
          </p:cNvPr>
          <p:cNvSpPr>
            <a:spLocks xmlns:a="http://schemas.openxmlformats.org/drawingml/2006/main" noGrp="1"/>
          </p:cNvSpPr>
          <p:nvPr/>
        </p:nvSpPr>
        <p:spPr>
          <a:xfrm xmlns:a="http://schemas.openxmlformats.org/drawingml/2006/main">
            <a:off x="685800" y="43053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Source, binaries, inputs, matrices, shards and hashes.</a:t>
            </a:r>
          </a:p>
        </p:txBody>
      </p:sp>
      <p:sp>
        <p:nvSpPr>
          <p:cNvPr id="10" name="">
            <a:extLst xmlns:a="http://schemas.openxmlformats.org/drawingml/2006/main">
              <a:ext uri="{FF2B5EF4-FFF2-40B4-BE49-F238E27FC236}">
                <a16:creationId xmlns:a16="http://schemas.microsoft.com/office/drawing/2014/main" id="{2579B0C3-BE06-4E7A-A49E-D80989214771}"/>
              </a:ext>
            </a:extLst>
          </p:cNvPr>
          <p:cNvSpPr>
            <a:spLocks xmlns:a="http://schemas.openxmlformats.org/drawingml/2006/main" noGrp="1"/>
          </p:cNvSpPr>
          <p:nvPr/>
        </p:nvSpPr>
        <p:spPr>
          <a:xfrm xmlns:a="http://schemas.openxmlformats.org/drawingml/2006/main">
            <a:off x="3619500" y="3209925"/>
            <a:ext cx="152400" cy="1524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11" name="text">
            <a:extLst xmlns:a="http://schemas.openxmlformats.org/drawingml/2006/main">
              <a:ext uri="{FF2B5EF4-FFF2-40B4-BE49-F238E27FC236}">
                <a16:creationId xmlns:a16="http://schemas.microsoft.com/office/drawing/2014/main" id="{9D926065-6F05-4B56-93A6-0BDC9B6BA712}"/>
              </a:ext>
            </a:extLst>
          </p:cNvPr>
          <p:cNvSpPr>
            <a:spLocks xmlns:a="http://schemas.openxmlformats.org/drawingml/2006/main" noGrp="1"/>
          </p:cNvSpPr>
          <p:nvPr/>
        </p:nvSpPr>
        <p:spPr>
          <a:xfrm xmlns:a="http://schemas.openxmlformats.org/drawingml/2006/main">
            <a:off x="3524250" y="26479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5D6673"/>
                </a:solidFill>
                <a:latin typeface="Arial"/>
                <a:ea typeface="Arial"/>
                <a:cs typeface="Arial"/>
              </a:defRPr>
            </a:pPr>
            <a:r>
              <a:rPr sz="975" b="1" i="0">
                <a:solidFill>
                  <a:srgbClr val="5D6673"/>
                </a:solidFill>
                <a:latin typeface="Arial"/>
                <a:ea typeface="Arial"/>
                <a:cs typeface="Arial"/>
              </a:rPr>
              <a:t>GATE 2</a:t>
            </a:r>
          </a:p>
        </p:txBody>
      </p:sp>
      <p:sp>
        <p:nvSpPr>
          <p:cNvPr id="12" name="text">
            <a:extLst xmlns:a="http://schemas.openxmlformats.org/drawingml/2006/main">
              <a:ext uri="{FF2B5EF4-FFF2-40B4-BE49-F238E27FC236}">
                <a16:creationId xmlns:a16="http://schemas.microsoft.com/office/drawing/2014/main" id="{62FA3D86-6109-4820-89F1-ECFD7D783DF2}"/>
              </a:ext>
            </a:extLst>
          </p:cNvPr>
          <p:cNvSpPr>
            <a:spLocks xmlns:a="http://schemas.openxmlformats.org/drawingml/2006/main" noGrp="1"/>
          </p:cNvSpPr>
          <p:nvPr/>
        </p:nvSpPr>
        <p:spPr>
          <a:xfrm xmlns:a="http://schemas.openxmlformats.org/drawingml/2006/main">
            <a:off x="3524250" y="37338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Small check program</a:t>
            </a:r>
          </a:p>
        </p:txBody>
      </p:sp>
      <p:sp>
        <p:nvSpPr>
          <p:cNvPr id="13" name="text">
            <a:extLst xmlns:a="http://schemas.openxmlformats.org/drawingml/2006/main">
              <a:ext uri="{FF2B5EF4-FFF2-40B4-BE49-F238E27FC236}">
                <a16:creationId xmlns:a16="http://schemas.microsoft.com/office/drawing/2014/main" id="{88AABE9E-276F-4BA7-93B3-A66A9FEB51C9}"/>
              </a:ext>
            </a:extLst>
          </p:cNvPr>
          <p:cNvSpPr>
            <a:spLocks xmlns:a="http://schemas.openxmlformats.org/drawingml/2006/main" noGrp="1"/>
          </p:cNvSpPr>
          <p:nvPr/>
        </p:nvSpPr>
        <p:spPr>
          <a:xfrm xmlns:a="http://schemas.openxmlformats.org/drawingml/2006/main">
            <a:off x="3524250" y="43053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Make H and L again, then check the two witnesses.</a:t>
            </a:r>
          </a:p>
        </p:txBody>
      </p:sp>
      <p:sp>
        <p:nvSpPr>
          <p:cNvPr id="14" name="">
            <a:extLst xmlns:a="http://schemas.openxmlformats.org/drawingml/2006/main">
              <a:ext uri="{FF2B5EF4-FFF2-40B4-BE49-F238E27FC236}">
                <a16:creationId xmlns:a16="http://schemas.microsoft.com/office/drawing/2014/main" id="{6FF9A031-BBC9-48B6-9FF2-4FA971B42B63}"/>
              </a:ext>
            </a:extLst>
          </p:cNvPr>
          <p:cNvSpPr>
            <a:spLocks xmlns:a="http://schemas.openxmlformats.org/drawingml/2006/main" noGrp="1"/>
          </p:cNvSpPr>
          <p:nvPr/>
        </p:nvSpPr>
        <p:spPr>
          <a:xfrm xmlns:a="http://schemas.openxmlformats.org/drawingml/2006/main">
            <a:off x="6457950" y="3209925"/>
            <a:ext cx="152400" cy="15240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txBody xmlns:a="http://schemas.openxmlformats.org/drawingml/2006/main">
          <a:bodyPr/>
          <a:p/>
        </p:txBody>
      </p:sp>
      <p:sp>
        <p:nvSpPr>
          <p:cNvPr id="15" name="text">
            <a:extLst xmlns:a="http://schemas.openxmlformats.org/drawingml/2006/main">
              <a:ext uri="{FF2B5EF4-FFF2-40B4-BE49-F238E27FC236}">
                <a16:creationId xmlns:a16="http://schemas.microsoft.com/office/drawing/2014/main" id="{02247121-B7B0-4E15-AB2A-43A036B4383C}"/>
              </a:ext>
            </a:extLst>
          </p:cNvPr>
          <p:cNvSpPr>
            <a:spLocks xmlns:a="http://schemas.openxmlformats.org/drawingml/2006/main" noGrp="1"/>
          </p:cNvSpPr>
          <p:nvPr/>
        </p:nvSpPr>
        <p:spPr>
          <a:xfrm xmlns:a="http://schemas.openxmlformats.org/drawingml/2006/main">
            <a:off x="6362700" y="26479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5D6673"/>
                </a:solidFill>
                <a:latin typeface="Arial"/>
                <a:ea typeface="Arial"/>
                <a:cs typeface="Arial"/>
              </a:defRPr>
            </a:pPr>
            <a:r>
              <a:rPr sz="975" b="1" i="0">
                <a:solidFill>
                  <a:srgbClr val="5D6673"/>
                </a:solidFill>
                <a:latin typeface="Arial"/>
                <a:ea typeface="Arial"/>
                <a:cs typeface="Arial"/>
              </a:rPr>
              <a:t>GATE 3</a:t>
            </a:r>
          </a:p>
        </p:txBody>
      </p:sp>
      <p:sp>
        <p:nvSpPr>
          <p:cNvPr id="16" name="text">
            <a:extLst xmlns:a="http://schemas.openxmlformats.org/drawingml/2006/main">
              <a:ext uri="{FF2B5EF4-FFF2-40B4-BE49-F238E27FC236}">
                <a16:creationId xmlns:a16="http://schemas.microsoft.com/office/drawing/2014/main" id="{8F75E6BC-19D7-480E-98F2-B993EDD5010E}"/>
              </a:ext>
            </a:extLst>
          </p:cNvPr>
          <p:cNvSpPr>
            <a:spLocks xmlns:a="http://schemas.openxmlformats.org/drawingml/2006/main" noGrp="1"/>
          </p:cNvSpPr>
          <p:nvPr/>
        </p:nvSpPr>
        <p:spPr>
          <a:xfrm xmlns:a="http://schemas.openxmlformats.org/drawingml/2006/main">
            <a:off x="6362700" y="37338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Second search</a:t>
            </a:r>
          </a:p>
        </p:txBody>
      </p:sp>
      <p:sp>
        <p:nvSpPr>
          <p:cNvPr id="17" name="text">
            <a:extLst xmlns:a="http://schemas.openxmlformats.org/drawingml/2006/main">
              <a:ext uri="{FF2B5EF4-FFF2-40B4-BE49-F238E27FC236}">
                <a16:creationId xmlns:a16="http://schemas.microsoft.com/office/drawing/2014/main" id="{3EC94804-9199-4CBD-8E40-C9485D9F5DC5}"/>
              </a:ext>
            </a:extLst>
          </p:cNvPr>
          <p:cNvSpPr>
            <a:spLocks xmlns:a="http://schemas.openxmlformats.org/drawingml/2006/main" noGrp="1"/>
          </p:cNvSpPr>
          <p:nvPr/>
        </p:nvSpPr>
        <p:spPr>
          <a:xfrm xmlns:a="http://schemas.openxmlformats.org/drawingml/2006/main">
            <a:off x="6362700" y="43053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Write the search again in Rust, with no symmetry if possible.</a:t>
            </a:r>
          </a:p>
        </p:txBody>
      </p:sp>
      <p:sp>
        <p:nvSpPr>
          <p:cNvPr id="18" name="">
            <a:extLst xmlns:a="http://schemas.openxmlformats.org/drawingml/2006/main">
              <a:ext uri="{FF2B5EF4-FFF2-40B4-BE49-F238E27FC236}">
                <a16:creationId xmlns:a16="http://schemas.microsoft.com/office/drawing/2014/main" id="{2A458A23-3433-4610-8648-B875FDCAFB89}"/>
              </a:ext>
            </a:extLst>
          </p:cNvPr>
          <p:cNvSpPr>
            <a:spLocks xmlns:a="http://schemas.openxmlformats.org/drawingml/2006/main" noGrp="1"/>
          </p:cNvSpPr>
          <p:nvPr/>
        </p:nvSpPr>
        <p:spPr>
          <a:xfrm xmlns:a="http://schemas.openxmlformats.org/drawingml/2006/main">
            <a:off x="9296400" y="320992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19" name="text">
            <a:extLst xmlns:a="http://schemas.openxmlformats.org/drawingml/2006/main">
              <a:ext uri="{FF2B5EF4-FFF2-40B4-BE49-F238E27FC236}">
                <a16:creationId xmlns:a16="http://schemas.microsoft.com/office/drawing/2014/main" id="{9F8B4947-396B-4C47-9225-288E20B2267C}"/>
              </a:ext>
            </a:extLst>
          </p:cNvPr>
          <p:cNvSpPr>
            <a:spLocks xmlns:a="http://schemas.openxmlformats.org/drawingml/2006/main" noGrp="1"/>
          </p:cNvSpPr>
          <p:nvPr/>
        </p:nvSpPr>
        <p:spPr>
          <a:xfrm xmlns:a="http://schemas.openxmlformats.org/drawingml/2006/main">
            <a:off x="9201150" y="26479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GATE 4</a:t>
            </a:r>
          </a:p>
        </p:txBody>
      </p:sp>
      <p:sp>
        <p:nvSpPr>
          <p:cNvPr id="20" name="text">
            <a:extLst xmlns:a="http://schemas.openxmlformats.org/drawingml/2006/main">
              <a:ext uri="{FF2B5EF4-FFF2-40B4-BE49-F238E27FC236}">
                <a16:creationId xmlns:a16="http://schemas.microsoft.com/office/drawing/2014/main" id="{D977B46C-7962-453A-92A1-93BA3C83870C}"/>
              </a:ext>
            </a:extLst>
          </p:cNvPr>
          <p:cNvSpPr>
            <a:spLocks xmlns:a="http://schemas.openxmlformats.org/drawingml/2006/main" noGrp="1"/>
          </p:cNvSpPr>
          <p:nvPr/>
        </p:nvSpPr>
        <p:spPr>
          <a:xfrm xmlns:a="http://schemas.openxmlformats.org/drawingml/2006/main">
            <a:off x="9201150" y="37338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0B0F14"/>
                </a:solidFill>
                <a:latin typeface="Arial"/>
                <a:ea typeface="Arial"/>
                <a:cs typeface="Arial"/>
              </a:defRPr>
            </a:pPr>
            <a:r>
              <a:rPr sz="1725" b="1" i="0">
                <a:solidFill>
                  <a:srgbClr val="0B0F14"/>
                </a:solidFill>
                <a:latin typeface="Arial"/>
                <a:ea typeface="Arial"/>
                <a:cs typeface="Arial"/>
              </a:rPr>
              <a:t>Proof object</a:t>
            </a:r>
          </a:p>
        </p:txBody>
      </p:sp>
      <p:sp>
        <p:nvSpPr>
          <p:cNvPr id="21" name="text">
            <a:extLst xmlns:a="http://schemas.openxmlformats.org/drawingml/2006/main">
              <a:ext uri="{FF2B5EF4-FFF2-40B4-BE49-F238E27FC236}">
                <a16:creationId xmlns:a16="http://schemas.microsoft.com/office/drawing/2014/main" id="{32B1E3FE-8877-444A-A246-896F94B96D95}"/>
              </a:ext>
            </a:extLst>
          </p:cNvPr>
          <p:cNvSpPr>
            <a:spLocks xmlns:a="http://schemas.openxmlformats.org/drawingml/2006/main" noGrp="1"/>
          </p:cNvSpPr>
          <p:nvPr/>
        </p:nvSpPr>
        <p:spPr>
          <a:xfrm xmlns:a="http://schemas.openxmlformats.org/drawingml/2006/main">
            <a:off x="9201150" y="43053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Use a SAT or PB encoding with a standard UNSAT certificate.</a:t>
            </a:r>
          </a:p>
        </p:txBody>
      </p:sp>
      <p:sp>
        <p:nvSpPr>
          <p:cNvPr id="22" name="">
            <a:extLst xmlns:a="http://schemas.openxmlformats.org/drawingml/2006/main">
              <a:ext uri="{FF2B5EF4-FFF2-40B4-BE49-F238E27FC236}">
                <a16:creationId xmlns:a16="http://schemas.microsoft.com/office/drawing/2014/main" id="{9CD3E699-1AAF-4291-8981-AB2B6BD3A702}"/>
              </a:ext>
            </a:extLst>
          </p:cNvPr>
          <p:cNvSpPr>
            <a:spLocks xmlns:a="http://schemas.openxmlformats.org/drawingml/2006/main" noGrp="1"/>
          </p:cNvSpPr>
          <p:nvPr/>
        </p:nvSpPr>
        <p:spPr>
          <a:xfrm xmlns:a="http://schemas.openxmlformats.org/drawingml/2006/main">
            <a:off x="685800" y="5638800"/>
            <a:ext cx="10801350" cy="43815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23" name="text">
            <a:extLst xmlns:a="http://schemas.openxmlformats.org/drawingml/2006/main">
              <a:ext uri="{FF2B5EF4-FFF2-40B4-BE49-F238E27FC236}">
                <a16:creationId xmlns:a16="http://schemas.microsoft.com/office/drawing/2014/main" id="{E3633873-9531-40C6-A8BD-98D78BBF9E29}"/>
              </a:ext>
            </a:extLst>
          </p:cNvPr>
          <p:cNvSpPr>
            <a:spLocks xmlns:a="http://schemas.openxmlformats.org/drawingml/2006/main" noGrp="1"/>
          </p:cNvSpPr>
          <p:nvPr/>
        </p:nvSpPr>
        <p:spPr>
          <a:xfrm xmlns:a="http://schemas.openxmlformats.org/drawingml/2006/main">
            <a:off x="895350" y="573405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i="0">
                <a:solidFill>
                  <a:srgbClr val="0B0F14"/>
                </a:solidFill>
                <a:latin typeface="Arial"/>
                <a:ea typeface="Arial"/>
                <a:cs typeface="Arial"/>
              </a:defRPr>
            </a:pPr>
            <a:r>
              <a:rPr sz="1500" b="1" i="0">
                <a:solidFill>
                  <a:srgbClr val="0B0F14"/>
                </a:solidFill>
                <a:latin typeface="Arial"/>
                <a:ea typeface="Arial"/>
                <a:cs typeface="Arial"/>
              </a:rPr>
              <a:t>Another team must start from the public .stim file and get the same lower bound.</a:t>
            </a:r>
          </a:p>
        </p:txBody>
      </p:sp>
      <p:sp>
        <p:nvSpPr>
          <p:cNvPr id="24" name="visible-source">
            <a:extLst xmlns:a="http://schemas.openxmlformats.org/drawingml/2006/main">
              <a:ext uri="{FF2B5EF4-FFF2-40B4-BE49-F238E27FC236}">
                <a16:creationId xmlns:a16="http://schemas.microsoft.com/office/drawing/2014/main" id="{C3FDF743-5E83-4361-9D9A-8325187DB067}"/>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 the hardening plan in the audited dossier</a:t>
            </a:r>
          </a:p>
        </p:txBody>
      </p:sp>
    </p:spTree>
    <p:extLst>
      <p:ext uri="{BB962C8B-B14F-4D97-AF65-F5344CB8AC3E}">
        <p14:creationId xmlns:p14="http://schemas.microsoft.com/office/powerpoint/2010/main" val="2710723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
            <a:extLst xmlns:a="http://schemas.openxmlformats.org/drawingml/2006/main">
              <a:ext uri="{FF2B5EF4-FFF2-40B4-BE49-F238E27FC236}">
                <a16:creationId xmlns:a16="http://schemas.microsoft.com/office/drawing/2014/main" id="{F0E3A83A-7C52-4D8C-B7E7-379482C6FEEB}"/>
              </a:ext>
            </a:extLst>
          </p:cNvPr>
          <p:cNvSpPr>
            <a:spLocks xmlns:a="http://schemas.openxmlformats.org/drawingml/2006/main" noGrp="1"/>
          </p:cNvSpPr>
          <p:nvPr/>
        </p:nvSpPr>
        <p:spPr>
          <a:xfrm xmlns:a="http://schemas.openxmlformats.org/drawingml/2006/main">
            <a:off x="514350" y="266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STRATEGIC EXTENSION</a:t>
            </a:r>
          </a:p>
        </p:txBody>
      </p:sp>
      <p:sp>
        <p:nvSpPr>
          <p:cNvPr id="2" name="slide-title">
            <a:extLst xmlns:a="http://schemas.openxmlformats.org/drawingml/2006/main">
              <a:ext uri="{FF2B5EF4-FFF2-40B4-BE49-F238E27FC236}">
                <a16:creationId xmlns:a16="http://schemas.microsoft.com/office/drawing/2014/main" id="{16BDCC22-64DF-4104-B53A-7349675B9D76}"/>
              </a:ext>
            </a:extLst>
          </p:cNvPr>
          <p:cNvSpPr>
            <a:spLocks xmlns:a="http://schemas.openxmlformats.org/drawingml/2006/main" noGrp="1"/>
          </p:cNvSpPr>
          <p:nvPr/>
        </p:nvSpPr>
        <p:spPr>
          <a:xfrm xmlns:a="http://schemas.openxmlformats.org/drawingml/2006/main">
            <a:off x="514350" y="5143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i="0">
                <a:solidFill>
                  <a:srgbClr val="0B0F14"/>
                </a:solidFill>
                <a:latin typeface="Arial"/>
                <a:ea typeface="Arial"/>
                <a:cs typeface="Arial"/>
              </a:defRPr>
            </a:pPr>
            <a:r>
              <a:rPr sz="3300" b="1" i="0">
                <a:solidFill>
                  <a:srgbClr val="0B0F14"/>
                </a:solidFill>
                <a:latin typeface="Arial"/>
                <a:ea typeface="Arial"/>
                <a:cs typeface="Arial"/>
              </a:rPr>
              <a:t>QSim Assurance needs a replay by a second team</a:t>
            </a:r>
          </a:p>
        </p:txBody>
      </p:sp>
      <p:sp>
        <p:nvSpPr>
          <p:cNvPr id="3" name="">
            <a:extLst xmlns:a="http://schemas.openxmlformats.org/drawingml/2006/main">
              <a:ext uri="{FF2B5EF4-FFF2-40B4-BE49-F238E27FC236}">
                <a16:creationId xmlns:a16="http://schemas.microsoft.com/office/drawing/2014/main" id="{474176EC-09F4-49B0-BDA9-497786E3A832}"/>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4" name="slide-number">
            <a:extLst xmlns:a="http://schemas.openxmlformats.org/drawingml/2006/main">
              <a:ext uri="{FF2B5EF4-FFF2-40B4-BE49-F238E27FC236}">
                <a16:creationId xmlns:a16="http://schemas.microsoft.com/office/drawing/2014/main" id="{2A72050E-3AEB-42EA-A4E7-BEB43284B93F}"/>
              </a:ext>
            </a:extLst>
          </p:cNvPr>
          <p:cNvSpPr>
            <a:spLocks xmlns:a="http://schemas.openxmlformats.org/drawingml/2006/main" noGrp="1"/>
          </p:cNvSpPr>
          <p:nvPr/>
        </p:nvSpPr>
        <p:spPr>
          <a:xfrm xmlns:a="http://schemas.openxmlformats.org/drawingml/2006/main">
            <a:off x="11201400" y="64579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18</a:t>
            </a:r>
          </a:p>
        </p:txBody>
      </p:sp>
      <p:sp>
        <p:nvSpPr>
          <p:cNvPr id="5" name="text">
            <a:extLst xmlns:a="http://schemas.openxmlformats.org/drawingml/2006/main">
              <a:ext uri="{FF2B5EF4-FFF2-40B4-BE49-F238E27FC236}">
                <a16:creationId xmlns:a16="http://schemas.microsoft.com/office/drawing/2014/main" id="{DD7397C7-FBD2-4156-8BBC-D3EA0926B319}"/>
              </a:ext>
            </a:extLst>
          </p:cNvPr>
          <p:cNvSpPr>
            <a:spLocks xmlns:a="http://schemas.openxmlformats.org/drawingml/2006/main" noGrp="1"/>
          </p:cNvSpPr>
          <p:nvPr/>
        </p:nvSpPr>
        <p:spPr>
          <a:xfrm xmlns:a="http://schemas.openxmlformats.org/drawingml/2006/main">
            <a:off x="685800" y="15621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i="0">
                <a:solidFill>
                  <a:srgbClr val="0B0F14"/>
                </a:solidFill>
                <a:latin typeface="Arial"/>
                <a:ea typeface="Arial"/>
                <a:cs typeface="Arial"/>
              </a:defRPr>
            </a:pPr>
            <a:r>
              <a:rPr sz="1800" b="1" i="0">
                <a:solidFill>
                  <a:srgbClr val="0B0F14"/>
                </a:solidFill>
                <a:latin typeface="Arial"/>
                <a:ea typeface="Arial"/>
                <a:cs typeface="Arial"/>
              </a:rPr>
              <a:t>C-DAC works in quantum simulation and in HPC. The proposal is a check tool that runs with these systems.</a:t>
            </a:r>
          </a:p>
        </p:txBody>
      </p:sp>
      <p:sp>
        <p:nvSpPr>
          <p:cNvPr id="6" name="">
            <a:extLst xmlns:a="http://schemas.openxmlformats.org/drawingml/2006/main">
              <a:ext uri="{FF2B5EF4-FFF2-40B4-BE49-F238E27FC236}">
                <a16:creationId xmlns:a16="http://schemas.microsoft.com/office/drawing/2014/main" id="{9C6C6B6C-DEEA-458F-B07A-C0640E537901}"/>
              </a:ext>
            </a:extLst>
          </p:cNvPr>
          <p:cNvSpPr>
            <a:spLocks xmlns:a="http://schemas.openxmlformats.org/drawingml/2006/main" noGrp="1"/>
          </p:cNvSpPr>
          <p:nvPr/>
        </p:nvSpPr>
        <p:spPr>
          <a:xfrm xmlns:a="http://schemas.openxmlformats.org/drawingml/2006/main">
            <a:off x="1143000" y="3695700"/>
            <a:ext cx="99060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F009F82B-00DD-44BB-8C3C-2493EE1D161B}"/>
              </a:ext>
            </a:extLst>
          </p:cNvPr>
          <p:cNvSpPr>
            <a:spLocks xmlns:a="http://schemas.openxmlformats.org/drawingml/2006/main" noGrp="1"/>
          </p:cNvSpPr>
          <p:nvPr/>
        </p:nvSpPr>
        <p:spPr>
          <a:xfrm xmlns:a="http://schemas.openxmlformats.org/drawingml/2006/main">
            <a:off x="685800" y="2876550"/>
            <a:ext cx="2419350" cy="16192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8" name="text">
            <a:extLst xmlns:a="http://schemas.openxmlformats.org/drawingml/2006/main">
              <a:ext uri="{FF2B5EF4-FFF2-40B4-BE49-F238E27FC236}">
                <a16:creationId xmlns:a16="http://schemas.microsoft.com/office/drawing/2014/main" id="{6BDB5B3E-510B-4481-99C8-82BA52A1D63F}"/>
              </a:ext>
            </a:extLst>
          </p:cNvPr>
          <p:cNvSpPr>
            <a:spLocks xmlns:a="http://schemas.openxmlformats.org/drawingml/2006/main" noGrp="1"/>
          </p:cNvSpPr>
          <p:nvPr/>
        </p:nvSpPr>
        <p:spPr>
          <a:xfrm xmlns:a="http://schemas.openxmlformats.org/drawingml/2006/main">
            <a:off x="876300" y="31242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0B0F14"/>
                </a:solidFill>
                <a:latin typeface="Arial"/>
                <a:ea typeface="Arial"/>
                <a:cs typeface="Arial"/>
              </a:defRPr>
            </a:pPr>
            <a:r>
              <a:rPr sz="1125" b="1" i="0">
                <a:solidFill>
                  <a:srgbClr val="0B0F14"/>
                </a:solidFill>
                <a:latin typeface="Arial"/>
                <a:ea typeface="Arial"/>
                <a:cs typeface="Arial"/>
              </a:rPr>
              <a:t>CIRCUIT + NOISE</a:t>
            </a:r>
          </a:p>
        </p:txBody>
      </p:sp>
      <p:sp>
        <p:nvSpPr>
          <p:cNvPr id="9" name="text">
            <a:extLst xmlns:a="http://schemas.openxmlformats.org/drawingml/2006/main">
              <a:ext uri="{FF2B5EF4-FFF2-40B4-BE49-F238E27FC236}">
                <a16:creationId xmlns:a16="http://schemas.microsoft.com/office/drawing/2014/main" id="{860AFF62-9FBB-4F2D-9761-D366696C3E22}"/>
              </a:ext>
            </a:extLst>
          </p:cNvPr>
          <p:cNvSpPr>
            <a:spLocks xmlns:a="http://schemas.openxmlformats.org/drawingml/2006/main" noGrp="1"/>
          </p:cNvSpPr>
          <p:nvPr/>
        </p:nvSpPr>
        <p:spPr>
          <a:xfrm xmlns:a="http://schemas.openxmlformats.org/drawingml/2006/main">
            <a:off x="876300" y="3695700"/>
            <a:ext cx="2038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i="0">
                <a:solidFill>
                  <a:srgbClr val="5D6673"/>
                </a:solidFill>
                <a:latin typeface="Arial"/>
                <a:ea typeface="Arial"/>
                <a:cs typeface="Arial"/>
              </a:defRPr>
            </a:pPr>
            <a:r>
              <a:rPr sz="1350" b="0" i="0">
                <a:solidFill>
                  <a:srgbClr val="5D6673"/>
                </a:solidFill>
                <a:latin typeface="Arial"/>
                <a:ea typeface="Arial"/>
                <a:cs typeface="Arial"/>
              </a:rPr>
              <a:t>QSim or supported input</a:t>
            </a:r>
          </a:p>
        </p:txBody>
      </p:sp>
      <p:sp>
        <p:nvSpPr>
          <p:cNvPr id="10" name="">
            <a:extLst xmlns:a="http://schemas.openxmlformats.org/drawingml/2006/main">
              <a:ext uri="{FF2B5EF4-FFF2-40B4-BE49-F238E27FC236}">
                <a16:creationId xmlns:a16="http://schemas.microsoft.com/office/drawing/2014/main" id="{806526F1-99FE-4704-A418-B23519721969}"/>
              </a:ext>
            </a:extLst>
          </p:cNvPr>
          <p:cNvSpPr>
            <a:spLocks xmlns:a="http://schemas.openxmlformats.org/drawingml/2006/main" noGrp="1"/>
          </p:cNvSpPr>
          <p:nvPr/>
        </p:nvSpPr>
        <p:spPr>
          <a:xfrm xmlns:a="http://schemas.openxmlformats.org/drawingml/2006/main">
            <a:off x="3524250" y="2876550"/>
            <a:ext cx="2419350" cy="16192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11" name="text">
            <a:extLst xmlns:a="http://schemas.openxmlformats.org/drawingml/2006/main">
              <a:ext uri="{FF2B5EF4-FFF2-40B4-BE49-F238E27FC236}">
                <a16:creationId xmlns:a16="http://schemas.microsoft.com/office/drawing/2014/main" id="{8A0A6E2E-0B41-4B02-A9BA-D7C499171964}"/>
              </a:ext>
            </a:extLst>
          </p:cNvPr>
          <p:cNvSpPr>
            <a:spLocks xmlns:a="http://schemas.openxmlformats.org/drawingml/2006/main" noGrp="1"/>
          </p:cNvSpPr>
          <p:nvPr/>
        </p:nvSpPr>
        <p:spPr>
          <a:xfrm xmlns:a="http://schemas.openxmlformats.org/drawingml/2006/main">
            <a:off x="3714750" y="31242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0B0F14"/>
                </a:solidFill>
                <a:latin typeface="Arial"/>
                <a:ea typeface="Arial"/>
                <a:cs typeface="Arial"/>
              </a:defRPr>
            </a:pPr>
            <a:r>
              <a:rPr sz="1125" b="1" i="0">
                <a:solidFill>
                  <a:srgbClr val="0B0F14"/>
                </a:solidFill>
                <a:latin typeface="Arial"/>
                <a:ea typeface="Arial"/>
                <a:cs typeface="Arial"/>
              </a:rPr>
              <a:t>CANONICAL DEM</a:t>
            </a:r>
          </a:p>
        </p:txBody>
      </p:sp>
      <p:sp>
        <p:nvSpPr>
          <p:cNvPr id="12" name="text">
            <a:extLst xmlns:a="http://schemas.openxmlformats.org/drawingml/2006/main">
              <a:ext uri="{FF2B5EF4-FFF2-40B4-BE49-F238E27FC236}">
                <a16:creationId xmlns:a16="http://schemas.microsoft.com/office/drawing/2014/main" id="{E0090E9D-01D1-401F-B7FA-CB783659D2C9}"/>
              </a:ext>
            </a:extLst>
          </p:cNvPr>
          <p:cNvSpPr>
            <a:spLocks xmlns:a="http://schemas.openxmlformats.org/drawingml/2006/main" noGrp="1"/>
          </p:cNvSpPr>
          <p:nvPr/>
        </p:nvSpPr>
        <p:spPr>
          <a:xfrm xmlns:a="http://schemas.openxmlformats.org/drawingml/2006/main">
            <a:off x="3714750" y="3695700"/>
            <a:ext cx="2038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i="0">
                <a:solidFill>
                  <a:srgbClr val="5D6673"/>
                </a:solidFill>
                <a:latin typeface="Arial"/>
                <a:ea typeface="Arial"/>
                <a:cs typeface="Arial"/>
              </a:defRPr>
            </a:pPr>
            <a:r>
              <a:rPr sz="1350" b="0" i="0">
                <a:solidFill>
                  <a:srgbClr val="5D6673"/>
                </a:solidFill>
                <a:latin typeface="Arial"/>
                <a:ea typeface="Arial"/>
                <a:cs typeface="Arial"/>
              </a:rPr>
              <a:t>Fixed extraction and hashes</a:t>
            </a:r>
          </a:p>
        </p:txBody>
      </p:sp>
      <p:sp>
        <p:nvSpPr>
          <p:cNvPr id="13" name="">
            <a:extLst xmlns:a="http://schemas.openxmlformats.org/drawingml/2006/main">
              <a:ext uri="{FF2B5EF4-FFF2-40B4-BE49-F238E27FC236}">
                <a16:creationId xmlns:a16="http://schemas.microsoft.com/office/drawing/2014/main" id="{BA57E0D8-8F8A-4E8F-A15C-BA7F43111A36}"/>
              </a:ext>
            </a:extLst>
          </p:cNvPr>
          <p:cNvSpPr>
            <a:spLocks xmlns:a="http://schemas.openxmlformats.org/drawingml/2006/main" noGrp="1"/>
          </p:cNvSpPr>
          <p:nvPr/>
        </p:nvSpPr>
        <p:spPr>
          <a:xfrm xmlns:a="http://schemas.openxmlformats.org/drawingml/2006/main">
            <a:off x="6362700" y="2876550"/>
            <a:ext cx="2419350" cy="1619250"/>
          </a:xfrm>
          <a:prstGeom xmlns:a="http://schemas.openxmlformats.org/drawingml/2006/main" prst="rect">
            <a:avLst/>
          </a:prstGeom>
          <a:solidFill xmlns:a="http://schemas.openxmlformats.org/drawingml/2006/main">
            <a:srgbClr val="F7F8F9"/>
          </a:solidFill>
          <a:ln xmlns:a="http://schemas.openxmlformats.org/drawingml/2006/main" w="9525">
            <a:solidFill>
              <a:srgbClr val="B8BCC4"/>
            </a:solidFill>
            <a:prstDash val="solid"/>
          </a:ln>
        </p:spPr>
        <p:txBody xmlns:a="http://schemas.openxmlformats.org/drawingml/2006/main">
          <a:bodyPr/>
          <a:p/>
        </p:txBody>
      </p:sp>
      <p:sp>
        <p:nvSpPr>
          <p:cNvPr id="14" name="text">
            <a:extLst xmlns:a="http://schemas.openxmlformats.org/drawingml/2006/main">
              <a:ext uri="{FF2B5EF4-FFF2-40B4-BE49-F238E27FC236}">
                <a16:creationId xmlns:a16="http://schemas.microsoft.com/office/drawing/2014/main" id="{7B5C0912-31B1-4B51-942E-756CD8E8F0F2}"/>
              </a:ext>
            </a:extLst>
          </p:cNvPr>
          <p:cNvSpPr>
            <a:spLocks xmlns:a="http://schemas.openxmlformats.org/drawingml/2006/main" noGrp="1"/>
          </p:cNvSpPr>
          <p:nvPr/>
        </p:nvSpPr>
        <p:spPr>
          <a:xfrm xmlns:a="http://schemas.openxmlformats.org/drawingml/2006/main">
            <a:off x="6553200" y="31242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70"/>
          </a:bodyPr>
          <a:lstStyle xmlns:a="http://schemas.openxmlformats.org/drawingml/2006/main"/>
          <a:p xmlns:a="http://schemas.openxmlformats.org/drawingml/2006/main">
            <a:pPr algn="ctr">
              <a:defRPr sz="1125" b="1" i="0">
                <a:solidFill>
                  <a:srgbClr val="0B0F14"/>
                </a:solidFill>
                <a:latin typeface="Arial"/>
                <a:ea typeface="Arial"/>
                <a:cs typeface="Arial"/>
              </a:defRPr>
            </a:pPr>
            <a:r>
              <a:rPr sz="1125" b="1" i="0">
                <a:solidFill>
                  <a:srgbClr val="0B0F14"/>
                </a:solidFill>
                <a:latin typeface="Arial"/>
                <a:ea typeface="Arial"/>
                <a:cs typeface="Arial"/>
              </a:rPr>
              <a:t>EXACT / BOUNDED SEARCH</a:t>
            </a:r>
          </a:p>
        </p:txBody>
      </p:sp>
      <p:sp>
        <p:nvSpPr>
          <p:cNvPr id="15" name="text">
            <a:extLst xmlns:a="http://schemas.openxmlformats.org/drawingml/2006/main">
              <a:ext uri="{FF2B5EF4-FFF2-40B4-BE49-F238E27FC236}">
                <a16:creationId xmlns:a16="http://schemas.microsoft.com/office/drawing/2014/main" id="{373C8E28-2FA8-42B5-A512-59890996939C}"/>
              </a:ext>
            </a:extLst>
          </p:cNvPr>
          <p:cNvSpPr>
            <a:spLocks xmlns:a="http://schemas.openxmlformats.org/drawingml/2006/main" noGrp="1"/>
          </p:cNvSpPr>
          <p:nvPr/>
        </p:nvSpPr>
        <p:spPr>
          <a:xfrm xmlns:a="http://schemas.openxmlformats.org/drawingml/2006/main">
            <a:off x="6553200" y="3695700"/>
            <a:ext cx="2038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i="0">
                <a:solidFill>
                  <a:srgbClr val="5D6673"/>
                </a:solidFill>
                <a:latin typeface="Arial"/>
                <a:ea typeface="Arial"/>
                <a:cs typeface="Arial"/>
              </a:defRPr>
            </a:pPr>
            <a:r>
              <a:rPr sz="1350" b="0" i="0">
                <a:solidFill>
                  <a:srgbClr val="5D6673"/>
                </a:solidFill>
                <a:latin typeface="Arial"/>
                <a:ea typeface="Arial"/>
                <a:cs typeface="Arial"/>
              </a:rPr>
              <a:t>Lower and upper bounds stay separate</a:t>
            </a:r>
          </a:p>
        </p:txBody>
      </p:sp>
      <p:sp>
        <p:nvSpPr>
          <p:cNvPr id="16" name="">
            <a:extLst xmlns:a="http://schemas.openxmlformats.org/drawingml/2006/main">
              <a:ext uri="{FF2B5EF4-FFF2-40B4-BE49-F238E27FC236}">
                <a16:creationId xmlns:a16="http://schemas.microsoft.com/office/drawing/2014/main" id="{A3ED2817-2E48-44C7-9308-B2DAAD32CFA3}"/>
              </a:ext>
            </a:extLst>
          </p:cNvPr>
          <p:cNvSpPr>
            <a:spLocks xmlns:a="http://schemas.openxmlformats.org/drawingml/2006/main" noGrp="1"/>
          </p:cNvSpPr>
          <p:nvPr/>
        </p:nvSpPr>
        <p:spPr>
          <a:xfrm xmlns:a="http://schemas.openxmlformats.org/drawingml/2006/main">
            <a:off x="9201150" y="2876550"/>
            <a:ext cx="2419350" cy="1619250"/>
          </a:xfrm>
          <a:prstGeom xmlns:a="http://schemas.openxmlformats.org/drawingml/2006/main" prst="rect">
            <a:avLst/>
          </a:prstGeom>
          <a:solidFill xmlns:a="http://schemas.openxmlformats.org/drawingml/2006/main">
            <a:srgbClr val="DCEBFF"/>
          </a:solidFill>
          <a:ln xmlns:a="http://schemas.openxmlformats.org/drawingml/2006/main" w="9525">
            <a:solidFill>
              <a:srgbClr val="3D8DFF"/>
            </a:solidFill>
            <a:prstDash val="solid"/>
          </a:ln>
        </p:spPr>
        <p:txBody xmlns:a="http://schemas.openxmlformats.org/drawingml/2006/main">
          <a:bodyPr/>
          <a:p/>
        </p:txBody>
      </p:sp>
      <p:sp>
        <p:nvSpPr>
          <p:cNvPr id="17" name="text">
            <a:extLst xmlns:a="http://schemas.openxmlformats.org/drawingml/2006/main">
              <a:ext uri="{FF2B5EF4-FFF2-40B4-BE49-F238E27FC236}">
                <a16:creationId xmlns:a16="http://schemas.microsoft.com/office/drawing/2014/main" id="{F5C9C896-77F8-4E9A-B18E-C4665B29378F}"/>
              </a:ext>
            </a:extLst>
          </p:cNvPr>
          <p:cNvSpPr>
            <a:spLocks xmlns:a="http://schemas.openxmlformats.org/drawingml/2006/main" noGrp="1"/>
          </p:cNvSpPr>
          <p:nvPr/>
        </p:nvSpPr>
        <p:spPr>
          <a:xfrm xmlns:a="http://schemas.openxmlformats.org/drawingml/2006/main">
            <a:off x="9391650" y="31242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3D8DFF"/>
                </a:solidFill>
                <a:latin typeface="Arial"/>
                <a:ea typeface="Arial"/>
                <a:cs typeface="Arial"/>
              </a:defRPr>
            </a:pPr>
            <a:r>
              <a:rPr sz="1125" b="1" i="0">
                <a:solidFill>
                  <a:srgbClr val="3D8DFF"/>
                </a:solidFill>
                <a:latin typeface="Arial"/>
                <a:ea typeface="Arial"/>
                <a:cs typeface="Arial"/>
              </a:rPr>
              <a:t>CERTIFICATE</a:t>
            </a:r>
          </a:p>
        </p:txBody>
      </p:sp>
      <p:sp>
        <p:nvSpPr>
          <p:cNvPr id="18" name="text">
            <a:extLst xmlns:a="http://schemas.openxmlformats.org/drawingml/2006/main">
              <a:ext uri="{FF2B5EF4-FFF2-40B4-BE49-F238E27FC236}">
                <a16:creationId xmlns:a16="http://schemas.microsoft.com/office/drawing/2014/main" id="{E0B2FDC0-408A-4409-9621-27E11FDD91C0}"/>
              </a:ext>
            </a:extLst>
          </p:cNvPr>
          <p:cNvSpPr>
            <a:spLocks xmlns:a="http://schemas.openxmlformats.org/drawingml/2006/main" noGrp="1"/>
          </p:cNvSpPr>
          <p:nvPr/>
        </p:nvSpPr>
        <p:spPr>
          <a:xfrm xmlns:a="http://schemas.openxmlformats.org/drawingml/2006/main">
            <a:off x="9391650" y="3695700"/>
            <a:ext cx="2038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i="0">
                <a:solidFill>
                  <a:srgbClr val="5D6673"/>
                </a:solidFill>
                <a:latin typeface="Arial"/>
                <a:ea typeface="Arial"/>
                <a:cs typeface="Arial"/>
              </a:defRPr>
            </a:pPr>
            <a:r>
              <a:rPr sz="1350" b="0" i="0">
                <a:solidFill>
                  <a:srgbClr val="5D6673"/>
                </a:solidFill>
                <a:latin typeface="Arial"/>
                <a:ea typeface="Arial"/>
                <a:cs typeface="Arial"/>
              </a:rPr>
              <a:t>Witnesses, replay, regression</a:t>
            </a:r>
          </a:p>
        </p:txBody>
      </p:sp>
      <p:sp>
        <p:nvSpPr>
          <p:cNvPr id="19" name="text">
            <a:extLst xmlns:a="http://schemas.openxmlformats.org/drawingml/2006/main">
              <a:ext uri="{FF2B5EF4-FFF2-40B4-BE49-F238E27FC236}">
                <a16:creationId xmlns:a16="http://schemas.microsoft.com/office/drawing/2014/main" id="{1828FDD4-8B91-41A0-B1F9-E27C309993FB}"/>
              </a:ext>
            </a:extLst>
          </p:cNvPr>
          <p:cNvSpPr>
            <a:spLocks xmlns:a="http://schemas.openxmlformats.org/drawingml/2006/main" noGrp="1"/>
          </p:cNvSpPr>
          <p:nvPr/>
        </p:nvSpPr>
        <p:spPr>
          <a:xfrm xmlns:a="http://schemas.openxmlformats.org/drawingml/2006/main">
            <a:off x="685800" y="5048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i="0">
                <a:solidFill>
                  <a:srgbClr val="3D8DFF"/>
                </a:solidFill>
                <a:latin typeface="Arial"/>
                <a:ea typeface="Arial"/>
                <a:cs typeface="Arial"/>
              </a:defRPr>
            </a:pPr>
            <a:r>
              <a:rPr sz="1125" b="1" i="0">
                <a:solidFill>
                  <a:srgbClr val="3D8DFF"/>
                </a:solidFill>
                <a:latin typeface="Arial"/>
                <a:ea typeface="Arial"/>
                <a:cs typeface="Arial"/>
              </a:rPr>
              <a:t>PARAM / Rudra value</a:t>
            </a:r>
          </a:p>
        </p:txBody>
      </p:sp>
      <p:sp>
        <p:nvSpPr>
          <p:cNvPr id="20" name="text">
            <a:extLst xmlns:a="http://schemas.openxmlformats.org/drawingml/2006/main">
              <a:ext uri="{FF2B5EF4-FFF2-40B4-BE49-F238E27FC236}">
                <a16:creationId xmlns:a16="http://schemas.microsoft.com/office/drawing/2014/main" id="{335E2396-35EB-4845-9951-736262C07D8E}"/>
              </a:ext>
            </a:extLst>
          </p:cNvPr>
          <p:cNvSpPr>
            <a:spLocks xmlns:a="http://schemas.openxmlformats.org/drawingml/2006/main" noGrp="1"/>
          </p:cNvSpPr>
          <p:nvPr/>
        </p:nvSpPr>
        <p:spPr>
          <a:xfrm xmlns:a="http://schemas.openxmlformats.org/drawingml/2006/main">
            <a:off x="685800" y="5410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0B0F14"/>
                </a:solidFill>
                <a:latin typeface="Arial"/>
                <a:ea typeface="Arial"/>
                <a:cs typeface="Arial"/>
              </a:defRPr>
            </a:pPr>
            <a:r>
              <a:rPr sz="1875" b="1" i="0">
                <a:solidFill>
                  <a:srgbClr val="0B0F14"/>
                </a:solidFill>
                <a:latin typeface="Arial"/>
                <a:ea typeface="Arial"/>
                <a:cs typeface="Arial"/>
              </a:rPr>
              <a:t>Divide the proof search between many nodes, and keep the coverage complete.</a:t>
            </a:r>
          </a:p>
        </p:txBody>
      </p:sp>
      <p:sp>
        <p:nvSpPr>
          <p:cNvPr id="21" name="visible-source">
            <a:extLst xmlns:a="http://schemas.openxmlformats.org/drawingml/2006/main">
              <a:ext uri="{FF2B5EF4-FFF2-40B4-BE49-F238E27FC236}">
                <a16:creationId xmlns:a16="http://schemas.microsoft.com/office/drawing/2014/main" id="{D3D00D19-3EDB-47B6-86D9-9395597910C9}"/>
              </a:ext>
            </a:extLst>
          </p:cNvPr>
          <p:cNvSpPr>
            <a:spLocks xmlns:a="http://schemas.openxmlformats.org/drawingml/2006/main" noGrp="1"/>
          </p:cNvSpPr>
          <p:nvPr/>
        </p:nvSpPr>
        <p:spPr>
          <a:xfrm xmlns:a="http://schemas.openxmlformats.org/drawingml/2006/main">
            <a:off x="514350" y="6419850"/>
            <a:ext cx="1033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24"/>
          </a:bodyPr>
          <a:lstStyle xmlns:a="http://schemas.openxmlformats.org/drawingml/2006/main"/>
          <a:p xmlns:a="http://schemas.openxmlformats.org/drawingml/2006/main">
            <a:pPr algn="l">
              <a:defRPr sz="788" b="0" i="0">
                <a:solidFill>
                  <a:srgbClr val="6C7480"/>
                </a:solidFill>
                <a:latin typeface="Arial"/>
                <a:ea typeface="Arial"/>
                <a:cs typeface="Arial"/>
              </a:defRPr>
            </a:pPr>
            <a:r>
              <a:rPr sz="788" b="0" i="0">
                <a:solidFill>
                  <a:srgbClr val="6C7480"/>
                </a:solidFill>
                <a:latin typeface="Arial"/>
                <a:ea typeface="Arial"/>
                <a:cs typeface="Arial"/>
              </a:rPr>
              <a:t>Sources: C-DAC QSim, quantum-project and PARAM Rudra public pages</a:t>
            </a:r>
          </a:p>
        </p:txBody>
      </p:sp>
    </p:spTree>
    <p:extLst>
      <p:ext uri="{BB962C8B-B14F-4D97-AF65-F5344CB8AC3E}">
        <p14:creationId xmlns:p14="http://schemas.microsoft.com/office/powerpoint/2010/main" val="5535456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9882573F-A03D-4AE1-96A1-63A31987FD4A}"/>
              </a:ext>
            </a:extLst>
          </p:cNvPr>
          <p:cNvSpPr>
            <a:spLocks xmlns:a="http://schemas.openxmlformats.org/drawingml/2006/main" noGrp="1"/>
          </p:cNvSpPr>
          <p:nvPr/>
        </p:nvSpPr>
        <p:spPr>
          <a:xfrm xmlns:a="http://schemas.openxmlformats.org/drawingml/2006/main">
            <a:off x="609600" y="4953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i="0">
                <a:solidFill>
                  <a:srgbClr val="3D8DFF"/>
                </a:solidFill>
                <a:latin typeface="Arial"/>
                <a:ea typeface="Arial"/>
                <a:cs typeface="Arial"/>
              </a:defRPr>
            </a:pPr>
            <a:r>
              <a:rPr sz="1050" b="1" i="0">
                <a:solidFill>
                  <a:srgbClr val="3D8DFF"/>
                </a:solidFill>
                <a:latin typeface="Arial"/>
                <a:ea typeface="Arial"/>
                <a:cs typeface="Arial"/>
              </a:rPr>
              <a:t>THE DECISION</a:t>
            </a:r>
          </a:p>
        </p:txBody>
      </p:sp>
      <p:sp>
        <p:nvSpPr>
          <p:cNvPr id="2" name="text">
            <a:extLst xmlns:a="http://schemas.openxmlformats.org/drawingml/2006/main">
              <a:ext uri="{FF2B5EF4-FFF2-40B4-BE49-F238E27FC236}">
                <a16:creationId xmlns:a16="http://schemas.microsoft.com/office/drawing/2014/main" id="{887E8247-AA27-41F0-857D-6889794C90BA}"/>
              </a:ext>
            </a:extLst>
          </p:cNvPr>
          <p:cNvSpPr>
            <a:spLocks xmlns:a="http://schemas.openxmlformats.org/drawingml/2006/main" noGrp="1"/>
          </p:cNvSpPr>
          <p:nvPr/>
        </p:nvSpPr>
        <p:spPr>
          <a:xfrm xmlns:a="http://schemas.openxmlformats.org/drawingml/2006/main">
            <a:off x="609600" y="1123950"/>
            <a:ext cx="1047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5100" b="1" i="0">
                <a:solidFill>
                  <a:srgbClr val="0B0F14"/>
                </a:solidFill>
                <a:latin typeface="Arial"/>
                <a:ea typeface="Arial"/>
                <a:cs typeface="Arial"/>
              </a:defRPr>
            </a:pPr>
            <a:r>
              <a:rPr sz="5100" b="1" i="0">
                <a:solidFill>
                  <a:srgbClr val="0B0F14"/>
                </a:solidFill>
                <a:latin typeface="Arial"/>
                <a:ea typeface="Arial"/>
                <a:cs typeface="Arial"/>
              </a:rPr>
              <a:t>Check the lower bound.</a:t>
            </a:r>
          </a:p>
        </p:txBody>
      </p:sp>
      <p:sp>
        <p:nvSpPr>
          <p:cNvPr id="3" name="text">
            <a:extLst xmlns:a="http://schemas.openxmlformats.org/drawingml/2006/main">
              <a:ext uri="{FF2B5EF4-FFF2-40B4-BE49-F238E27FC236}">
                <a16:creationId xmlns:a16="http://schemas.microsoft.com/office/drawing/2014/main" id="{EB9B84F0-A249-4EC5-AED4-986FE0CF5034}"/>
              </a:ext>
            </a:extLst>
          </p:cNvPr>
          <p:cNvSpPr>
            <a:spLocks xmlns:a="http://schemas.openxmlformats.org/drawingml/2006/main" noGrp="1"/>
          </p:cNvSpPr>
          <p:nvPr/>
        </p:nvSpPr>
        <p:spPr>
          <a:xfrm xmlns:a="http://schemas.openxmlformats.org/drawingml/2006/main">
            <a:off x="609600" y="23241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i="0">
                <a:solidFill>
                  <a:srgbClr val="0B0F14"/>
                </a:solidFill>
                <a:latin typeface="Arial"/>
                <a:ea typeface="Arial"/>
                <a:cs typeface="Arial"/>
              </a:defRPr>
            </a:pPr>
            <a:r>
              <a:rPr sz="2100" b="0" i="0">
                <a:solidFill>
                  <a:srgbClr val="0B0F14"/>
                </a:solidFill>
                <a:latin typeface="Arial"/>
                <a:ea typeface="Arial"/>
                <a:cs typeface="Arial"/>
              </a:rPr>
              <a:t>The public upper bound is already 10. The value of QECProof-Q288 depends on a replay of its search for faults of weight 1 to 9.</a:t>
            </a:r>
          </a:p>
        </p:txBody>
      </p:sp>
      <p:sp>
        <p:nvSpPr>
          <p:cNvPr id="4" name="">
            <a:extLst xmlns:a="http://schemas.openxmlformats.org/drawingml/2006/main">
              <a:ext uri="{FF2B5EF4-FFF2-40B4-BE49-F238E27FC236}">
                <a16:creationId xmlns:a16="http://schemas.microsoft.com/office/drawing/2014/main" id="{74049DA7-0587-45DE-AD45-C1F510C7E72C}"/>
              </a:ext>
            </a:extLst>
          </p:cNvPr>
          <p:cNvSpPr>
            <a:spLocks xmlns:a="http://schemas.openxmlformats.org/drawingml/2006/main" noGrp="1"/>
          </p:cNvSpPr>
          <p:nvPr/>
        </p:nvSpPr>
        <p:spPr>
          <a:xfrm xmlns:a="http://schemas.openxmlformats.org/drawingml/2006/main">
            <a:off x="609600" y="3676650"/>
            <a:ext cx="10668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txBody xmlns:a="http://schemas.openxmlformats.org/drawingml/2006/main">
          <a:bodyPr/>
          <a:p/>
        </p:txBody>
      </p:sp>
      <p:sp>
        <p:nvSpPr>
          <p:cNvPr id="5" name="text">
            <a:extLst xmlns:a="http://schemas.openxmlformats.org/drawingml/2006/main">
              <a:ext uri="{FF2B5EF4-FFF2-40B4-BE49-F238E27FC236}">
                <a16:creationId xmlns:a16="http://schemas.microsoft.com/office/drawing/2014/main" id="{5AB20339-B5F7-49AD-9B15-B90298F23058}"/>
              </a:ext>
            </a:extLst>
          </p:cNvPr>
          <p:cNvSpPr>
            <a:spLocks xmlns:a="http://schemas.openxmlformats.org/drawingml/2006/main" noGrp="1"/>
          </p:cNvSpPr>
          <p:nvPr/>
        </p:nvSpPr>
        <p:spPr>
          <a:xfrm xmlns:a="http://schemas.openxmlformats.org/drawingml/2006/main">
            <a:off x="609600" y="40957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3D8DFF"/>
                </a:solidFill>
                <a:latin typeface="Arial"/>
                <a:ea typeface="Arial"/>
                <a:cs typeface="Arial"/>
              </a:defRPr>
            </a:pPr>
            <a:r>
              <a:rPr sz="1725" b="1" i="0">
                <a:solidFill>
                  <a:srgbClr val="3D8DFF"/>
                </a:solidFill>
                <a:latin typeface="Arial"/>
                <a:ea typeface="Arial"/>
                <a:cs typeface="Arial"/>
              </a:rPr>
              <a:t>01</a:t>
            </a:r>
          </a:p>
        </p:txBody>
      </p:sp>
      <p:sp>
        <p:nvSpPr>
          <p:cNvPr id="6" name="text">
            <a:extLst xmlns:a="http://schemas.openxmlformats.org/drawingml/2006/main">
              <a:ext uri="{FF2B5EF4-FFF2-40B4-BE49-F238E27FC236}">
                <a16:creationId xmlns:a16="http://schemas.microsoft.com/office/drawing/2014/main" id="{033AAEA2-DD7B-4009-B826-0E4F233FE56A}"/>
              </a:ext>
            </a:extLst>
          </p:cNvPr>
          <p:cNvSpPr>
            <a:spLocks xmlns:a="http://schemas.openxmlformats.org/drawingml/2006/main" noGrp="1"/>
          </p:cNvSpPr>
          <p:nvPr/>
        </p:nvSpPr>
        <p:spPr>
          <a:xfrm xmlns:a="http://schemas.openxmlformats.org/drawingml/2006/main">
            <a:off x="1257300" y="4114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0B0F14"/>
                </a:solidFill>
                <a:latin typeface="Arial"/>
                <a:ea typeface="Arial"/>
                <a:cs typeface="Arial"/>
              </a:defRPr>
            </a:pPr>
            <a:r>
              <a:rPr sz="1350" b="1" i="0">
                <a:solidFill>
                  <a:srgbClr val="0B0F14"/>
                </a:solidFill>
                <a:latin typeface="Arial"/>
                <a:ea typeface="Arial"/>
                <a:cs typeface="Arial"/>
              </a:rPr>
              <a:t>PUBLISH</a:t>
            </a:r>
          </a:p>
        </p:txBody>
      </p:sp>
      <p:sp>
        <p:nvSpPr>
          <p:cNvPr id="7" name="text">
            <a:extLst xmlns:a="http://schemas.openxmlformats.org/drawingml/2006/main">
              <a:ext uri="{FF2B5EF4-FFF2-40B4-BE49-F238E27FC236}">
                <a16:creationId xmlns:a16="http://schemas.microsoft.com/office/drawing/2014/main" id="{8C9AA13B-26B2-4B57-95D0-741C82FBB0D2}"/>
              </a:ext>
            </a:extLst>
          </p:cNvPr>
          <p:cNvSpPr>
            <a:spLocks xmlns:a="http://schemas.openxmlformats.org/drawingml/2006/main" noGrp="1"/>
          </p:cNvSpPr>
          <p:nvPr/>
        </p:nvSpPr>
        <p:spPr>
          <a:xfrm xmlns:a="http://schemas.openxmlformats.org/drawingml/2006/main">
            <a:off x="1257300" y="45529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Release the source and the artifacts</a:t>
            </a:r>
          </a:p>
        </p:txBody>
      </p:sp>
      <p:sp>
        <p:nvSpPr>
          <p:cNvPr id="8" name="text">
            <a:extLst xmlns:a="http://schemas.openxmlformats.org/drawingml/2006/main">
              <a:ext uri="{FF2B5EF4-FFF2-40B4-BE49-F238E27FC236}">
                <a16:creationId xmlns:a16="http://schemas.microsoft.com/office/drawing/2014/main" id="{1F72533C-DCA4-4A91-88C5-16829401AC7A}"/>
              </a:ext>
            </a:extLst>
          </p:cNvPr>
          <p:cNvSpPr>
            <a:spLocks xmlns:a="http://schemas.openxmlformats.org/drawingml/2006/main" noGrp="1"/>
          </p:cNvSpPr>
          <p:nvPr/>
        </p:nvSpPr>
        <p:spPr>
          <a:xfrm xmlns:a="http://schemas.openxmlformats.org/drawingml/2006/main">
            <a:off x="4229100" y="40957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3D8DFF"/>
                </a:solidFill>
                <a:latin typeface="Arial"/>
                <a:ea typeface="Arial"/>
                <a:cs typeface="Arial"/>
              </a:defRPr>
            </a:pPr>
            <a:r>
              <a:rPr sz="1725" b="1" i="0">
                <a:solidFill>
                  <a:srgbClr val="3D8DFF"/>
                </a:solidFill>
                <a:latin typeface="Arial"/>
                <a:ea typeface="Arial"/>
                <a:cs typeface="Arial"/>
              </a:rPr>
              <a:t>02</a:t>
            </a:r>
          </a:p>
        </p:txBody>
      </p:sp>
      <p:sp>
        <p:nvSpPr>
          <p:cNvPr id="9" name="text">
            <a:extLst xmlns:a="http://schemas.openxmlformats.org/drawingml/2006/main">
              <a:ext uri="{FF2B5EF4-FFF2-40B4-BE49-F238E27FC236}">
                <a16:creationId xmlns:a16="http://schemas.microsoft.com/office/drawing/2014/main" id="{B57C5CAE-CD6B-48AF-9736-DC00D128BFF1}"/>
              </a:ext>
            </a:extLst>
          </p:cNvPr>
          <p:cNvSpPr>
            <a:spLocks xmlns:a="http://schemas.openxmlformats.org/drawingml/2006/main" noGrp="1"/>
          </p:cNvSpPr>
          <p:nvPr/>
        </p:nvSpPr>
        <p:spPr>
          <a:xfrm xmlns:a="http://schemas.openxmlformats.org/drawingml/2006/main">
            <a:off x="4876800" y="4114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0B0F14"/>
                </a:solidFill>
                <a:latin typeface="Arial"/>
                <a:ea typeface="Arial"/>
                <a:cs typeface="Arial"/>
              </a:defRPr>
            </a:pPr>
            <a:r>
              <a:rPr sz="1350" b="1" i="0">
                <a:solidFill>
                  <a:srgbClr val="0B0F14"/>
                </a:solidFill>
                <a:latin typeface="Arial"/>
                <a:ea typeface="Arial"/>
                <a:cs typeface="Arial"/>
              </a:rPr>
              <a:t>REPLAY</a:t>
            </a:r>
          </a:p>
        </p:txBody>
      </p:sp>
      <p:sp>
        <p:nvSpPr>
          <p:cNvPr id="10" name="text">
            <a:extLst xmlns:a="http://schemas.openxmlformats.org/drawingml/2006/main">
              <a:ext uri="{FF2B5EF4-FFF2-40B4-BE49-F238E27FC236}">
                <a16:creationId xmlns:a16="http://schemas.microsoft.com/office/drawing/2014/main" id="{997CC473-5253-4983-B02C-E54A51418B23}"/>
              </a:ext>
            </a:extLst>
          </p:cNvPr>
          <p:cNvSpPr>
            <a:spLocks xmlns:a="http://schemas.openxmlformats.org/drawingml/2006/main" noGrp="1"/>
          </p:cNvSpPr>
          <p:nvPr/>
        </p:nvSpPr>
        <p:spPr>
          <a:xfrm xmlns:a="http://schemas.openxmlformats.org/drawingml/2006/main">
            <a:off x="4876800" y="45529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A second program and a check with no symmetry</a:t>
            </a:r>
          </a:p>
        </p:txBody>
      </p:sp>
      <p:sp>
        <p:nvSpPr>
          <p:cNvPr id="11" name="text">
            <a:extLst xmlns:a="http://schemas.openxmlformats.org/drawingml/2006/main">
              <a:ext uri="{FF2B5EF4-FFF2-40B4-BE49-F238E27FC236}">
                <a16:creationId xmlns:a16="http://schemas.microsoft.com/office/drawing/2014/main" id="{E0E14864-6A0A-43E3-880E-E308B1D014FF}"/>
              </a:ext>
            </a:extLst>
          </p:cNvPr>
          <p:cNvSpPr>
            <a:spLocks xmlns:a="http://schemas.openxmlformats.org/drawingml/2006/main" noGrp="1"/>
          </p:cNvSpPr>
          <p:nvPr/>
        </p:nvSpPr>
        <p:spPr>
          <a:xfrm xmlns:a="http://schemas.openxmlformats.org/drawingml/2006/main">
            <a:off x="7848600" y="40957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3D8DFF"/>
                </a:solidFill>
                <a:latin typeface="Arial"/>
                <a:ea typeface="Arial"/>
                <a:cs typeface="Arial"/>
              </a:defRPr>
            </a:pPr>
            <a:r>
              <a:rPr sz="1725" b="1" i="0">
                <a:solidFill>
                  <a:srgbClr val="3D8DFF"/>
                </a:solidFill>
                <a:latin typeface="Arial"/>
                <a:ea typeface="Arial"/>
                <a:cs typeface="Arial"/>
              </a:rPr>
              <a:t>03</a:t>
            </a:r>
          </a:p>
        </p:txBody>
      </p:sp>
      <p:sp>
        <p:nvSpPr>
          <p:cNvPr id="12" name="text">
            <a:extLst xmlns:a="http://schemas.openxmlformats.org/drawingml/2006/main">
              <a:ext uri="{FF2B5EF4-FFF2-40B4-BE49-F238E27FC236}">
                <a16:creationId xmlns:a16="http://schemas.microsoft.com/office/drawing/2014/main" id="{34A1EDCF-EA51-4528-8DD0-9748087536C9}"/>
              </a:ext>
            </a:extLst>
          </p:cNvPr>
          <p:cNvSpPr>
            <a:spLocks xmlns:a="http://schemas.openxmlformats.org/drawingml/2006/main" noGrp="1"/>
          </p:cNvSpPr>
          <p:nvPr/>
        </p:nvSpPr>
        <p:spPr>
          <a:xfrm xmlns:a="http://schemas.openxmlformats.org/drawingml/2006/main">
            <a:off x="8496300" y="4114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0B0F14"/>
                </a:solidFill>
                <a:latin typeface="Arial"/>
                <a:ea typeface="Arial"/>
                <a:cs typeface="Arial"/>
              </a:defRPr>
            </a:pPr>
            <a:r>
              <a:rPr sz="1350" b="1" i="0">
                <a:solidFill>
                  <a:srgbClr val="0B0F14"/>
                </a:solidFill>
                <a:latin typeface="Arial"/>
                <a:ea typeface="Arial"/>
                <a:cs typeface="Arial"/>
              </a:rPr>
              <a:t>CERTIFY</a:t>
            </a:r>
          </a:p>
        </p:txBody>
      </p:sp>
      <p:sp>
        <p:nvSpPr>
          <p:cNvPr id="13" name="text">
            <a:extLst xmlns:a="http://schemas.openxmlformats.org/drawingml/2006/main">
              <a:ext uri="{FF2B5EF4-FFF2-40B4-BE49-F238E27FC236}">
                <a16:creationId xmlns:a16="http://schemas.microsoft.com/office/drawing/2014/main" id="{C5E01B9E-48D8-4B76-8992-E06B72302DE9}"/>
              </a:ext>
            </a:extLst>
          </p:cNvPr>
          <p:cNvSpPr>
            <a:spLocks xmlns:a="http://schemas.openxmlformats.org/drawingml/2006/main" noGrp="1"/>
          </p:cNvSpPr>
          <p:nvPr/>
        </p:nvSpPr>
        <p:spPr>
          <a:xfrm xmlns:a="http://schemas.openxmlformats.org/drawingml/2006/main">
            <a:off x="8496300" y="45529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3"/>
                </a:solidFill>
                <a:latin typeface="Arial"/>
                <a:ea typeface="Arial"/>
                <a:cs typeface="Arial"/>
              </a:defRPr>
            </a:pPr>
            <a:r>
              <a:rPr sz="1275" b="0" i="0">
                <a:solidFill>
                  <a:srgbClr val="5D6673"/>
                </a:solidFill>
                <a:latin typeface="Arial"/>
                <a:ea typeface="Arial"/>
                <a:cs typeface="Arial"/>
              </a:rPr>
              <a:t>A standard UNSAT proof for weight 9 or less</a:t>
            </a:r>
          </a:p>
        </p:txBody>
      </p:sp>
      <p:sp>
        <p:nvSpPr>
          <p:cNvPr id="14" name="">
            <a:extLst xmlns:a="http://schemas.openxmlformats.org/drawingml/2006/main">
              <a:ext uri="{FF2B5EF4-FFF2-40B4-BE49-F238E27FC236}">
                <a16:creationId xmlns:a16="http://schemas.microsoft.com/office/drawing/2014/main" id="{2BD96DC3-9F68-41D2-96CB-6AB659C07E76}"/>
              </a:ext>
            </a:extLst>
          </p:cNvPr>
          <p:cNvSpPr>
            <a:spLocks xmlns:a="http://schemas.openxmlformats.org/drawingml/2006/main" noGrp="1"/>
          </p:cNvSpPr>
          <p:nvPr/>
        </p:nvSpPr>
        <p:spPr>
          <a:xfrm xmlns:a="http://schemas.openxmlformats.org/drawingml/2006/main">
            <a:off x="609600" y="5581650"/>
            <a:ext cx="10668000" cy="4953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xmlns:a="http://schemas.openxmlformats.org/drawingml/2006/main">
          <a:bodyPr/>
          <a:p/>
        </p:txBody>
      </p:sp>
      <p:sp>
        <p:nvSpPr>
          <p:cNvPr id="15" name="text">
            <a:extLst xmlns:a="http://schemas.openxmlformats.org/drawingml/2006/main">
              <a:ext uri="{FF2B5EF4-FFF2-40B4-BE49-F238E27FC236}">
                <a16:creationId xmlns:a16="http://schemas.microsoft.com/office/drawing/2014/main" id="{EF3ADFFA-8DA9-4E72-B6E1-45EA02417955}"/>
              </a:ext>
            </a:extLst>
          </p:cNvPr>
          <p:cNvSpPr>
            <a:spLocks xmlns:a="http://schemas.openxmlformats.org/drawingml/2006/main" noGrp="1"/>
          </p:cNvSpPr>
          <p:nvPr/>
        </p:nvSpPr>
        <p:spPr>
          <a:xfrm xmlns:a="http://schemas.openxmlformats.org/drawingml/2006/main">
            <a:off x="781050" y="5705475"/>
            <a:ext cx="1032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FFFFFF"/>
                </a:solidFill>
                <a:latin typeface="Arial"/>
                <a:ea typeface="Arial"/>
                <a:cs typeface="Arial"/>
              </a:defRPr>
            </a:pPr>
            <a:r>
              <a:rPr sz="1575" b="1" i="0">
                <a:solidFill>
                  <a:srgbClr val="FFFFFF"/>
                </a:solidFill>
                <a:latin typeface="Arial"/>
                <a:ea typeface="Arial"/>
                <a:cs typeface="Arial"/>
              </a:rPr>
              <a:t>If the replay is correct, the Z-filtered DEM distance is exactly 10.</a:t>
            </a:r>
          </a:p>
        </p:txBody>
      </p:sp>
      <p:sp>
        <p:nvSpPr>
          <p:cNvPr id="16" name="text">
            <a:extLst xmlns:a="http://schemas.openxmlformats.org/drawingml/2006/main">
              <a:ext uri="{FF2B5EF4-FFF2-40B4-BE49-F238E27FC236}">
                <a16:creationId xmlns:a16="http://schemas.microsoft.com/office/drawing/2014/main" id="{18D13978-D986-42E7-B3A1-751EA79ABBA3}"/>
              </a:ext>
            </a:extLst>
          </p:cNvPr>
          <p:cNvSpPr>
            <a:spLocks xmlns:a="http://schemas.openxmlformats.org/drawingml/2006/main" noGrp="1"/>
          </p:cNvSpPr>
          <p:nvPr/>
        </p:nvSpPr>
        <p:spPr>
          <a:xfrm xmlns:a="http://schemas.openxmlformats.org/drawingml/2006/main">
            <a:off x="609600" y="64198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D6673"/>
                </a:solidFill>
                <a:latin typeface="Arial"/>
                <a:ea typeface="Arial"/>
                <a:cs typeface="Arial"/>
              </a:defRPr>
            </a:pPr>
            <a:r>
              <a:rPr sz="825" b="0" i="0">
                <a:solidFill>
                  <a:srgbClr val="5D6673"/>
                </a:solidFill>
                <a:latin typeface="Arial"/>
                <a:ea typeface="Arial"/>
                <a:cs typeface="Arial"/>
              </a:rPr>
              <a:t>QECProof-Q288. Technical briefing. August 2026.</a:t>
            </a:r>
          </a:p>
        </p:txBody>
      </p:sp>
      <p:sp>
        <p:nvSpPr>
          <p:cNvPr id="17" name="text">
            <a:extLst xmlns:a="http://schemas.openxmlformats.org/drawingml/2006/main">
              <a:ext uri="{FF2B5EF4-FFF2-40B4-BE49-F238E27FC236}">
                <a16:creationId xmlns:a16="http://schemas.microsoft.com/office/drawing/2014/main" id="{9CCAB320-819A-404C-86AD-88AE16009D28}"/>
              </a:ext>
            </a:extLst>
          </p:cNvPr>
          <p:cNvSpPr>
            <a:spLocks xmlns:a="http://schemas.openxmlformats.org/drawingml/2006/main" noGrp="1"/>
          </p:cNvSpPr>
          <p:nvPr/>
        </p:nvSpPr>
        <p:spPr>
          <a:xfrm xmlns:a="http://schemas.openxmlformats.org/drawingml/2006/main">
            <a:off x="11201400" y="64198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i="0">
                <a:solidFill>
                  <a:srgbClr val="5D6673"/>
                </a:solidFill>
                <a:latin typeface="Arial"/>
                <a:ea typeface="Arial"/>
                <a:cs typeface="Arial"/>
              </a:defRPr>
            </a:pPr>
            <a:r>
              <a:rPr sz="825" b="0" i="0">
                <a:solidFill>
                  <a:srgbClr val="5D6673"/>
                </a:solidFill>
                <a:latin typeface="Arial"/>
                <a:ea typeface="Arial"/>
                <a:cs typeface="Arial"/>
              </a:rPr>
              <a:t>19</a:t>
            </a:r>
          </a:p>
        </p:txBody>
      </p:sp>
    </p:spTree>
    <p:extLst>
      <p:ext uri="{BB962C8B-B14F-4D97-AF65-F5344CB8AC3E}">
        <p14:creationId xmlns:p14="http://schemas.microsoft.com/office/powerpoint/2010/main" val="1487827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2026-08-24T02:40:20.6540000Z</dcterms:created>
  <dcterms:modified xsi:type="dcterms:W3CDTF">2026-08-24T02:40:20.6540000Z</dcterms:modified>
</coreProperties>
</file>